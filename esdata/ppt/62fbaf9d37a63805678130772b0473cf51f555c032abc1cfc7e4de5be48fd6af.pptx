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67" r:id="rId2"/>
    <p:sldId id="256" r:id="rId3"/>
    <p:sldId id="257" r:id="rId4"/>
    <p:sldId id="258" r:id="rId5"/>
    <p:sldId id="259" r:id="rId6"/>
    <p:sldId id="261" r:id="rId7"/>
    <p:sldId id="262" r:id="rId8"/>
    <p:sldId id="263" r:id="rId9"/>
    <p:sldId id="264" r:id="rId10"/>
    <p:sldId id="265" r:id="rId11"/>
    <p:sldId id="266" r:id="rId12"/>
  </p:sldIdLst>
  <p:sldSz cx="9144000" cy="6858000" type="screen4x3"/>
  <p:notesSz cx="6797675"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3" d="100"/>
          <a:sy n="103" d="100"/>
        </p:scale>
        <p:origin x="-204"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C969CADF-1383-4A39-B854-EAE9E831E437}" type="datetimeFigureOut">
              <a:rPr lang="en-US" smtClean="0"/>
              <a:pPr/>
              <a:t>11/16/2015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0E8F055F-1721-42B5-BD43-BCFECB56FA4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969CADF-1383-4A39-B854-EAE9E831E437}" type="datetimeFigureOut">
              <a:rPr lang="en-US" smtClean="0"/>
              <a:pPr/>
              <a:t>11/16/2015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E8F055F-1721-42B5-BD43-BCFECB56FA4F}"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C969CADF-1383-4A39-B854-EAE9E831E437}" type="datetimeFigureOut">
              <a:rPr lang="en-US" smtClean="0"/>
              <a:pPr/>
              <a:t>11/16/2015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E8F055F-1721-42B5-BD43-BCFECB56FA4F}"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969CADF-1383-4A39-B854-EAE9E831E437}" type="datetimeFigureOut">
              <a:rPr lang="en-US" smtClean="0"/>
              <a:pPr/>
              <a:t>11/16/2015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E8F055F-1721-42B5-BD43-BCFECB56FA4F}"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C969CADF-1383-4A39-B854-EAE9E831E437}" type="datetimeFigureOut">
              <a:rPr lang="en-US" smtClean="0"/>
              <a:pPr/>
              <a:t>11/16/2015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0E8F055F-1721-42B5-BD43-BCFECB56FA4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C969CADF-1383-4A39-B854-EAE9E831E437}" type="datetimeFigureOut">
              <a:rPr lang="en-US" smtClean="0"/>
              <a:pPr/>
              <a:t>11/16/2015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0E8F055F-1721-42B5-BD43-BCFECB56FA4F}"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C969CADF-1383-4A39-B854-EAE9E831E437}" type="datetimeFigureOut">
              <a:rPr lang="en-US" smtClean="0"/>
              <a:pPr/>
              <a:t>11/16/2015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0E8F055F-1721-42B5-BD43-BCFECB56FA4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C969CADF-1383-4A39-B854-EAE9E831E437}" type="datetimeFigureOut">
              <a:rPr lang="en-US" smtClean="0"/>
              <a:pPr/>
              <a:t>11/16/2015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E8F055F-1721-42B5-BD43-BCFECB56FA4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969CADF-1383-4A39-B854-EAE9E831E437}" type="datetimeFigureOut">
              <a:rPr lang="en-US" smtClean="0"/>
              <a:pPr/>
              <a:t>11/16/2015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0E8F055F-1721-42B5-BD43-BCFECB56FA4F}"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969CADF-1383-4A39-B854-EAE9E831E437}" type="datetimeFigureOut">
              <a:rPr lang="en-US" smtClean="0"/>
              <a:pPr/>
              <a:t>11/16/2015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E8F055F-1721-42B5-BD43-BCFECB56FA4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969CADF-1383-4A39-B854-EAE9E831E437}" type="datetimeFigureOut">
              <a:rPr lang="en-US" smtClean="0"/>
              <a:pPr/>
              <a:t>11/16/2015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E8F055F-1721-42B5-BD43-BCFECB56FA4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C969CADF-1383-4A39-B854-EAE9E831E437}" type="datetimeFigureOut">
              <a:rPr lang="en-US" smtClean="0"/>
              <a:pPr/>
              <a:t>11/16/2015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0E8F055F-1721-42B5-BD43-BCFECB56FA4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m_farahani\Desktop\1365236036_farsaniha_00189.jpg"/>
          <p:cNvPicPr>
            <a:picLocks noChangeAspect="1" noChangeArrowheads="1"/>
          </p:cNvPicPr>
          <p:nvPr/>
        </p:nvPicPr>
        <p:blipFill>
          <a:blip r:embed="rId2" cstate="print"/>
          <a:srcRect/>
          <a:stretch>
            <a:fillRect/>
          </a:stretch>
        </p:blipFill>
        <p:spPr bwMode="auto">
          <a:xfrm>
            <a:off x="685800" y="152400"/>
            <a:ext cx="8077200" cy="4858405"/>
          </a:xfrm>
          <a:prstGeom prst="rect">
            <a:avLst/>
          </a:prstGeom>
          <a:noFill/>
        </p:spPr>
      </p:pic>
    </p:spTree>
  </p:cSld>
  <p:clrMapOvr>
    <a:masterClrMapping/>
  </p:clrMapOvr>
  <p:transition advTm="4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diamond(in)">
                                      <p:cBhvr>
                                        <p:cTn id="7" dur="1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4495799"/>
          </a:xfrm>
        </p:spPr>
        <p:txBody>
          <a:bodyPr>
            <a:normAutofit/>
          </a:bodyPr>
          <a:lstStyle/>
          <a:p>
            <a:pPr algn="ctr" rtl="1"/>
            <a:r>
              <a:rPr lang="fa-IR" dirty="0" smtClean="0">
                <a:cs typeface="B Titr" pitchFamily="2" charset="-78"/>
              </a:rPr>
              <a:t>ستاد بين الملل شوراي عالي سياستگذاري پايتخت فرهنگي جهان اسلام </a:t>
            </a:r>
            <a:r>
              <a:rPr lang="en-US" dirty="0" smtClean="0">
                <a:cs typeface="B Titr" pitchFamily="2" charset="-78"/>
              </a:rPr>
              <a:t/>
            </a:r>
            <a:br>
              <a:rPr lang="en-US" dirty="0" smtClean="0">
                <a:cs typeface="B Titr" pitchFamily="2" charset="-78"/>
              </a:rPr>
            </a:br>
            <a:r>
              <a:rPr lang="fa-IR" dirty="0" smtClean="0">
                <a:cs typeface="B Titr" pitchFamily="2" charset="-78"/>
              </a:rPr>
              <a:t>مشهد2017 ميلادي</a:t>
            </a:r>
            <a:endParaRPr lang="en-US"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1"/>
            <a:ext cx="7772400" cy="1752599"/>
          </a:xfrm>
        </p:spPr>
        <p:txBody>
          <a:bodyPr>
            <a:normAutofit fontScale="90000"/>
          </a:bodyPr>
          <a:lstStyle/>
          <a:p>
            <a:r>
              <a:rPr lang="fa-IR" dirty="0" smtClean="0">
                <a:cs typeface="B Titr" pitchFamily="2" charset="-78"/>
              </a:rPr>
              <a:t>رئيس ستاد : جناب آقاي دكتر ابراهيمي </a:t>
            </a:r>
            <a:r>
              <a:rPr lang="en-US" dirty="0" smtClean="0"/>
              <a:t/>
            </a:r>
            <a:br>
              <a:rPr lang="en-US" dirty="0" smtClean="0"/>
            </a:br>
            <a:endParaRPr lang="en-US" dirty="0"/>
          </a:p>
        </p:txBody>
      </p:sp>
      <p:sp>
        <p:nvSpPr>
          <p:cNvPr id="3" name="Subtitle 2"/>
          <p:cNvSpPr>
            <a:spLocks noGrp="1"/>
          </p:cNvSpPr>
          <p:nvPr>
            <p:ph type="subTitle" idx="1"/>
          </p:nvPr>
        </p:nvSpPr>
        <p:spPr/>
        <p:txBody>
          <a:bodyPr/>
          <a:lstStyle/>
          <a:p>
            <a:pPr algn="ctr"/>
            <a:r>
              <a:rPr lang="fa-IR" sz="3200" dirty="0" smtClean="0">
                <a:cs typeface="B Titr" pitchFamily="2" charset="-78"/>
              </a:rPr>
              <a:t>جانشين رئيس ستاد: جناب آقاي دكتر هاشمي</a:t>
            </a:r>
            <a:r>
              <a:rPr lang="fa-IR" dirty="0" smtClean="0"/>
              <a:t> </a:t>
            </a:r>
            <a:endParaRPr lang="en-US" dirty="0" smtClean="0"/>
          </a:p>
          <a:p>
            <a:endParaRPr lang="en-US" dirty="0"/>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2"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par>
                          <p:cTn id="8" fill="hold">
                            <p:stCondLst>
                              <p:cond delay="500"/>
                            </p:stCondLst>
                            <p:childTnLst>
                              <p:par>
                                <p:cTn id="9" presetID="5" presetClass="entr" presetSubtype="10" fill="hold" grpId="1"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checkerboard(across)">
                                      <p:cBhvr>
                                        <p:cTn id="11" dur="3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2"/>
      <p:bldP spid="3"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0"/>
            <a:ext cx="8991600" cy="5257799"/>
          </a:xfrm>
        </p:spPr>
        <p:txBody>
          <a:bodyPr>
            <a:noAutofit/>
          </a:bodyPr>
          <a:lstStyle/>
          <a:p>
            <a:pPr rtl="1"/>
            <a:r>
              <a:rPr lang="fa-IR" sz="2200" dirty="0" smtClean="0">
                <a:cs typeface="B Titr" pitchFamily="2" charset="-78"/>
              </a:rPr>
              <a:t>اعضاي ستاد بين الملل:</a:t>
            </a:r>
            <a:r>
              <a:rPr lang="en-US" sz="2200" dirty="0" smtClean="0">
                <a:cs typeface="B Titr" pitchFamily="2" charset="-78"/>
              </a:rPr>
              <a:t/>
            </a:r>
            <a:br>
              <a:rPr lang="en-US" sz="2200" dirty="0" smtClean="0">
                <a:cs typeface="B Titr" pitchFamily="2" charset="-78"/>
              </a:rPr>
            </a:br>
            <a:r>
              <a:rPr lang="en-US" sz="2200" dirty="0" smtClean="0">
                <a:cs typeface="B Titr" pitchFamily="2" charset="-78"/>
              </a:rPr>
              <a:t/>
            </a:r>
            <a:br>
              <a:rPr lang="en-US" sz="2200" dirty="0" smtClean="0">
                <a:cs typeface="B Titr" pitchFamily="2" charset="-78"/>
              </a:rPr>
            </a:br>
            <a:r>
              <a:rPr lang="en-US" sz="2200" dirty="0" smtClean="0">
                <a:cs typeface="B Titr" pitchFamily="2" charset="-78"/>
              </a:rPr>
              <a:t/>
            </a:r>
            <a:br>
              <a:rPr lang="en-US" sz="2200" dirty="0" smtClean="0">
                <a:cs typeface="B Titr" pitchFamily="2" charset="-78"/>
              </a:rPr>
            </a:br>
            <a:r>
              <a:rPr lang="en-US" sz="2200" dirty="0" smtClean="0">
                <a:cs typeface="B Titr" pitchFamily="2" charset="-78"/>
              </a:rPr>
              <a:t> </a:t>
            </a:r>
            <a:r>
              <a:rPr lang="fa-IR" sz="2000" dirty="0" smtClean="0">
                <a:cs typeface="B Titr" pitchFamily="2" charset="-78"/>
              </a:rPr>
              <a:t>1-رئيس دفترمنطقه اي آيسيسكو (جناب آقاي دكتر صدري)</a:t>
            </a:r>
            <a:r>
              <a:rPr lang="en-US" sz="2000" dirty="0" smtClean="0">
                <a:cs typeface="B Titr" pitchFamily="2" charset="-78"/>
              </a:rPr>
              <a:t/>
            </a:r>
            <a:br>
              <a:rPr lang="en-US" sz="2000" dirty="0" smtClean="0">
                <a:cs typeface="B Titr" pitchFamily="2" charset="-78"/>
              </a:rPr>
            </a:br>
            <a:r>
              <a:rPr lang="fa-IR" sz="2000" dirty="0" smtClean="0">
                <a:cs typeface="B Titr" pitchFamily="2" charset="-78"/>
              </a:rPr>
              <a:t> 2- رئيس كميسيون ملي آيسيسكو ايران (جناب آقاي دكتر بابالو)</a:t>
            </a:r>
            <a:r>
              <a:rPr lang="en-US" sz="2000" dirty="0" smtClean="0">
                <a:cs typeface="B Titr" pitchFamily="2" charset="-78"/>
              </a:rPr>
              <a:t/>
            </a:r>
            <a:br>
              <a:rPr lang="en-US" sz="2000" dirty="0" smtClean="0">
                <a:cs typeface="B Titr" pitchFamily="2" charset="-78"/>
              </a:rPr>
            </a:br>
            <a:r>
              <a:rPr lang="fa-IR" sz="2000" dirty="0" smtClean="0">
                <a:cs typeface="B Titr" pitchFamily="2" charset="-78"/>
              </a:rPr>
              <a:t> </a:t>
            </a:r>
            <a:r>
              <a:rPr lang="fa-IR" sz="2000" dirty="0">
                <a:cs typeface="B Titr" pitchFamily="2" charset="-78"/>
              </a:rPr>
              <a:t>3-مدیرکل محیط زیست و توسعه پایدار وزارت خارجه (جناب آقاي پیمان سعادت)</a:t>
            </a:r>
            <a:r>
              <a:rPr lang="en-US" sz="2000" dirty="0" smtClean="0">
                <a:cs typeface="B Titr" pitchFamily="2" charset="-78"/>
              </a:rPr>
              <a:t/>
            </a:r>
            <a:br>
              <a:rPr lang="en-US" sz="2000" dirty="0" smtClean="0">
                <a:cs typeface="B Titr" pitchFamily="2" charset="-78"/>
              </a:rPr>
            </a:br>
            <a:r>
              <a:rPr lang="fa-IR" sz="2000" dirty="0">
                <a:cs typeface="B Titr" pitchFamily="2" charset="-78"/>
              </a:rPr>
              <a:t> 4-معاون گردشگري سازمان ميراث فرهنگي ( جناب آقاي رحماني موحد ) </a:t>
            </a:r>
            <a:r>
              <a:rPr lang="en-US" sz="2000" dirty="0" smtClean="0">
                <a:cs typeface="B Titr" pitchFamily="2" charset="-78"/>
              </a:rPr>
              <a:t/>
            </a:r>
            <a:br>
              <a:rPr lang="en-US" sz="2000" dirty="0" smtClean="0">
                <a:cs typeface="B Titr" pitchFamily="2" charset="-78"/>
              </a:rPr>
            </a:br>
            <a:r>
              <a:rPr lang="fa-IR" sz="2000" dirty="0">
                <a:cs typeface="B Titr" pitchFamily="2" charset="-78"/>
              </a:rPr>
              <a:t> 5-رئيس مركز هماهنگيهاي فرهنگي (گفتگوي همكاري آسيا</a:t>
            </a:r>
            <a:r>
              <a:rPr lang="en-US" sz="2000" dirty="0">
                <a:cs typeface="B Titr" pitchFamily="2" charset="-78"/>
              </a:rPr>
              <a:t>ACD) (</a:t>
            </a:r>
            <a:r>
              <a:rPr lang="fa-IR" sz="2000" dirty="0">
                <a:cs typeface="B Titr" pitchFamily="2" charset="-78"/>
              </a:rPr>
              <a:t>جناب آقاي رضازاده)</a:t>
            </a:r>
            <a:r>
              <a:rPr lang="en-US" sz="2000" dirty="0" smtClean="0">
                <a:cs typeface="B Titr" pitchFamily="2" charset="-78"/>
              </a:rPr>
              <a:t/>
            </a:r>
            <a:br>
              <a:rPr lang="en-US" sz="2000" dirty="0" smtClean="0">
                <a:cs typeface="B Titr" pitchFamily="2" charset="-78"/>
              </a:rPr>
            </a:br>
            <a:r>
              <a:rPr lang="fa-IR" sz="2000" dirty="0" smtClean="0">
                <a:cs typeface="B Titr" pitchFamily="2" charset="-78"/>
              </a:rPr>
              <a:t> </a:t>
            </a:r>
            <a:r>
              <a:rPr lang="fa-IR" sz="2000" dirty="0">
                <a:cs typeface="B Titr" pitchFamily="2" charset="-78"/>
              </a:rPr>
              <a:t>6-مديركل امور بين‌الملل سازمان صدا و سيما (عباس ناصري طاهري )</a:t>
            </a:r>
            <a:r>
              <a:rPr lang="en-US" sz="2000" dirty="0" smtClean="0">
                <a:cs typeface="B Titr" pitchFamily="2" charset="-78"/>
              </a:rPr>
              <a:t/>
            </a:r>
            <a:br>
              <a:rPr lang="en-US" sz="2000" dirty="0" smtClean="0">
                <a:cs typeface="B Titr" pitchFamily="2" charset="-78"/>
              </a:rPr>
            </a:br>
            <a:r>
              <a:rPr lang="en-US" sz="2000" dirty="0" smtClean="0">
                <a:cs typeface="B Titr" pitchFamily="2" charset="-78"/>
              </a:rPr>
              <a:t> </a:t>
            </a:r>
            <a:r>
              <a:rPr lang="fa-IR" sz="2000" dirty="0">
                <a:cs typeface="B Titr" pitchFamily="2" charset="-78"/>
              </a:rPr>
              <a:t>7-مشاور بين الملل وزير ارشاد (حجت الاسلام و المسلمين دكتر امينيان) </a:t>
            </a:r>
            <a:r>
              <a:rPr lang="en-US" sz="2000" dirty="0" smtClean="0">
                <a:cs typeface="B Titr" pitchFamily="2" charset="-78"/>
              </a:rPr>
              <a:t/>
            </a:r>
            <a:br>
              <a:rPr lang="en-US" sz="2000" dirty="0" smtClean="0">
                <a:cs typeface="B Titr" pitchFamily="2" charset="-78"/>
              </a:rPr>
            </a:br>
            <a:r>
              <a:rPr lang="fa-IR" sz="2000" dirty="0" smtClean="0">
                <a:cs typeface="B Titr" pitchFamily="2" charset="-78"/>
              </a:rPr>
              <a:t> </a:t>
            </a:r>
            <a:r>
              <a:rPr lang="fa-IR" sz="2000" dirty="0">
                <a:cs typeface="B Titr" pitchFamily="2" charset="-78"/>
              </a:rPr>
              <a:t>8-مديركل </a:t>
            </a:r>
            <a:r>
              <a:rPr lang="fa-IR" sz="2000" dirty="0" smtClean="0">
                <a:cs typeface="B Titr" pitchFamily="2" charset="-78"/>
              </a:rPr>
              <a:t>و دبير شوراي برنامه ريزي و هماهنگي پايتخت فرهنگي جهان اسلام مشهد 2017 ميلادي (جناب </a:t>
            </a:r>
            <a:r>
              <a:rPr lang="fa-IR" sz="2000" dirty="0">
                <a:cs typeface="B Titr" pitchFamily="2" charset="-78"/>
              </a:rPr>
              <a:t>آقاي سرابي) </a:t>
            </a:r>
            <a:r>
              <a:rPr lang="en-US" sz="2000" dirty="0" smtClean="0">
                <a:cs typeface="B Titr" pitchFamily="2" charset="-78"/>
              </a:rPr>
              <a:t/>
            </a:r>
            <a:br>
              <a:rPr lang="en-US" sz="2000" dirty="0" smtClean="0">
                <a:cs typeface="B Titr" pitchFamily="2" charset="-78"/>
              </a:rPr>
            </a:br>
            <a:r>
              <a:rPr lang="fa-IR" sz="2000" dirty="0" smtClean="0">
                <a:cs typeface="B Titr" pitchFamily="2" charset="-78"/>
              </a:rPr>
              <a:t> 9 </a:t>
            </a:r>
            <a:r>
              <a:rPr lang="fa-IR" sz="2000" dirty="0">
                <a:cs typeface="B Titr" pitchFamily="2" charset="-78"/>
              </a:rPr>
              <a:t>-معاون ارتباطات و بین الملل جامعه المصطفی العالمیه(حجت الاسلام و المسلمين حكيم الهي) </a:t>
            </a:r>
            <a:r>
              <a:rPr lang="en-US" sz="2000" dirty="0" smtClean="0">
                <a:cs typeface="B Titr" pitchFamily="2" charset="-78"/>
              </a:rPr>
              <a:t/>
            </a:r>
            <a:br>
              <a:rPr lang="en-US" sz="2000" dirty="0" smtClean="0">
                <a:cs typeface="B Titr" pitchFamily="2" charset="-78"/>
              </a:rPr>
            </a:br>
            <a:r>
              <a:rPr lang="fa-IR" sz="2000" dirty="0">
                <a:cs typeface="B Titr" pitchFamily="2" charset="-78"/>
              </a:rPr>
              <a:t>10-معاون فرهنگي مجمع جهانی تقریب مذاهب اسلامی (حجت الاسلام و المسلمين گلزاده</a:t>
            </a:r>
            <a:r>
              <a:rPr lang="fa-IR" sz="2000" dirty="0" smtClean="0">
                <a:cs typeface="B Titr" pitchFamily="2" charset="-78"/>
              </a:rPr>
              <a:t>)</a:t>
            </a:r>
            <a:br>
              <a:rPr lang="fa-IR" sz="2000" dirty="0" smtClean="0">
                <a:cs typeface="B Titr" pitchFamily="2" charset="-78"/>
              </a:rPr>
            </a:br>
            <a:r>
              <a:rPr lang="fa-IR" sz="2000" dirty="0" smtClean="0">
                <a:cs typeface="B Titr" pitchFamily="2" charset="-78"/>
              </a:rPr>
              <a:t>11- نماينده استان قدس رضوي جناب آقاي حسيني</a:t>
            </a:r>
            <a:br>
              <a:rPr lang="fa-IR" sz="2000" dirty="0" smtClean="0">
                <a:cs typeface="B Titr" pitchFamily="2" charset="-78"/>
              </a:rPr>
            </a:br>
            <a:r>
              <a:rPr lang="fa-IR" sz="2000" dirty="0" smtClean="0">
                <a:cs typeface="B Titr" pitchFamily="2" charset="-78"/>
              </a:rPr>
              <a:t>12- نماينه وزات علوم وتحقيقات فن اوري جناب اقاي هاشمي </a:t>
            </a:r>
            <a:r>
              <a:rPr lang="en-US" sz="2000" dirty="0" smtClean="0">
                <a:cs typeface="B Titr" pitchFamily="2" charset="-78"/>
              </a:rPr>
              <a:t/>
            </a:r>
            <a:br>
              <a:rPr lang="en-US" sz="2000" dirty="0" smtClean="0">
                <a:cs typeface="B Titr" pitchFamily="2" charset="-78"/>
              </a:rPr>
            </a:br>
            <a:r>
              <a:rPr lang="en-US" sz="2000" dirty="0" smtClean="0">
                <a:cs typeface="B Titr" pitchFamily="2" charset="-78"/>
              </a:rPr>
              <a:t/>
            </a:r>
            <a:br>
              <a:rPr lang="en-US" sz="2000" dirty="0" smtClean="0">
                <a:cs typeface="B Titr" pitchFamily="2" charset="-78"/>
              </a:rPr>
            </a:br>
            <a:endParaRPr lang="en-US" sz="2000" dirty="0">
              <a:cs typeface="B Titr" pitchFamily="2" charset="-78"/>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1"/>
            <a:ext cx="7772400" cy="914400"/>
          </a:xfrm>
        </p:spPr>
        <p:txBody>
          <a:bodyPr>
            <a:normAutofit/>
          </a:bodyPr>
          <a:lstStyle/>
          <a:p>
            <a:pPr algn="ctr"/>
            <a:r>
              <a:rPr lang="fa-IR" sz="3600" dirty="0" smtClean="0">
                <a:cs typeface="B Titr" pitchFamily="2" charset="-78"/>
              </a:rPr>
              <a:t>دبير ستاد : جناب آقاي فلاحت پيشه</a:t>
            </a:r>
            <a:endParaRPr lang="en-US" sz="3600" dirty="0">
              <a:cs typeface="B Titr" pitchFamily="2" charset="-78"/>
            </a:endParaRPr>
          </a:p>
        </p:txBody>
      </p:sp>
      <p:sp>
        <p:nvSpPr>
          <p:cNvPr id="3" name="Subtitle 2"/>
          <p:cNvSpPr>
            <a:spLocks noGrp="1"/>
          </p:cNvSpPr>
          <p:nvPr>
            <p:ph type="subTitle" idx="1"/>
          </p:nvPr>
        </p:nvSpPr>
        <p:spPr>
          <a:xfrm>
            <a:off x="381000" y="1676400"/>
            <a:ext cx="8534400" cy="3429000"/>
          </a:xfrm>
        </p:spPr>
        <p:txBody>
          <a:bodyPr>
            <a:noAutofit/>
          </a:bodyPr>
          <a:lstStyle/>
          <a:p>
            <a:pPr rtl="1"/>
            <a:endParaRPr lang="fa-IR" sz="3100" dirty="0" smtClean="0">
              <a:cs typeface="B Titr" pitchFamily="2" charset="-78"/>
            </a:endParaRPr>
          </a:p>
          <a:p>
            <a:pPr rtl="1"/>
            <a:r>
              <a:rPr lang="fa-IR" sz="3100" dirty="0" smtClean="0">
                <a:cs typeface="B Titr" pitchFamily="2" charset="-78"/>
              </a:rPr>
              <a:t>كميته </a:t>
            </a:r>
            <a:r>
              <a:rPr lang="fa-IR" sz="3100" dirty="0">
                <a:cs typeface="B Titr" pitchFamily="2" charset="-78"/>
              </a:rPr>
              <a:t>ارتباطات : معاونت بین </a:t>
            </a:r>
            <a:r>
              <a:rPr lang="fa-IR" sz="3100" dirty="0" smtClean="0">
                <a:cs typeface="B Titr" pitchFamily="2" charset="-78"/>
              </a:rPr>
              <a:t>الملل </a:t>
            </a:r>
            <a:endParaRPr lang="fa-IR" sz="3100" dirty="0">
              <a:cs typeface="B Titr" pitchFamily="2" charset="-78"/>
            </a:endParaRPr>
          </a:p>
          <a:p>
            <a:pPr rtl="1"/>
            <a:r>
              <a:rPr lang="fa-IR" sz="3100" dirty="0" smtClean="0">
                <a:cs typeface="B Titr" pitchFamily="2" charset="-78"/>
              </a:rPr>
              <a:t>كميته فرهنگ و هنر : </a:t>
            </a:r>
            <a:r>
              <a:rPr lang="fa-IR" sz="3200" dirty="0">
                <a:cs typeface="B Titr" panose="00000700000000000000" pitchFamily="2" charset="-78"/>
              </a:rPr>
              <a:t>اداره کل همکاریهای فرهنگی و هنری</a:t>
            </a:r>
            <a:endParaRPr lang="en-US" sz="3100" dirty="0" smtClean="0">
              <a:cs typeface="B Titr" pitchFamily="2" charset="-78"/>
            </a:endParaRPr>
          </a:p>
          <a:p>
            <a:pPr rtl="1"/>
            <a:r>
              <a:rPr lang="fa-IR" sz="3200" dirty="0" smtClean="0">
                <a:solidFill>
                  <a:schemeClr val="tx1">
                    <a:lumMod val="75000"/>
                    <a:lumOff val="25000"/>
                  </a:schemeClr>
                </a:solidFill>
                <a:cs typeface="B Titr" panose="00000700000000000000" pitchFamily="2" charset="-78"/>
              </a:rPr>
              <a:t>كميته آموزش </a:t>
            </a:r>
            <a:r>
              <a:rPr lang="fa-IR" sz="3200" dirty="0">
                <a:solidFill>
                  <a:schemeClr val="tx1">
                    <a:lumMod val="75000"/>
                    <a:lumOff val="25000"/>
                  </a:schemeClr>
                </a:solidFill>
                <a:cs typeface="B Titr" panose="00000700000000000000" pitchFamily="2" charset="-78"/>
              </a:rPr>
              <a:t>و پژوهش</a:t>
            </a:r>
            <a:r>
              <a:rPr lang="fa-IR" sz="3100" dirty="0" smtClean="0">
                <a:solidFill>
                  <a:schemeClr val="tx1">
                    <a:lumMod val="75000"/>
                    <a:lumOff val="25000"/>
                  </a:schemeClr>
                </a:solidFill>
                <a:cs typeface="B Titr" pitchFamily="2" charset="-78"/>
              </a:rPr>
              <a:t>: </a:t>
            </a:r>
            <a:r>
              <a:rPr lang="fa-IR" sz="3200" dirty="0">
                <a:solidFill>
                  <a:schemeClr val="tx1">
                    <a:lumMod val="75000"/>
                    <a:lumOff val="25000"/>
                  </a:schemeClr>
                </a:solidFill>
                <a:cs typeface="B Titr" panose="00000700000000000000" pitchFamily="2" charset="-78"/>
              </a:rPr>
              <a:t>جامعه المصطفی </a:t>
            </a:r>
            <a:r>
              <a:rPr lang="fa-IR" sz="3200" dirty="0" smtClean="0">
                <a:solidFill>
                  <a:schemeClr val="tx1">
                    <a:lumMod val="75000"/>
                    <a:lumOff val="25000"/>
                  </a:schemeClr>
                </a:solidFill>
                <a:cs typeface="B Titr" panose="00000700000000000000" pitchFamily="2" charset="-78"/>
              </a:rPr>
              <a:t>العالمیه</a:t>
            </a:r>
          </a:p>
          <a:p>
            <a:pPr rtl="1"/>
            <a:r>
              <a:rPr lang="fa-IR" sz="3100" dirty="0" smtClean="0">
                <a:cs typeface="B Titr" pitchFamily="2" charset="-78"/>
              </a:rPr>
              <a:t>كميته </a:t>
            </a:r>
            <a:r>
              <a:rPr lang="fa-IR" sz="3200" dirty="0">
                <a:cs typeface="B Titr" panose="00000700000000000000" pitchFamily="2" charset="-78"/>
              </a:rPr>
              <a:t>بهره مندی از ظرفیت اهل تسنن</a:t>
            </a:r>
            <a:r>
              <a:rPr lang="fa-IR" sz="3100" dirty="0" smtClean="0">
                <a:cs typeface="B Titr" pitchFamily="2" charset="-78"/>
              </a:rPr>
              <a:t>: </a:t>
            </a:r>
            <a:r>
              <a:rPr lang="fa-IR" sz="3200" dirty="0">
                <a:cs typeface="B Titr" panose="00000700000000000000" pitchFamily="2" charset="-78"/>
              </a:rPr>
              <a:t>مجمع جهانی تقریب و مذاهب اسلامی</a:t>
            </a:r>
            <a:endParaRPr lang="en-US" sz="3200" dirty="0">
              <a:cs typeface="B Titr" panose="00000700000000000000" pitchFamily="2" charset="-7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amond(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diamond(in)">
                                      <p:cBhvr>
                                        <p:cTn id="17" dur="2000"/>
                                        <p:tgtEl>
                                          <p:spTgt spid="3">
                                            <p:txEl>
                                              <p:pRg st="1" end="1"/>
                                            </p:txEl>
                                          </p:spTgt>
                                        </p:tgtEl>
                                      </p:cBhvr>
                                    </p:animEffect>
                                  </p:childTnLst>
                                </p:cTn>
                              </p:par>
                              <p:par>
                                <p:cTn id="18" presetID="8" presetClass="entr" presetSubtype="16"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diamond(in)">
                                      <p:cBhvr>
                                        <p:cTn id="20" dur="2000"/>
                                        <p:tgtEl>
                                          <p:spTgt spid="3">
                                            <p:txEl>
                                              <p:pRg st="3" end="3"/>
                                            </p:txEl>
                                          </p:spTgt>
                                        </p:tgtEl>
                                      </p:cBhvr>
                                    </p:animEffect>
                                  </p:childTnLst>
                                </p:cTn>
                              </p:par>
                              <p:par>
                                <p:cTn id="21" presetID="8" presetClass="entr" presetSubtype="16"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diamond(in)">
                                      <p:cBhvr>
                                        <p:cTn id="23"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5550091"/>
          </a:xfrm>
        </p:spPr>
        <p:txBody>
          <a:bodyPr>
            <a:normAutofit/>
          </a:bodyPr>
          <a:lstStyle/>
          <a:p>
            <a:pPr algn="r" rtl="1">
              <a:buNone/>
            </a:pPr>
            <a:r>
              <a:rPr lang="fa-IR" sz="2000" dirty="0" smtClean="0">
                <a:cs typeface="B Titr" pitchFamily="2" charset="-78"/>
              </a:rPr>
              <a:t>تشكيل ستاد بين الملل :</a:t>
            </a:r>
            <a:endParaRPr lang="en-US" sz="2000" dirty="0" smtClean="0">
              <a:cs typeface="B Titr" pitchFamily="2" charset="-78"/>
            </a:endParaRPr>
          </a:p>
          <a:p>
            <a:pPr algn="r" rtl="1">
              <a:buNone/>
            </a:pPr>
            <a:r>
              <a:rPr lang="fa-IR" dirty="0" smtClean="0"/>
              <a:t> </a:t>
            </a:r>
            <a:endParaRPr lang="en-US" dirty="0" smtClean="0"/>
          </a:p>
          <a:p>
            <a:pPr algn="just" rtl="1">
              <a:buNone/>
            </a:pPr>
            <a:r>
              <a:rPr lang="fa-IR" b="1" dirty="0" smtClean="0">
                <a:cs typeface="B Nazanin" pitchFamily="2" charset="-78"/>
              </a:rPr>
              <a:t>ستاد بين المللي برگزاري مشهد به عنوان پايتخت فرهنگي جهان اسلام درسال 2017 بنا به دستوروزيرمحترم فرهنگ وارشاد اسلامي در دومين جلسه شوراي عالي سياستگذاري پايتخت فرهنگي جهان اسلام تاريخ 94/4/6 ماده 1 بند "د" مقرر گرديد –ستاد هماهنگي ارتباطات بين الملل با مسئوليت رئيس سازمان فرهنگ و ارتباطات اسلامي جناب آقاي دكتر ابراهيمي تركمان وبا عضويت نهادهاي فعال از جمله نماينده وزارت خارجه، جامعه المصطفي العالميه،  مجمع تقريب مذاهب و، ... تشكيل گردد- ستاد شيوه نامه و اعضاي مربوطه را با شرح وظايف تدوين و جهت تصويب به شوراي عالي سياستگذاري ارائه مي دهد.</a:t>
            </a:r>
            <a:endParaRPr lang="en-US" b="1" dirty="0" smtClean="0">
              <a:cs typeface="B Nazanin" pitchFamily="2" charset="-78"/>
            </a:endParaRPr>
          </a:p>
          <a:p>
            <a:endParaRPr lang="en-US" dirty="0"/>
          </a:p>
        </p:txBody>
      </p:sp>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5397691"/>
          </a:xfrm>
        </p:spPr>
        <p:txBody>
          <a:bodyPr>
            <a:normAutofit lnSpcReduction="10000"/>
          </a:bodyPr>
          <a:lstStyle/>
          <a:p>
            <a:pPr algn="r" rtl="1">
              <a:buNone/>
            </a:pPr>
            <a:r>
              <a:rPr lang="fa-IR" dirty="0" smtClean="0">
                <a:cs typeface="B Titr" pitchFamily="2" charset="-78"/>
              </a:rPr>
              <a:t>ستاد بين الملل: </a:t>
            </a:r>
            <a:endParaRPr lang="en-US" dirty="0" smtClean="0">
              <a:cs typeface="B Titr" pitchFamily="2" charset="-78"/>
            </a:endParaRPr>
          </a:p>
          <a:p>
            <a:pPr algn="r" rtl="1">
              <a:buNone/>
            </a:pPr>
            <a:endParaRPr lang="en-US" dirty="0" smtClean="0">
              <a:cs typeface="B Titr" pitchFamily="2" charset="-78"/>
            </a:endParaRPr>
          </a:p>
          <a:p>
            <a:pPr algn="just" rtl="1">
              <a:buNone/>
            </a:pPr>
            <a:r>
              <a:rPr lang="fa-IR" b="1" dirty="0" smtClean="0">
                <a:cs typeface="B Nazanin" pitchFamily="2" charset="-78"/>
              </a:rPr>
              <a:t>اين ستاد به سرپرستي رياست محترم سازمان فرهنگ وارتباطات اسلامي تشكيل شده ازمعاونان ، روسا يا نمايندگان تام الاختيار /رئيس دفترمنطقه اي آيسيسكو / رئيس كميسيون ملي آيسيسكو ايران / مدیرکل محیط زیست و توسعه پایدار وزارت خارجه / معاون گردشگري سازمان ميراث فرهنگي / رئيس مركز هماهنگيهاي فرهنگي (گفتگوي همكاري آسيا</a:t>
            </a:r>
            <a:r>
              <a:rPr lang="en-US" b="1" dirty="0" smtClean="0">
                <a:cs typeface="B Nazanin" pitchFamily="2" charset="-78"/>
              </a:rPr>
              <a:t>ACD</a:t>
            </a:r>
            <a:r>
              <a:rPr lang="fa-IR" b="1" dirty="0" smtClean="0">
                <a:cs typeface="B Nazanin" pitchFamily="2" charset="-78"/>
              </a:rPr>
              <a:t>) / مديركل امور بين‌الملل سازمان صدا و سيما / مشاور بين الملل وزير ارشاد / مديركل ارشاد خراسان رضوي </a:t>
            </a:r>
            <a:r>
              <a:rPr lang="fa-IR" b="1" dirty="0">
                <a:cs typeface="B Nazanin" pitchFamily="2" charset="-78"/>
              </a:rPr>
              <a:t>و دبير شوراي برنامه ريزي و هماهنگي پايتخت فرهنگي جهان اسلام مشهد 2017 </a:t>
            </a:r>
            <a:r>
              <a:rPr lang="fa-IR" b="1">
                <a:cs typeface="B Nazanin" pitchFamily="2" charset="-78"/>
              </a:rPr>
              <a:t>ميلادي </a:t>
            </a:r>
            <a:r>
              <a:rPr lang="fa-IR" b="1" smtClean="0">
                <a:cs typeface="B Nazanin" pitchFamily="2" charset="-78"/>
              </a:rPr>
              <a:t>/ </a:t>
            </a:r>
            <a:r>
              <a:rPr lang="fa-IR" b="1" dirty="0" smtClean="0">
                <a:cs typeface="B Nazanin" pitchFamily="2" charset="-78"/>
              </a:rPr>
              <a:t>معاون ارتباطات و بین الملل جامعه المصطفی العالمیه / معاون فرهنگي مجمع جهانی تقریب مذاهب اسلامی </a:t>
            </a:r>
            <a:endParaRPr lang="en-US" b="1" dirty="0" smtClean="0">
              <a:cs typeface="B Nazanin" pitchFamily="2" charset="-78"/>
            </a:endParaRPr>
          </a:p>
          <a:p>
            <a:pPr algn="r">
              <a:buNone/>
            </a:pPr>
            <a:endParaRPr lang="en-US" dirty="0"/>
          </a:p>
        </p:txBody>
      </p:sp>
    </p:spTree>
  </p:cSld>
  <p:clrMapOvr>
    <a:masterClrMapping/>
  </p:clrMapOvr>
  <p:transition>
    <p:wipe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5550091"/>
          </a:xfrm>
        </p:spPr>
        <p:txBody>
          <a:bodyPr>
            <a:normAutofit fontScale="92500"/>
          </a:bodyPr>
          <a:lstStyle/>
          <a:p>
            <a:pPr algn="r" rtl="1">
              <a:buNone/>
            </a:pPr>
            <a:r>
              <a:rPr lang="fa-IR" dirty="0" smtClean="0">
                <a:cs typeface="B Titr" pitchFamily="2" charset="-78"/>
              </a:rPr>
              <a:t>وظايف ستاد بين الملل: </a:t>
            </a:r>
            <a:endParaRPr lang="en-US" dirty="0" smtClean="0">
              <a:cs typeface="B Titr" pitchFamily="2" charset="-78"/>
            </a:endParaRPr>
          </a:p>
          <a:p>
            <a:pPr algn="just" rtl="1">
              <a:buNone/>
            </a:pPr>
            <a:r>
              <a:rPr lang="fa-IR" dirty="0" smtClean="0"/>
              <a:t>-	</a:t>
            </a:r>
            <a:r>
              <a:rPr lang="fa-IR" b="1" dirty="0" smtClean="0">
                <a:cs typeface="B Nazanin" pitchFamily="2" charset="-78"/>
              </a:rPr>
              <a:t>تدوين سياستهاي كلي نحوه همكاري مراكز و سازمانهاي عضو در جهت اجراي برنامه ها </a:t>
            </a:r>
            <a:endParaRPr lang="en-US" b="1" dirty="0" smtClean="0">
              <a:cs typeface="B Nazanin" pitchFamily="2" charset="-78"/>
            </a:endParaRPr>
          </a:p>
          <a:p>
            <a:pPr algn="just" rtl="1">
              <a:buNone/>
            </a:pPr>
            <a:r>
              <a:rPr lang="fa-IR" b="1" dirty="0" smtClean="0">
                <a:cs typeface="B Nazanin" pitchFamily="2" charset="-78"/>
              </a:rPr>
              <a:t>-	تدوين برنامه‌هاي فرهنگي بين المللي دررراستاي اهداف ج .ا. ايران وآيسيسكو</a:t>
            </a:r>
            <a:endParaRPr lang="en-US" b="1" dirty="0" smtClean="0">
              <a:cs typeface="B Nazanin" pitchFamily="2" charset="-78"/>
            </a:endParaRPr>
          </a:p>
          <a:p>
            <a:pPr algn="just" rtl="1">
              <a:buNone/>
            </a:pPr>
            <a:r>
              <a:rPr lang="fa-IR" b="1" dirty="0" smtClean="0">
                <a:cs typeface="B Nazanin" pitchFamily="2" charset="-78"/>
              </a:rPr>
              <a:t>-	ارائه راهكارهاي عملياتي و اجرايي برنامه هاي مدنظر </a:t>
            </a:r>
            <a:endParaRPr lang="en-US" b="1" dirty="0" smtClean="0">
              <a:cs typeface="B Nazanin" pitchFamily="2" charset="-78"/>
            </a:endParaRPr>
          </a:p>
          <a:p>
            <a:pPr algn="just" rtl="1">
              <a:buNone/>
            </a:pPr>
            <a:r>
              <a:rPr lang="fa-IR" b="1" dirty="0" smtClean="0">
                <a:cs typeface="B Nazanin" pitchFamily="2" charset="-78"/>
              </a:rPr>
              <a:t>-	بهره مندي از ظرفيت هاي فرهنگي و هنري مراكز و دستگاههاي فعال در داخل كشور </a:t>
            </a:r>
            <a:endParaRPr lang="en-US" b="1" dirty="0" smtClean="0">
              <a:cs typeface="B Nazanin" pitchFamily="2" charset="-78"/>
            </a:endParaRPr>
          </a:p>
          <a:p>
            <a:pPr algn="just" rtl="1">
              <a:buNone/>
            </a:pPr>
            <a:r>
              <a:rPr lang="fa-IR" b="1" dirty="0" smtClean="0">
                <a:cs typeface="B Nazanin" pitchFamily="2" charset="-78"/>
              </a:rPr>
              <a:t>-	اطلاع رساني و انعكاس برنامه‌ها درسطح بين الملل بااستفاده از امكانات موجود و ظرفيت رايزني‌ها، خبرگزاري و صداو سيما جمهوري اسلامي ايران  </a:t>
            </a:r>
            <a:endParaRPr lang="en-US" b="1" dirty="0" smtClean="0">
              <a:cs typeface="B Nazanin" pitchFamily="2" charset="-78"/>
            </a:endParaRPr>
          </a:p>
          <a:p>
            <a:pPr algn="just" rtl="1">
              <a:buNone/>
            </a:pPr>
            <a:r>
              <a:rPr lang="fa-IR" b="1" dirty="0" smtClean="0">
                <a:cs typeface="B Nazanin" pitchFamily="2" charset="-78"/>
              </a:rPr>
              <a:t>-	ارائه برنامه هاي مصوب ستاد بين الملل جهت تامين هزينه به شوراي عالي سياستگذاري مشهد پايتخت فرهنگي جهان اسلام در سال 2017</a:t>
            </a:r>
            <a:endParaRPr lang="en-US" b="1" dirty="0" smtClean="0">
              <a:cs typeface="B Nazanin" pitchFamily="2" charset="-78"/>
            </a:endParaRPr>
          </a:p>
          <a:p>
            <a:pPr algn="just"/>
            <a:endParaRPr lang="en-US" dirty="0">
              <a:cs typeface="B Nazanin" pitchFamily="2" charset="-78"/>
            </a:endParaRPr>
          </a:p>
        </p:txBody>
      </p:sp>
    </p:spTree>
  </p:cSld>
  <p:clrMapOvr>
    <a:masterClrMapping/>
  </p:clrMapOvr>
  <p:transition>
    <p:wipe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5550091"/>
          </a:xfrm>
        </p:spPr>
        <p:txBody>
          <a:bodyPr>
            <a:normAutofit lnSpcReduction="10000"/>
          </a:bodyPr>
          <a:lstStyle/>
          <a:p>
            <a:pPr algn="r" rtl="1">
              <a:buNone/>
            </a:pPr>
            <a:r>
              <a:rPr lang="fa-IR" dirty="0" smtClean="0">
                <a:cs typeface="B Titr" pitchFamily="2" charset="-78"/>
              </a:rPr>
              <a:t>وظايف دبير ستاد : </a:t>
            </a:r>
            <a:endParaRPr lang="en-US" dirty="0" smtClean="0">
              <a:cs typeface="B Titr" pitchFamily="2" charset="-78"/>
            </a:endParaRPr>
          </a:p>
          <a:p>
            <a:pPr algn="r" rtl="1">
              <a:buNone/>
            </a:pPr>
            <a:endParaRPr lang="en-US" dirty="0" smtClean="0">
              <a:cs typeface="B Titr" pitchFamily="2" charset="-78"/>
            </a:endParaRPr>
          </a:p>
          <a:p>
            <a:pPr algn="r" rtl="1">
              <a:buNone/>
            </a:pPr>
            <a:r>
              <a:rPr lang="fa-IR" dirty="0" smtClean="0"/>
              <a:t>-	</a:t>
            </a:r>
            <a:r>
              <a:rPr lang="fa-IR" sz="3200" dirty="0" smtClean="0">
                <a:cs typeface="B Nazanin" pitchFamily="2" charset="-78"/>
              </a:rPr>
              <a:t>راه اندازي دبيرخانه ستاد بين المل مشهد پايتخت فرهنگي جهان اسلام در سال 2017</a:t>
            </a:r>
            <a:endParaRPr lang="en-US" sz="3200" dirty="0" smtClean="0">
              <a:cs typeface="B Nazanin" pitchFamily="2" charset="-78"/>
            </a:endParaRPr>
          </a:p>
          <a:p>
            <a:pPr algn="r" rtl="1">
              <a:buNone/>
            </a:pPr>
            <a:r>
              <a:rPr lang="fa-IR" sz="3200" dirty="0" smtClean="0">
                <a:cs typeface="B Nazanin" pitchFamily="2" charset="-78"/>
              </a:rPr>
              <a:t>-	تدوين دستورجلسه وتشكيل جلسات با حضور اعضاي ستاد </a:t>
            </a:r>
            <a:endParaRPr lang="en-US" sz="3200" dirty="0" smtClean="0">
              <a:cs typeface="B Nazanin" pitchFamily="2" charset="-78"/>
            </a:endParaRPr>
          </a:p>
          <a:p>
            <a:pPr algn="r" rtl="1">
              <a:buFontTx/>
              <a:buChar char="-"/>
            </a:pPr>
            <a:r>
              <a:rPr lang="fa-IR" sz="3200" dirty="0" smtClean="0">
                <a:cs typeface="B Nazanin" pitchFamily="2" charset="-78"/>
              </a:rPr>
              <a:t>تدوين و ابلاغ مصوبات وتصميمات ستاد بين الملل</a:t>
            </a:r>
          </a:p>
          <a:p>
            <a:pPr algn="r" rtl="1">
              <a:buFontTx/>
              <a:buChar char="-"/>
            </a:pPr>
            <a:r>
              <a:rPr lang="fa-IR" sz="3200" dirty="0" smtClean="0">
                <a:cs typeface="B Nazanin" pitchFamily="2" charset="-78"/>
              </a:rPr>
              <a:t>برگزاري جلسات دوره اي با كميته هاي تعيين شده و تصويب برنامه هاي اجرايي</a:t>
            </a:r>
          </a:p>
          <a:p>
            <a:pPr algn="r" rtl="1">
              <a:buFontTx/>
              <a:buChar char="-"/>
            </a:pPr>
            <a:r>
              <a:rPr lang="fa-IR" sz="3200" dirty="0" smtClean="0">
                <a:cs typeface="B Nazanin" pitchFamily="2" charset="-78"/>
              </a:rPr>
              <a:t>پيگيري و نظارت </a:t>
            </a:r>
            <a:r>
              <a:rPr lang="fa-IR" sz="3200" dirty="0">
                <a:cs typeface="B Nazanin" pitchFamily="2" charset="-78"/>
              </a:rPr>
              <a:t>بر اقدامات كميته هاي تعيين </a:t>
            </a:r>
            <a:r>
              <a:rPr lang="fa-IR" sz="3200" dirty="0" smtClean="0">
                <a:cs typeface="B Nazanin" pitchFamily="2" charset="-78"/>
              </a:rPr>
              <a:t>شده</a:t>
            </a:r>
          </a:p>
          <a:p>
            <a:pPr algn="r" rtl="1">
              <a:buFontTx/>
              <a:buChar char="-"/>
            </a:pPr>
            <a:r>
              <a:rPr lang="fa-IR" sz="3200" dirty="0">
                <a:cs typeface="B Nazanin" pitchFamily="2" charset="-78"/>
              </a:rPr>
              <a:t>ارايه گزارش از امور انجام شده به </a:t>
            </a:r>
            <a:r>
              <a:rPr lang="fa-IR" sz="3200" dirty="0" smtClean="0">
                <a:cs typeface="B Nazanin" pitchFamily="2" charset="-78"/>
              </a:rPr>
              <a:t>شورا</a:t>
            </a:r>
          </a:p>
          <a:p>
            <a:pPr algn="r" rtl="1">
              <a:buFontTx/>
              <a:buChar char="-"/>
            </a:pPr>
            <a:r>
              <a:rPr lang="fa-IR" sz="3200" dirty="0">
                <a:cs typeface="B Nazanin" pitchFamily="2" charset="-78"/>
              </a:rPr>
              <a:t>پيگيري اجراي مصوبات ستاد بين الملل </a:t>
            </a:r>
          </a:p>
          <a:p>
            <a:pPr algn="r" rtl="1">
              <a:buNone/>
            </a:pPr>
            <a:endParaRPr lang="en-US" sz="3200" dirty="0"/>
          </a:p>
        </p:txBody>
      </p:sp>
    </p:spTree>
  </p:cSld>
  <p:clrMapOvr>
    <a:masterClrMapping/>
  </p:clrMapOvr>
  <p:transition>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81000"/>
            <a:ext cx="8229600" cy="5626291"/>
          </a:xfrm>
        </p:spPr>
        <p:txBody>
          <a:bodyPr/>
          <a:lstStyle/>
          <a:p>
            <a:pPr algn="r" rtl="1">
              <a:buNone/>
            </a:pPr>
            <a:r>
              <a:rPr lang="fa-IR" dirty="0" smtClean="0">
                <a:cs typeface="B Titr" pitchFamily="2" charset="-78"/>
              </a:rPr>
              <a:t>مسئول اجرايي : </a:t>
            </a:r>
            <a:endParaRPr lang="en-US" dirty="0" smtClean="0">
              <a:cs typeface="B Titr" pitchFamily="2" charset="-78"/>
            </a:endParaRPr>
          </a:p>
          <a:p>
            <a:pPr algn="r" rtl="1">
              <a:buNone/>
            </a:pPr>
            <a:endParaRPr lang="en-US" dirty="0" smtClean="0">
              <a:cs typeface="B Titr" pitchFamily="2" charset="-78"/>
            </a:endParaRPr>
          </a:p>
          <a:p>
            <a:pPr algn="r" rtl="1">
              <a:buNone/>
            </a:pPr>
            <a:r>
              <a:rPr lang="fa-IR" dirty="0" smtClean="0"/>
              <a:t>-	</a:t>
            </a:r>
            <a:r>
              <a:rPr lang="fa-IR" sz="3600" dirty="0" smtClean="0">
                <a:cs typeface="B Nazanin" pitchFamily="2" charset="-78"/>
              </a:rPr>
              <a:t>اجراي مصوبات وتصميمات اتخاذ شده درستاد بين الملل ستاد با استفاده ازبخش هاي زيرمجموعه (تشريفات ، روابط عمومي و.....)و هماهنگ كننده بخش هاي اجرايي با ستاد</a:t>
            </a:r>
            <a:endParaRPr lang="en-US" sz="3600" dirty="0" smtClean="0">
              <a:cs typeface="B Nazanin" pitchFamily="2" charset="-78"/>
            </a:endParaRPr>
          </a:p>
          <a:p>
            <a:pPr algn="r" rtl="1">
              <a:buNone/>
            </a:pPr>
            <a:r>
              <a:rPr lang="fa-IR" sz="3600" dirty="0" smtClean="0">
                <a:cs typeface="B Nazanin" pitchFamily="2" charset="-78"/>
              </a:rPr>
              <a:t>-	اعلان و مطرح كردن كليه نيازهاي ، درخواست ها، كمبود ها و ... به شوراي اجرايي</a:t>
            </a:r>
            <a:endParaRPr lang="en-US" sz="3600" dirty="0" smtClean="0">
              <a:cs typeface="B Nazanin" pitchFamily="2" charset="-78"/>
            </a:endParaRPr>
          </a:p>
          <a:p>
            <a:pPr algn="r" rtl="1">
              <a:buNone/>
            </a:pPr>
            <a:r>
              <a:rPr lang="fa-IR" sz="3600" dirty="0" smtClean="0">
                <a:cs typeface="B Nazanin" pitchFamily="2" charset="-78"/>
              </a:rPr>
              <a:t>-	تهيه گزارش ادواري از كارهاي انجام شده (بولتن)</a:t>
            </a:r>
            <a:endParaRPr lang="en-US" sz="3600" dirty="0" smtClean="0">
              <a:cs typeface="B Nazanin" pitchFamily="2" charset="-78"/>
            </a:endParaRPr>
          </a:p>
          <a:p>
            <a:endParaRPr lang="en-US" sz="3600" dirty="0">
              <a:cs typeface="B Nazanin" pitchFamily="2" charset="-78"/>
            </a:endParaRPr>
          </a:p>
        </p:txBody>
      </p:sp>
    </p:spTree>
  </p:cSld>
  <p:clrMapOvr>
    <a:masterClrMapping/>
  </p:clrMapOvr>
  <p:transition>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092891"/>
          </a:xfrm>
        </p:spPr>
        <p:txBody>
          <a:bodyPr>
            <a:normAutofit/>
          </a:bodyPr>
          <a:lstStyle/>
          <a:p>
            <a:pPr algn="ctr">
              <a:buNone/>
            </a:pPr>
            <a:r>
              <a:rPr lang="fa-IR" sz="6600" dirty="0" smtClean="0">
                <a:solidFill>
                  <a:schemeClr val="bg2">
                    <a:lumMod val="50000"/>
                  </a:schemeClr>
                </a:solidFill>
                <a:cs typeface="B Titr" pitchFamily="2" charset="-78"/>
              </a:rPr>
              <a:t>با تشکر از همراهی شما</a:t>
            </a:r>
          </a:p>
          <a:p>
            <a:pPr algn="ctr">
              <a:buNone/>
            </a:pPr>
            <a:endParaRPr lang="fa-IR" sz="6600" dirty="0" smtClean="0">
              <a:solidFill>
                <a:schemeClr val="bg2">
                  <a:lumMod val="50000"/>
                </a:schemeClr>
              </a:solidFill>
              <a:cs typeface="B Titr" pitchFamily="2" charset="-78"/>
            </a:endParaRPr>
          </a:p>
          <a:p>
            <a:pPr algn="ctr">
              <a:buNone/>
            </a:pPr>
            <a:r>
              <a:rPr lang="fa-IR" sz="6600" dirty="0" smtClean="0">
                <a:solidFill>
                  <a:schemeClr val="bg2">
                    <a:lumMod val="50000"/>
                  </a:schemeClr>
                </a:solidFill>
                <a:cs typeface="B Titr" pitchFamily="2" charset="-78"/>
              </a:rPr>
              <a:t>پایان</a:t>
            </a:r>
            <a:endParaRPr lang="en-US" sz="6600" dirty="0">
              <a:solidFill>
                <a:schemeClr val="bg2">
                  <a:lumMod val="50000"/>
                </a:schemeClr>
              </a:solidFill>
              <a:cs typeface="B Titr" pitchFamily="2" charset="-78"/>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308</TotalTime>
  <Words>212</Words>
  <Application>Microsoft Office PowerPoint</Application>
  <PresentationFormat>On-screen Show (4:3)</PresentationFormat>
  <Paragraphs>40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Concourse</vt:lpstr>
      <vt:lpstr>PowerPoint Presentation</vt:lpstr>
      <vt:lpstr>ستاد بين الملل شوراي عالي سياستگذاري پايتخت فرهنگي جهان اسلام  مشهد2017 ميلادي</vt:lpstr>
      <vt:lpstr>رئيس ستاد : جناب آقاي دكتر ابراهيمي  </vt:lpstr>
      <vt:lpstr>اعضاي ستاد بين الملل:    1-رئيس دفترمنطقه اي آيسيسكو (جناب آقاي دكتر صدري)  2- رئيس كميسيون ملي آيسيسكو ايران (جناب آقاي دكتر بابالو)  3-مدیرکل محیط زیست و توسعه پایدار وزارت خارجه (جناب آقاي پیمان سعادت)  4-معاون گردشگري سازمان ميراث فرهنگي ( جناب آقاي رحماني موحد )   5-رئيس مركز هماهنگيهاي فرهنگي (گفتگوي همكاري آسياACD) (جناب آقاي رضازاده)  6-مديركل امور بين‌الملل سازمان صدا و سيما (عباس ناصري طاهري )  7-مشاور بين الملل وزير ارشاد (حجت الاسلام و المسلمين دكتر امينيان)   8-مديركل و دبير شوراي برنامه ريزي و هماهنگي پايتخت فرهنگي جهان اسلام مشهد 2017 ميلادي (جناب آقاي سرابي)   9 -معاون ارتباطات و بین الملل جامعه المصطفی العالمیه(حجت الاسلام و المسلمين حكيم الهي)  10-معاون فرهنگي مجمع جهانی تقریب مذاهب اسلامی (حجت الاسلام و المسلمين گلزاده) 11- نماينده استان قدس رضوي جناب آقاي حسيني 12- نماينه وزات علوم وتحقيقات فن اوري جناب اقاي هاشمي   </vt:lpstr>
      <vt:lpstr>دبير ستاد : جناب آقاي فلاحت پيشه</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m_farahani</dc:creator>
  <cp:lastModifiedBy>Alireza Birjandi</cp:lastModifiedBy>
  <cp:revision>38</cp:revision>
  <cp:lastPrinted>2015-10-25T07:39:56Z</cp:lastPrinted>
  <dcterms:created xsi:type="dcterms:W3CDTF">2015-10-04T08:16:01Z</dcterms:created>
  <dcterms:modified xsi:type="dcterms:W3CDTF">2015-11-16T10:07:33Z</dcterms:modified>
</cp:coreProperties>
</file>