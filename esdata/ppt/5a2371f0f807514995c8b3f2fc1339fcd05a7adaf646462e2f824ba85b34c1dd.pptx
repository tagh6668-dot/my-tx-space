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56"/>
  </p:notesMasterIdLst>
  <p:sldIdLst>
    <p:sldId id="320" r:id="rId2"/>
    <p:sldId id="256" r:id="rId3"/>
    <p:sldId id="321"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300" r:id="rId41"/>
    <p:sldId id="301" r:id="rId42"/>
    <p:sldId id="299" r:id="rId43"/>
    <p:sldId id="298" r:id="rId44"/>
    <p:sldId id="297" r:id="rId45"/>
    <p:sldId id="296" r:id="rId46"/>
    <p:sldId id="295" r:id="rId47"/>
    <p:sldId id="302" r:id="rId48"/>
    <p:sldId id="303" r:id="rId49"/>
    <p:sldId id="304" r:id="rId50"/>
    <p:sldId id="305" r:id="rId51"/>
    <p:sldId id="307" r:id="rId52"/>
    <p:sldId id="306" r:id="rId53"/>
    <p:sldId id="317" r:id="rId54"/>
    <p:sldId id="316"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horzBarState="maximized">
    <p:restoredLeft sz="15620"/>
    <p:restoredTop sz="76680" autoAdjust="0"/>
  </p:normalViewPr>
  <p:slideViewPr>
    <p:cSldViewPr>
      <p:cViewPr varScale="1">
        <p:scale>
          <a:sx n="93" d="100"/>
          <a:sy n="93" d="100"/>
        </p:scale>
        <p:origin x="-123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fa-IR"/>
          </a:p>
        </p:txBody>
      </p:sp>
      <p:sp>
        <p:nvSpPr>
          <p:cNvPr id="3" name="Date Placeholder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3BBDFCB0-D27D-4806-8095-B815303DB1E3}" type="datetimeFigureOut">
              <a:rPr lang="fa-IR" smtClean="0"/>
              <a:pPr/>
              <a:t>1437/02/27</a:t>
            </a:fld>
            <a:endParaRPr lang="fa-I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fa-I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1">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a-IR"/>
          </a:p>
        </p:txBody>
      </p:sp>
      <p:sp>
        <p:nvSpPr>
          <p:cNvPr id="6" name="Footer Placeholder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fa-IR"/>
          </a:p>
        </p:txBody>
      </p:sp>
      <p:sp>
        <p:nvSpPr>
          <p:cNvPr id="7" name="Slide Number Placeholder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FA75F742-7F0A-4F44-AEAF-EE86D1A18012}" type="slidenum">
              <a:rPr lang="fa-IR" smtClean="0"/>
              <a:pPr/>
              <a:t>‹#›</a:t>
            </a:fld>
            <a:endParaRPr lang="fa-IR"/>
          </a:p>
        </p:txBody>
      </p:sp>
    </p:spTree>
    <p:extLst>
      <p:ext uri="{BB962C8B-B14F-4D97-AF65-F5344CB8AC3E}">
        <p14:creationId xmlns:p14="http://schemas.microsoft.com/office/powerpoint/2010/main" xmlns="" val="3057128138"/>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a-IR" dirty="0"/>
          </a:p>
        </p:txBody>
      </p:sp>
      <p:sp>
        <p:nvSpPr>
          <p:cNvPr id="4" name="Slide Number Placeholder 3"/>
          <p:cNvSpPr>
            <a:spLocks noGrp="1"/>
          </p:cNvSpPr>
          <p:nvPr>
            <p:ph type="sldNum" sz="quarter" idx="10"/>
          </p:nvPr>
        </p:nvSpPr>
        <p:spPr/>
        <p:txBody>
          <a:bodyPr/>
          <a:lstStyle/>
          <a:p>
            <a:fld id="{FA75F742-7F0A-4F44-AEAF-EE86D1A18012}" type="slidenum">
              <a:rPr lang="fa-IR" smtClean="0"/>
              <a:pPr/>
              <a:t>17</a:t>
            </a:fld>
            <a:endParaRPr lang="fa-IR"/>
          </a:p>
        </p:txBody>
      </p:sp>
    </p:spTree>
    <p:extLst>
      <p:ext uri="{BB962C8B-B14F-4D97-AF65-F5344CB8AC3E}">
        <p14:creationId xmlns:p14="http://schemas.microsoft.com/office/powerpoint/2010/main" xmlns="" val="40600822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fa-IR" dirty="0"/>
          </a:p>
        </p:txBody>
      </p:sp>
      <p:sp>
        <p:nvSpPr>
          <p:cNvPr id="4" name="Slide Number Placeholder 3"/>
          <p:cNvSpPr>
            <a:spLocks noGrp="1"/>
          </p:cNvSpPr>
          <p:nvPr>
            <p:ph type="sldNum" sz="quarter" idx="10"/>
          </p:nvPr>
        </p:nvSpPr>
        <p:spPr/>
        <p:txBody>
          <a:bodyPr/>
          <a:lstStyle/>
          <a:p>
            <a:fld id="{FA75F742-7F0A-4F44-AEAF-EE86D1A18012}" type="slidenum">
              <a:rPr lang="fa-IR" smtClean="0"/>
              <a:pPr/>
              <a:t>27</a:t>
            </a:fld>
            <a:endParaRPr lang="fa-IR"/>
          </a:p>
        </p:txBody>
      </p:sp>
    </p:spTree>
    <p:extLst>
      <p:ext uri="{BB962C8B-B14F-4D97-AF65-F5344CB8AC3E}">
        <p14:creationId xmlns:p14="http://schemas.microsoft.com/office/powerpoint/2010/main" xmlns="" val="13470261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2">
        <a:schemeClr val="bg2"/>
      </p:bgRef>
    </p:bg>
    <p:spTree>
      <p:nvGrpSpPr>
        <p:cNvPr id="1" name=""/>
        <p:cNvGrpSpPr/>
        <p:nvPr/>
      </p:nvGrpSpPr>
      <p:grpSpPr>
        <a:xfrm>
          <a:off x="0" y="0"/>
          <a:ext cx="0" cy="0"/>
          <a:chOff x="0" y="0"/>
          <a:chExt cx="0" cy="0"/>
        </a:xfrm>
      </p:grpSpPr>
    </p:spTree>
  </p:cSld>
  <p:clrMapOvr>
    <a:overrideClrMapping bg1="dk1" tx1="lt1" bg2="dk2" tx2="lt2" accent1="accent1" accent2="accent2" accent3="accent3" accent4="accent4" accent5="accent5" accent6="accent6" hlink="hlink" folHlink="folHlink"/>
  </p:clrMapOvr>
  <p:transition spd="slow">
    <p:zo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7" name="Sun 6"/>
          <p:cNvSpPr/>
          <p:nvPr userDrawn="1"/>
        </p:nvSpPr>
        <p:spPr>
          <a:xfrm>
            <a:off x="3857620" y="6143644"/>
            <a:ext cx="857256" cy="571504"/>
          </a:xfrm>
          <a:prstGeom prst="sun">
            <a:avLst>
              <a:gd name="adj" fmla="val 20120"/>
            </a:avLst>
          </a:prstGeom>
        </p:spPr>
        <p:style>
          <a:lnRef idx="1">
            <a:schemeClr val="dk1"/>
          </a:lnRef>
          <a:fillRef idx="2">
            <a:schemeClr val="dk1"/>
          </a:fillRef>
          <a:effectRef idx="1">
            <a:schemeClr val="dk1"/>
          </a:effectRef>
          <a:fontRef idx="minor">
            <a:schemeClr val="dk1"/>
          </a:fontRef>
        </p:style>
        <p:txBody>
          <a:bodyPr rtlCol="1" anchor="ctr"/>
          <a:lstStyle/>
          <a:p>
            <a:pPr algn="ctr"/>
            <a:fld id="{44E3C12B-CA10-4D50-87DA-9BDF3962838F}" type="slidenum">
              <a:rPr lang="en-US" sz="1050" smtClean="0">
                <a:latin typeface="Arial" pitchFamily="34" charset="0"/>
                <a:cs typeface="Arial" pitchFamily="34" charset="0"/>
              </a:rPr>
              <a:pPr algn="ctr"/>
              <a:t>‹#›</a:t>
            </a:fld>
            <a:endParaRPr lang="fa-IR" sz="1050" dirty="0">
              <a:latin typeface="Arial" pitchFamily="34" charset="0"/>
              <a:cs typeface="Arial" pitchFamily="34" charset="0"/>
            </a:endParaRPr>
          </a:p>
        </p:txBody>
      </p:sp>
      <p:sp>
        <p:nvSpPr>
          <p:cNvPr id="4" name="Action Button: Home 3">
            <a:hlinkClick r:id="rId2" action="ppaction://hlinksldjump" highlightClick="1"/>
          </p:cNvPr>
          <p:cNvSpPr/>
          <p:nvPr userDrawn="1"/>
        </p:nvSpPr>
        <p:spPr>
          <a:xfrm>
            <a:off x="8429652" y="6286520"/>
            <a:ext cx="428628" cy="357190"/>
          </a:xfrm>
          <a:prstGeom prst="actionButtonHome">
            <a:avLst/>
          </a:prstGeom>
        </p:spPr>
        <p:style>
          <a:lnRef idx="1">
            <a:schemeClr val="dk1"/>
          </a:lnRef>
          <a:fillRef idx="2">
            <a:schemeClr val="dk1"/>
          </a:fillRef>
          <a:effectRef idx="1">
            <a:schemeClr val="dk1"/>
          </a:effectRef>
          <a:fontRef idx="minor">
            <a:schemeClr val="dk1"/>
          </a:fontRef>
        </p:style>
        <p:txBody>
          <a:bodyPr rtlCol="1" anchor="ctr"/>
          <a:lstStyle/>
          <a:p>
            <a:pPr algn="ctr"/>
            <a:endParaRPr lang="fa-IR"/>
          </a:p>
        </p:txBody>
      </p:sp>
      <p:sp>
        <p:nvSpPr>
          <p:cNvPr id="5" name="Action Button: Back or Previous 4">
            <a:hlinkClick r:id="" action="ppaction://hlinkshowjump?jump=previousslide" highlightClick="1"/>
          </p:cNvPr>
          <p:cNvSpPr/>
          <p:nvPr userDrawn="1"/>
        </p:nvSpPr>
        <p:spPr>
          <a:xfrm>
            <a:off x="500034" y="6429396"/>
            <a:ext cx="428628" cy="142876"/>
          </a:xfrm>
          <a:prstGeom prst="actionButtonBackPrevious">
            <a:avLst/>
          </a:prstGeom>
        </p:spPr>
        <p:style>
          <a:lnRef idx="1">
            <a:schemeClr val="dk1"/>
          </a:lnRef>
          <a:fillRef idx="2">
            <a:schemeClr val="dk1"/>
          </a:fillRef>
          <a:effectRef idx="1">
            <a:schemeClr val="dk1"/>
          </a:effectRef>
          <a:fontRef idx="minor">
            <a:schemeClr val="dk1"/>
          </a:fontRef>
        </p:style>
        <p:txBody>
          <a:bodyPr rtlCol="1" anchor="ctr"/>
          <a:lstStyle/>
          <a:p>
            <a:pPr algn="ctr"/>
            <a:endParaRPr lang="fa-IR"/>
          </a:p>
        </p:txBody>
      </p:sp>
      <p:sp>
        <p:nvSpPr>
          <p:cNvPr id="6" name="Action Button: Forward or Next 5">
            <a:hlinkClick r:id="" action="ppaction://hlinkshowjump?jump=nextslide" highlightClick="1"/>
          </p:cNvPr>
          <p:cNvSpPr/>
          <p:nvPr userDrawn="1"/>
        </p:nvSpPr>
        <p:spPr>
          <a:xfrm>
            <a:off x="1000100" y="6429396"/>
            <a:ext cx="500066" cy="142876"/>
          </a:xfrm>
          <a:prstGeom prst="actionButtonForwardNext">
            <a:avLst/>
          </a:prstGeom>
        </p:spPr>
        <p:style>
          <a:lnRef idx="1">
            <a:schemeClr val="dk1"/>
          </a:lnRef>
          <a:fillRef idx="2">
            <a:schemeClr val="dk1"/>
          </a:fillRef>
          <a:effectRef idx="1">
            <a:schemeClr val="dk1"/>
          </a:effectRef>
          <a:fontRef idx="minor">
            <a:schemeClr val="dk1"/>
          </a:fontRef>
        </p:style>
        <p:txBody>
          <a:bodyPr rtlCol="1" anchor="ctr"/>
          <a:lstStyle/>
          <a:p>
            <a:pPr algn="ctr"/>
            <a:endParaRPr lang="fa-IR"/>
          </a:p>
        </p:txBody>
      </p:sp>
    </p:spTree>
  </p:cSld>
  <p:clrMapOvr>
    <a:masterClrMapping/>
  </p:clrMapOvr>
  <p:transition spd="slow">
    <p:zo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BA273ACC-4A6B-40A3-A458-F60DB6427090}" type="datetime1">
              <a:rPr lang="fa-IR" smtClean="0"/>
              <a:pPr/>
              <a:t>1437/02/27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transition spd="slow">
    <p:zo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443090B-E522-4494-BB71-4E45A4AA17BE}" type="datetime1">
              <a:rPr lang="fa-IR" smtClean="0"/>
              <a:pPr/>
              <a:t>1437/02/27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zo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D2DD31D-36D2-463A-9E95-87685DC30378}" type="datetime1">
              <a:rPr lang="fa-IR" smtClean="0"/>
              <a:pPr/>
              <a:t>1437/02/27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zo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E5DDD7B8-78C4-4B8B-ADDE-88F3C838237A}" type="datetime1">
              <a:rPr lang="fa-IR" smtClean="0"/>
              <a:pPr/>
              <a:t>1437/02/27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DF64B8-BB4C-42BB-A957-111026C3CA71}" type="datetime1">
              <a:rPr lang="fa-IR" smtClean="0"/>
              <a:pPr/>
              <a:t>1437/02/27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zo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B3E31BA2-08F0-460C-A166-95E422C4A2D5}" type="datetime1">
              <a:rPr lang="fa-IR" smtClean="0"/>
              <a:pPr/>
              <a:t>1437/02/27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zo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060198EB-AA0E-4DE3-8D80-C781801FA7C4}" type="datetime1">
              <a:rPr lang="fa-IR" smtClean="0"/>
              <a:pPr/>
              <a:t>1437/02/27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transition spd="slow">
    <p:zo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96148B9-BDA8-44CA-AE61-EF8162998640}" type="datetime1">
              <a:rPr lang="fa-IR" smtClean="0"/>
              <a:pPr/>
              <a:t>1437/02/27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zo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41E31CF-F61C-48E7-844B-22F8AF4BE07B}" type="datetime1">
              <a:rPr lang="fa-IR" smtClean="0"/>
              <a:pPr/>
              <a:t>1437/02/27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spd="slow">
    <p:zo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A6E33984-4CDF-4E8A-851B-9716889B94E1}" type="datetime1">
              <a:rPr lang="fa-IR" smtClean="0"/>
              <a:pPr/>
              <a:t>1437/02/27</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ransition spd="slow">
    <p:zoom/>
  </p:transition>
  <p:hf hdr="0" ftr="0"/>
  <p:txStyles>
    <p:titleStyle>
      <a:lvl1pPr algn="l" rtl="1"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r" rtl="1"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r" rtl="1"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r" rtl="1"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r" rtl="1"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r" rtl="1"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r" rtl="1"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r" rtl="1"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r" rtl="1"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r" rtl="1"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r" rtl="1" eaLnBrk="1" latinLnBrk="0" hangingPunct="1">
        <a:defRPr kumimoji="0" kern="1200">
          <a:solidFill>
            <a:schemeClr val="tx1"/>
          </a:solidFill>
          <a:latin typeface="+mn-lt"/>
          <a:ea typeface="+mn-ea"/>
          <a:cs typeface="+mn-cs"/>
        </a:defRPr>
      </a:lvl1pPr>
      <a:lvl2pPr marL="457200" algn="r" rtl="1" eaLnBrk="1" latinLnBrk="0" hangingPunct="1">
        <a:defRPr kumimoji="0" kern="1200">
          <a:solidFill>
            <a:schemeClr val="tx1"/>
          </a:solidFill>
          <a:latin typeface="+mn-lt"/>
          <a:ea typeface="+mn-ea"/>
          <a:cs typeface="+mn-cs"/>
        </a:defRPr>
      </a:lvl2pPr>
      <a:lvl3pPr marL="914400" algn="r" rtl="1" eaLnBrk="1" latinLnBrk="0" hangingPunct="1">
        <a:defRPr kumimoji="0" kern="1200">
          <a:solidFill>
            <a:schemeClr val="tx1"/>
          </a:solidFill>
          <a:latin typeface="+mn-lt"/>
          <a:ea typeface="+mn-ea"/>
          <a:cs typeface="+mn-cs"/>
        </a:defRPr>
      </a:lvl3pPr>
      <a:lvl4pPr marL="1371600" algn="r" rtl="1" eaLnBrk="1" latinLnBrk="0" hangingPunct="1">
        <a:defRPr kumimoji="0" kern="1200">
          <a:solidFill>
            <a:schemeClr val="tx1"/>
          </a:solidFill>
          <a:latin typeface="+mn-lt"/>
          <a:ea typeface="+mn-ea"/>
          <a:cs typeface="+mn-cs"/>
        </a:defRPr>
      </a:lvl4pPr>
      <a:lvl5pPr marL="1828800" algn="r" rtl="1" eaLnBrk="1" latinLnBrk="0" hangingPunct="1">
        <a:defRPr kumimoji="0" kern="1200">
          <a:solidFill>
            <a:schemeClr val="tx1"/>
          </a:solidFill>
          <a:latin typeface="+mn-lt"/>
          <a:ea typeface="+mn-ea"/>
          <a:cs typeface="+mn-cs"/>
        </a:defRPr>
      </a:lvl5pPr>
      <a:lvl6pPr marL="2286000" algn="r" rtl="1" eaLnBrk="1" latinLnBrk="0" hangingPunct="1">
        <a:defRPr kumimoji="0" kern="1200">
          <a:solidFill>
            <a:schemeClr val="tx1"/>
          </a:solidFill>
          <a:latin typeface="+mn-lt"/>
          <a:ea typeface="+mn-ea"/>
          <a:cs typeface="+mn-cs"/>
        </a:defRPr>
      </a:lvl6pPr>
      <a:lvl7pPr marL="2743200" algn="r" rtl="1" eaLnBrk="1" latinLnBrk="0" hangingPunct="1">
        <a:defRPr kumimoji="0" kern="1200">
          <a:solidFill>
            <a:schemeClr val="tx1"/>
          </a:solidFill>
          <a:latin typeface="+mn-lt"/>
          <a:ea typeface="+mn-ea"/>
          <a:cs typeface="+mn-cs"/>
        </a:defRPr>
      </a:lvl7pPr>
      <a:lvl8pPr marL="3200400" algn="r" rtl="1" eaLnBrk="1" latinLnBrk="0" hangingPunct="1">
        <a:defRPr kumimoji="0" kern="1200">
          <a:solidFill>
            <a:schemeClr val="tx1"/>
          </a:solidFill>
          <a:latin typeface="+mn-lt"/>
          <a:ea typeface="+mn-ea"/>
          <a:cs typeface="+mn-cs"/>
        </a:defRPr>
      </a:lvl8pPr>
      <a:lvl9pPr marL="3657600" algn="r" rtl="1"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gif"/></Relationships>
</file>

<file path=ppt/slides/_rels/slide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47.xml"/><Relationship Id="rId1" Type="http://schemas.openxmlformats.org/officeDocument/2006/relationships/slideLayout" Target="../slideLayouts/slideLayout1.xml"/><Relationship Id="rId6" Type="http://schemas.openxmlformats.org/officeDocument/2006/relationships/slide" Target="slide38.xml"/><Relationship Id="rId5" Type="http://schemas.openxmlformats.org/officeDocument/2006/relationships/slide" Target="slide35.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www.yjc/" TargetMode="External"/><Relationship Id="rId2" Type="http://schemas.openxmlformats.org/officeDocument/2006/relationships/hyperlink" Target="http://www.farsnews.com/"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6" Type="http://schemas.openxmlformats.org/officeDocument/2006/relationships/hyperlink" Target="http://www.ido.ir/myhtml/r1.aspx?LinkID=91" TargetMode="External"/><Relationship Id="rId21" Type="http://schemas.openxmlformats.org/officeDocument/2006/relationships/hyperlink" Target="http://www.ido.ir/myhtml/r1.aspx?LinkID=99" TargetMode="External"/><Relationship Id="rId42" Type="http://schemas.openxmlformats.org/officeDocument/2006/relationships/hyperlink" Target="http://www.ido.ir/myhtml/r1.aspx?LinkID=13" TargetMode="External"/><Relationship Id="rId47" Type="http://schemas.openxmlformats.org/officeDocument/2006/relationships/hyperlink" Target="http://www.ido.ir/myhtml/r1.aspx?LinkID=16" TargetMode="External"/><Relationship Id="rId63" Type="http://schemas.openxmlformats.org/officeDocument/2006/relationships/hyperlink" Target="http://www.ido.ir/myhtml/r1.aspx?LinkID=70" TargetMode="External"/><Relationship Id="rId68" Type="http://schemas.openxmlformats.org/officeDocument/2006/relationships/hyperlink" Target="http://www.ido.ir/myhtml/r1.aspx?LinkID=76" TargetMode="External"/><Relationship Id="rId84" Type="http://schemas.openxmlformats.org/officeDocument/2006/relationships/hyperlink" Target="http://www.ido.ir/myhtml/r1.aspx?LinkID=89" TargetMode="External"/><Relationship Id="rId89" Type="http://schemas.openxmlformats.org/officeDocument/2006/relationships/hyperlink" Target="http://www.ido.ir/myhtml/r1.aspx?LinkID=54" TargetMode="External"/><Relationship Id="rId7" Type="http://schemas.openxmlformats.org/officeDocument/2006/relationships/hyperlink" Target="http://www.ido.ir/myhtml/r1.aspx?LinkID=71" TargetMode="External"/><Relationship Id="rId71" Type="http://schemas.openxmlformats.org/officeDocument/2006/relationships/hyperlink" Target="http://www.ido.ir/myhtml/r1.aspx?LinkID=77" TargetMode="External"/><Relationship Id="rId92" Type="http://schemas.openxmlformats.org/officeDocument/2006/relationships/hyperlink" Target="http://www.ido.ir/myhtml/r1.aspx?LinkID=102" TargetMode="External"/><Relationship Id="rId2" Type="http://schemas.openxmlformats.org/officeDocument/2006/relationships/hyperlink" Target="http://www.ido.ir/myhtml/r1.aspx?LinkID=41" TargetMode="External"/><Relationship Id="rId16" Type="http://schemas.openxmlformats.org/officeDocument/2006/relationships/hyperlink" Target="http://www.ido.ir/myhtml/r1.aspx?LinkID=29" TargetMode="External"/><Relationship Id="rId29" Type="http://schemas.openxmlformats.org/officeDocument/2006/relationships/hyperlink" Target="http://www.ido.ir/myhtml/r1.aspx?LinkID=64" TargetMode="External"/><Relationship Id="rId107" Type="http://schemas.openxmlformats.org/officeDocument/2006/relationships/hyperlink" Target="http://www.ido.ir/myhtml/r1.aspx?LinkID=26" TargetMode="External"/><Relationship Id="rId11" Type="http://schemas.openxmlformats.org/officeDocument/2006/relationships/hyperlink" Target="http://www.ido.ir/myhtml/r1.aspx?LinkID=40" TargetMode="External"/><Relationship Id="rId24" Type="http://schemas.openxmlformats.org/officeDocument/2006/relationships/hyperlink" Target="http://www.ido.ir/myhtml/r1.aspx?LinkID=101" TargetMode="External"/><Relationship Id="rId32" Type="http://schemas.openxmlformats.org/officeDocument/2006/relationships/hyperlink" Target="http://www.ido.ir/myhtml/r1.aspx?LinkID=6" TargetMode="External"/><Relationship Id="rId37" Type="http://schemas.openxmlformats.org/officeDocument/2006/relationships/hyperlink" Target="http://www.ido.ir/myhtml/r1.aspx?LinkID=9" TargetMode="External"/><Relationship Id="rId40" Type="http://schemas.openxmlformats.org/officeDocument/2006/relationships/hyperlink" Target="http://www.ido.ir/myhtml/r1.aspx?LinkID=11" TargetMode="External"/><Relationship Id="rId45" Type="http://schemas.openxmlformats.org/officeDocument/2006/relationships/hyperlink" Target="http://www.ido.ir/myhtml/r1.aspx?LinkID=60" TargetMode="External"/><Relationship Id="rId53" Type="http://schemas.openxmlformats.org/officeDocument/2006/relationships/hyperlink" Target="http://www.ido.ir/myhtml/r1.aspx?LinkID=21" TargetMode="External"/><Relationship Id="rId58" Type="http://schemas.openxmlformats.org/officeDocument/2006/relationships/hyperlink" Target="http://www.ido.ir/myhtml/r1.aspx?LinkID=92" TargetMode="External"/><Relationship Id="rId66" Type="http://schemas.openxmlformats.org/officeDocument/2006/relationships/hyperlink" Target="http://www.ido.ir/myhtml/r1.aspx?LinkID=45" TargetMode="External"/><Relationship Id="rId74" Type="http://schemas.openxmlformats.org/officeDocument/2006/relationships/hyperlink" Target="http://www.ido.ir/myhtml/r1.aspx?LinkID=106" TargetMode="External"/><Relationship Id="rId79" Type="http://schemas.openxmlformats.org/officeDocument/2006/relationships/hyperlink" Target="http://www.ido.ir/myhtml/r1.aspx?LinkID=79" TargetMode="External"/><Relationship Id="rId87" Type="http://schemas.openxmlformats.org/officeDocument/2006/relationships/hyperlink" Target="http://www.ido.ir/myhtml/r1.aspx?LinkID=103" TargetMode="External"/><Relationship Id="rId102" Type="http://schemas.openxmlformats.org/officeDocument/2006/relationships/hyperlink" Target="http://www.ido.ir/myhtml/r1.aspx?LinkID=86" TargetMode="External"/><Relationship Id="rId5" Type="http://schemas.openxmlformats.org/officeDocument/2006/relationships/hyperlink" Target="http://www.ido.ir/myhtml/r1.aspx?LinkID=93" TargetMode="External"/><Relationship Id="rId61" Type="http://schemas.openxmlformats.org/officeDocument/2006/relationships/hyperlink" Target="http://www.ido.ir/myhtml/r1.aspx?LinkID=104" TargetMode="External"/><Relationship Id="rId82" Type="http://schemas.openxmlformats.org/officeDocument/2006/relationships/hyperlink" Target="http://www.ido.ir/myhtml/r1.aspx?LinkID=81" TargetMode="External"/><Relationship Id="rId90" Type="http://schemas.openxmlformats.org/officeDocument/2006/relationships/hyperlink" Target="http://www.ido.ir/myhtml/r1.aspx?LinkID=58" TargetMode="External"/><Relationship Id="rId95" Type="http://schemas.openxmlformats.org/officeDocument/2006/relationships/hyperlink" Target="http://www.ido.ir/myhtml/r1.aspx?LinkID=83" TargetMode="External"/><Relationship Id="rId19" Type="http://schemas.openxmlformats.org/officeDocument/2006/relationships/hyperlink" Target="http://www.ido.ir/myhtml/r1.aspx?LinkID=30" TargetMode="External"/><Relationship Id="rId14" Type="http://schemas.openxmlformats.org/officeDocument/2006/relationships/hyperlink" Target="http://www.ido.ir/myhtml/r1.aspx?LinkID=90" TargetMode="External"/><Relationship Id="rId22" Type="http://schemas.openxmlformats.org/officeDocument/2006/relationships/hyperlink" Target="http://www.ido.ir/myhtml/r1.aspx?LinkID=31" TargetMode="External"/><Relationship Id="rId27" Type="http://schemas.openxmlformats.org/officeDocument/2006/relationships/hyperlink" Target="http://www.ido.ir/myhtml/r1.aspx?LinkID=2" TargetMode="External"/><Relationship Id="rId30" Type="http://schemas.openxmlformats.org/officeDocument/2006/relationships/hyperlink" Target="http://www.ido.ir/myhtml/r1.aspx?LinkID=4" TargetMode="External"/><Relationship Id="rId35" Type="http://schemas.openxmlformats.org/officeDocument/2006/relationships/hyperlink" Target="http://www.ido.ir/myhtml/r1.aspx?LinkID=7" TargetMode="External"/><Relationship Id="rId43" Type="http://schemas.openxmlformats.org/officeDocument/2006/relationships/hyperlink" Target="http://www.ido.ir/myhtml/r1.aspx?LinkID=14" TargetMode="External"/><Relationship Id="rId48" Type="http://schemas.openxmlformats.org/officeDocument/2006/relationships/hyperlink" Target="http://www.ido.ir/myhtml/r1.aspx?LinkID=17" TargetMode="External"/><Relationship Id="rId56" Type="http://schemas.openxmlformats.org/officeDocument/2006/relationships/hyperlink" Target="http://www.ido.ir/myhtml/r1.aspx?LinkID=24" TargetMode="External"/><Relationship Id="rId64" Type="http://schemas.openxmlformats.org/officeDocument/2006/relationships/hyperlink" Target="http://www.ido.ir/myhtml/r1.aspx?LinkID=44" TargetMode="External"/><Relationship Id="rId69" Type="http://schemas.openxmlformats.org/officeDocument/2006/relationships/hyperlink" Target="http://www.ido.ir/myhtml/r1.aspx?LinkID=67" TargetMode="External"/><Relationship Id="rId77" Type="http://schemas.openxmlformats.org/officeDocument/2006/relationships/hyperlink" Target="http://www.ido.ir/myhtml/r1.aspx?LinkID=66" TargetMode="External"/><Relationship Id="rId100" Type="http://schemas.openxmlformats.org/officeDocument/2006/relationships/hyperlink" Target="http://www.ido.ir/myhtml/r1.aspx?LinkID=85" TargetMode="External"/><Relationship Id="rId105" Type="http://schemas.openxmlformats.org/officeDocument/2006/relationships/hyperlink" Target="http://www.ido.ir/myhtml/r1.aspx?LinkID=88" TargetMode="External"/><Relationship Id="rId8" Type="http://schemas.openxmlformats.org/officeDocument/2006/relationships/hyperlink" Target="http://www.ido.ir/myhtml/r1.aspx?LinkID=108" TargetMode="External"/><Relationship Id="rId51" Type="http://schemas.openxmlformats.org/officeDocument/2006/relationships/hyperlink" Target="http://www.ido.ir/myhtml/r1.aspx?LinkID=19" TargetMode="External"/><Relationship Id="rId72" Type="http://schemas.openxmlformats.org/officeDocument/2006/relationships/hyperlink" Target="http://www.ido.ir/myhtml/r1.aspx?LinkID=75" TargetMode="External"/><Relationship Id="rId80" Type="http://schemas.openxmlformats.org/officeDocument/2006/relationships/hyperlink" Target="http://www.ido.ir/myhtml/r1.aspx?LinkID=57" TargetMode="External"/><Relationship Id="rId85" Type="http://schemas.openxmlformats.org/officeDocument/2006/relationships/hyperlink" Target="http://www.ido.ir/myhtml/r1.aspx?LinkID=82" TargetMode="External"/><Relationship Id="rId93" Type="http://schemas.openxmlformats.org/officeDocument/2006/relationships/hyperlink" Target="http://www.ido.ir/myhtml/r1.aspx?LinkID=49" TargetMode="External"/><Relationship Id="rId98" Type="http://schemas.openxmlformats.org/officeDocument/2006/relationships/hyperlink" Target="http://www.ido.ir/myhtml/r1.aspx?LinkID=59" TargetMode="External"/><Relationship Id="rId3" Type="http://schemas.openxmlformats.org/officeDocument/2006/relationships/hyperlink" Target="http://www.ido.ir/myhtml/r1.aspx?LinkID=100" TargetMode="External"/><Relationship Id="rId12" Type="http://schemas.openxmlformats.org/officeDocument/2006/relationships/hyperlink" Target="http://www.ido.ir/myhtml/r1.aspx?LinkID=27" TargetMode="External"/><Relationship Id="rId17" Type="http://schemas.openxmlformats.org/officeDocument/2006/relationships/hyperlink" Target="http://www.ido.ir/myhtml/r1.aspx?LinkID=72" TargetMode="External"/><Relationship Id="rId25" Type="http://schemas.openxmlformats.org/officeDocument/2006/relationships/hyperlink" Target="http://www.ido.ir/myhtml/r1.aspx?LinkID=34" TargetMode="External"/><Relationship Id="rId33" Type="http://schemas.openxmlformats.org/officeDocument/2006/relationships/hyperlink" Target="http://www.ido.ir/myhtml/r1.aspx?LinkID=28" TargetMode="External"/><Relationship Id="rId38" Type="http://schemas.openxmlformats.org/officeDocument/2006/relationships/hyperlink" Target="http://www.ido.ir/myhtml/r1.aspx?LinkID=61" TargetMode="External"/><Relationship Id="rId46" Type="http://schemas.openxmlformats.org/officeDocument/2006/relationships/hyperlink" Target="http://www.ido.ir/myhtml/r1.aspx?LinkID=15" TargetMode="External"/><Relationship Id="rId59" Type="http://schemas.openxmlformats.org/officeDocument/2006/relationships/hyperlink" Target="http://www.ido.ir/myhtml/r1.aspx?LinkID=74" TargetMode="External"/><Relationship Id="rId67" Type="http://schemas.openxmlformats.org/officeDocument/2006/relationships/hyperlink" Target="http://www.ido.ir/myhtml/r1.aspx?LinkID=68" TargetMode="External"/><Relationship Id="rId103" Type="http://schemas.openxmlformats.org/officeDocument/2006/relationships/hyperlink" Target="http://www.ido.ir/myhtml/r1.aspx?LinkID=53" TargetMode="External"/><Relationship Id="rId20" Type="http://schemas.openxmlformats.org/officeDocument/2006/relationships/hyperlink" Target="http://www.ido.ir/myhtml/r1.aspx?LinkID=73" TargetMode="External"/><Relationship Id="rId41" Type="http://schemas.openxmlformats.org/officeDocument/2006/relationships/hyperlink" Target="http://www.ido.ir/myhtml/r1.aspx?LinkID=12" TargetMode="External"/><Relationship Id="rId54" Type="http://schemas.openxmlformats.org/officeDocument/2006/relationships/hyperlink" Target="http://www.ido.ir/myhtml/r1.aspx?LinkID=22" TargetMode="External"/><Relationship Id="rId62" Type="http://schemas.openxmlformats.org/officeDocument/2006/relationships/hyperlink" Target="http://www.ido.ir/myhtml/r1.aspx?LinkID=105" TargetMode="External"/><Relationship Id="rId70" Type="http://schemas.openxmlformats.org/officeDocument/2006/relationships/hyperlink" Target="http://www.ido.ir/myhtml/r1.aspx?LinkID=69" TargetMode="External"/><Relationship Id="rId75" Type="http://schemas.openxmlformats.org/officeDocument/2006/relationships/hyperlink" Target="http://www.ido.ir/myhtml/r1.aspx?LinkID=43" TargetMode="External"/><Relationship Id="rId83" Type="http://schemas.openxmlformats.org/officeDocument/2006/relationships/hyperlink" Target="http://www.ido.ir/myhtml/r1.aspx?LinkID=48" TargetMode="External"/><Relationship Id="rId88" Type="http://schemas.openxmlformats.org/officeDocument/2006/relationships/hyperlink" Target="http://www.ido.ir/myhtml/r1.aspx?LinkID=51" TargetMode="External"/><Relationship Id="rId91" Type="http://schemas.openxmlformats.org/officeDocument/2006/relationships/hyperlink" Target="http://www.ido.ir/myhtml/r1.aspx?LinkID=98" TargetMode="External"/><Relationship Id="rId96" Type="http://schemas.openxmlformats.org/officeDocument/2006/relationships/hyperlink" Target="http://www.ido.ir/myhtml/r1.aspx?LinkID=84" TargetMode="External"/><Relationship Id="rId1" Type="http://schemas.openxmlformats.org/officeDocument/2006/relationships/slideLayout" Target="../slideLayouts/slideLayout2.xml"/><Relationship Id="rId6" Type="http://schemas.openxmlformats.org/officeDocument/2006/relationships/hyperlink" Target="http://www.ido.ir/myhtml/r1.aspx?LinkID=1" TargetMode="External"/><Relationship Id="rId15" Type="http://schemas.openxmlformats.org/officeDocument/2006/relationships/hyperlink" Target="http://www.ido.ir/myhtml/r1.aspx?LinkID=38" TargetMode="External"/><Relationship Id="rId23" Type="http://schemas.openxmlformats.org/officeDocument/2006/relationships/hyperlink" Target="http://www.ido.ir/myhtml/r1.aspx?LinkID=32" TargetMode="External"/><Relationship Id="rId28" Type="http://schemas.openxmlformats.org/officeDocument/2006/relationships/hyperlink" Target="http://www.ido.ir/myhtml/r1.aspx?LinkID=3" TargetMode="External"/><Relationship Id="rId36" Type="http://schemas.openxmlformats.org/officeDocument/2006/relationships/hyperlink" Target="http://www.ido.ir/myhtml/r1.aspx?LinkID=8" TargetMode="External"/><Relationship Id="rId49" Type="http://schemas.openxmlformats.org/officeDocument/2006/relationships/hyperlink" Target="http://www.ido.ir/myhtml/r1.aspx?LinkID=35" TargetMode="External"/><Relationship Id="rId57" Type="http://schemas.openxmlformats.org/officeDocument/2006/relationships/hyperlink" Target="http://www.ido.ir/myhtml/r1.aspx?LinkID=47" TargetMode="External"/><Relationship Id="rId106" Type="http://schemas.openxmlformats.org/officeDocument/2006/relationships/hyperlink" Target="http://www.ido.ir/myhtml/r1.aspx?LinkID=52" TargetMode="External"/><Relationship Id="rId10" Type="http://schemas.openxmlformats.org/officeDocument/2006/relationships/hyperlink" Target="http://www.ido.ir/myhtml/r1.aspx?LinkID=39" TargetMode="External"/><Relationship Id="rId31" Type="http://schemas.openxmlformats.org/officeDocument/2006/relationships/hyperlink" Target="http://www.ido.ir/myhtml/r1.aspx?LinkID=5" TargetMode="External"/><Relationship Id="rId44" Type="http://schemas.openxmlformats.org/officeDocument/2006/relationships/hyperlink" Target="http://www.ido.ir/myhtml/r1.aspx?LinkID=65" TargetMode="External"/><Relationship Id="rId52" Type="http://schemas.openxmlformats.org/officeDocument/2006/relationships/hyperlink" Target="http://www.ido.ir/myhtml/r1.aspx?LinkID=20" TargetMode="External"/><Relationship Id="rId60" Type="http://schemas.openxmlformats.org/officeDocument/2006/relationships/hyperlink" Target="http://www.ido.ir/myhtml/r1.aspx?LinkID=46" TargetMode="External"/><Relationship Id="rId65" Type="http://schemas.openxmlformats.org/officeDocument/2006/relationships/hyperlink" Target="http://www.ido.ir/myhtml/r1.aspx?LinkID=42" TargetMode="External"/><Relationship Id="rId73" Type="http://schemas.openxmlformats.org/officeDocument/2006/relationships/hyperlink" Target="http://www.ido.ir/myhtml/r1.aspx?LinkID=33" TargetMode="External"/><Relationship Id="rId78" Type="http://schemas.openxmlformats.org/officeDocument/2006/relationships/hyperlink" Target="http://www.ido.ir/myhtml/r1.aspx?LinkID=78" TargetMode="External"/><Relationship Id="rId81" Type="http://schemas.openxmlformats.org/officeDocument/2006/relationships/hyperlink" Target="http://www.ido.ir/myhtml/r1.aspx?LinkID=80" TargetMode="External"/><Relationship Id="rId86" Type="http://schemas.openxmlformats.org/officeDocument/2006/relationships/hyperlink" Target="http://www.ido.ir/myhtml/r1.aspx?LinkID=37" TargetMode="External"/><Relationship Id="rId94" Type="http://schemas.openxmlformats.org/officeDocument/2006/relationships/hyperlink" Target="http://www.ido.ir/myhtml/r1.aspx?LinkID=25" TargetMode="External"/><Relationship Id="rId99" Type="http://schemas.openxmlformats.org/officeDocument/2006/relationships/hyperlink" Target="http://www.ido.ir/myhtml/r1.aspx?LinkID=55" TargetMode="External"/><Relationship Id="rId101" Type="http://schemas.openxmlformats.org/officeDocument/2006/relationships/hyperlink" Target="http://www.ido.ir/myhtml/r1.aspx?LinkID=50" TargetMode="External"/><Relationship Id="rId4" Type="http://schemas.openxmlformats.org/officeDocument/2006/relationships/hyperlink" Target="http://www.ido.ir/myhtml/r1.aspx?LinkID=107" TargetMode="External"/><Relationship Id="rId9" Type="http://schemas.openxmlformats.org/officeDocument/2006/relationships/hyperlink" Target="http://www.ido.ir/myhtml/r1.aspx?LinkID=94" TargetMode="External"/><Relationship Id="rId13" Type="http://schemas.openxmlformats.org/officeDocument/2006/relationships/hyperlink" Target="http://www.ido.ir/myhtml/r1.aspx?LinkID=62" TargetMode="External"/><Relationship Id="rId18" Type="http://schemas.openxmlformats.org/officeDocument/2006/relationships/hyperlink" Target="http://www.ido.ir/myhtml/r1.aspx?LinkID=95" TargetMode="External"/><Relationship Id="rId39" Type="http://schemas.openxmlformats.org/officeDocument/2006/relationships/hyperlink" Target="http://www.ido.ir/myhtml/r1.aspx?LinkID=10" TargetMode="External"/><Relationship Id="rId34" Type="http://schemas.openxmlformats.org/officeDocument/2006/relationships/hyperlink" Target="http://www.ido.ir/myhtml/r1.aspx?LinkID=63" TargetMode="External"/><Relationship Id="rId50" Type="http://schemas.openxmlformats.org/officeDocument/2006/relationships/hyperlink" Target="http://www.ido.ir/myhtml/r1.aspx?LinkID=18" TargetMode="External"/><Relationship Id="rId55" Type="http://schemas.openxmlformats.org/officeDocument/2006/relationships/hyperlink" Target="http://www.ido.ir/myhtml/r1.aspx?LinkID=23" TargetMode="External"/><Relationship Id="rId76" Type="http://schemas.openxmlformats.org/officeDocument/2006/relationships/hyperlink" Target="http://www.ido.ir/myhtml/r1.aspx?LinkID=36" TargetMode="External"/><Relationship Id="rId97" Type="http://schemas.openxmlformats.org/officeDocument/2006/relationships/hyperlink" Target="http://www.ido.ir/myhtml/r1.aspx?LinkID=56" TargetMode="External"/><Relationship Id="rId104" Type="http://schemas.openxmlformats.org/officeDocument/2006/relationships/hyperlink" Target="http://www.ido.ir/myhtml/r1.aspx?LinkID=87"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0" descr="Untitled-2"/>
          <p:cNvPicPr>
            <a:picLocks noChangeAspect="1" noChangeArrowheads="1"/>
          </p:cNvPicPr>
          <p:nvPr/>
        </p:nvPicPr>
        <p:blipFill>
          <a:blip r:embed="rId2"/>
          <a:srcRect/>
          <a:stretch>
            <a:fillRect/>
          </a:stretch>
        </p:blipFill>
        <p:spPr bwMode="auto">
          <a:xfrm>
            <a:off x="2143108" y="5340350"/>
            <a:ext cx="4140200" cy="908050"/>
          </a:xfrm>
          <a:prstGeom prst="rect">
            <a:avLst/>
          </a:prstGeom>
          <a:noFill/>
          <a:ln w="9525">
            <a:noFill/>
            <a:miter lim="800000"/>
            <a:headEnd/>
            <a:tailEnd/>
          </a:ln>
        </p:spPr>
      </p:pic>
      <p:pic>
        <p:nvPicPr>
          <p:cNvPr id="7" name="Picture 23" descr="Untitled3"/>
          <p:cNvPicPr>
            <a:picLocks noChangeAspect="1" noChangeArrowheads="1"/>
          </p:cNvPicPr>
          <p:nvPr/>
        </p:nvPicPr>
        <p:blipFill>
          <a:blip r:embed="rId3"/>
          <a:srcRect/>
          <a:stretch>
            <a:fillRect/>
          </a:stretch>
        </p:blipFill>
        <p:spPr bwMode="auto">
          <a:xfrm>
            <a:off x="1643042" y="4197342"/>
            <a:ext cx="5457825" cy="1089025"/>
          </a:xfrm>
          <a:prstGeom prst="rect">
            <a:avLst/>
          </a:prstGeom>
          <a:noFill/>
          <a:ln w="9525">
            <a:noFill/>
            <a:miter lim="800000"/>
            <a:headEnd/>
            <a:tailEnd/>
          </a:ln>
        </p:spPr>
      </p:pic>
      <p:pic>
        <p:nvPicPr>
          <p:cNvPr id="8" name="Picture 19" descr="Arm-Red"/>
          <p:cNvPicPr>
            <a:picLocks noChangeAspect="1" noChangeArrowheads="1" noCrop="1"/>
          </p:cNvPicPr>
          <p:nvPr/>
        </p:nvPicPr>
        <p:blipFill>
          <a:blip r:embed="rId4"/>
          <a:srcRect/>
          <a:stretch>
            <a:fillRect/>
          </a:stretch>
        </p:blipFill>
        <p:spPr bwMode="auto">
          <a:xfrm>
            <a:off x="3643306" y="2409825"/>
            <a:ext cx="1330325" cy="1323975"/>
          </a:xfrm>
          <a:prstGeom prst="rect">
            <a:avLst/>
          </a:prstGeom>
          <a:noFill/>
          <a:ln w="9525">
            <a:noFill/>
            <a:miter lim="800000"/>
            <a:headEnd/>
            <a:tailEnd/>
          </a:ln>
        </p:spPr>
      </p:pic>
      <p:pic>
        <p:nvPicPr>
          <p:cNvPr id="9" name="Picture 14" descr="028"/>
          <p:cNvPicPr>
            <a:picLocks noChangeAspect="1" noChangeArrowheads="1"/>
          </p:cNvPicPr>
          <p:nvPr/>
        </p:nvPicPr>
        <p:blipFill>
          <a:blip r:embed="rId5"/>
          <a:srcRect/>
          <a:stretch>
            <a:fillRect/>
          </a:stretch>
        </p:blipFill>
        <p:spPr bwMode="auto">
          <a:xfrm>
            <a:off x="2786050" y="1643050"/>
            <a:ext cx="3073400" cy="2047875"/>
          </a:xfrm>
          <a:prstGeom prst="rect">
            <a:avLst/>
          </a:prstGeom>
          <a:noFill/>
          <a:ln w="9525">
            <a:noFill/>
            <a:miter lim="800000"/>
            <a:headEnd/>
            <a:tailEnd/>
          </a:ln>
        </p:spPr>
      </p:pic>
    </p:spTree>
  </p:cSld>
  <p:clrMapOvr>
    <a:masterClrMapping/>
  </p:clrMapOvr>
  <p:transition spd="slow">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2000" fill="hold"/>
                                        <p:tgtEl>
                                          <p:spTgt spid="7"/>
                                        </p:tgtEl>
                                        <p:attrNameLst>
                                          <p:attrName>ppt_w</p:attrName>
                                        </p:attrNameLst>
                                      </p:cBhvr>
                                      <p:tavLst>
                                        <p:tav tm="0">
                                          <p:val>
                                            <p:strVal val="#ppt_w*0.70"/>
                                          </p:val>
                                        </p:tav>
                                        <p:tav tm="100000">
                                          <p:val>
                                            <p:strVal val="#ppt_w"/>
                                          </p:val>
                                        </p:tav>
                                      </p:tavLst>
                                    </p:anim>
                                    <p:anim calcmode="lin" valueType="num">
                                      <p:cBhvr>
                                        <p:cTn id="8" dur="2000" fill="hold"/>
                                        <p:tgtEl>
                                          <p:spTgt spid="7"/>
                                        </p:tgtEl>
                                        <p:attrNameLst>
                                          <p:attrName>ppt_h</p:attrName>
                                        </p:attrNameLst>
                                      </p:cBhvr>
                                      <p:tavLst>
                                        <p:tav tm="0">
                                          <p:val>
                                            <p:strVal val="#ppt_h"/>
                                          </p:val>
                                        </p:tav>
                                        <p:tav tm="100000">
                                          <p:val>
                                            <p:strVal val="#ppt_h"/>
                                          </p:val>
                                        </p:tav>
                                      </p:tavLst>
                                    </p:anim>
                                    <p:animEffect transition="in" filter="fade">
                                      <p:cBhvr>
                                        <p:cTn id="9" dur="2000"/>
                                        <p:tgtEl>
                                          <p:spTgt spid="7"/>
                                        </p:tgtEl>
                                      </p:cBhvr>
                                    </p:animEffect>
                                  </p:childTnLst>
                                </p:cTn>
                              </p:par>
                            </p:childTnLst>
                          </p:cTn>
                        </p:par>
                        <p:par>
                          <p:cTn id="10" fill="hold">
                            <p:stCondLst>
                              <p:cond delay="2000"/>
                            </p:stCondLst>
                            <p:childTnLst>
                              <p:par>
                                <p:cTn id="11" presetID="7" presetClass="entr" presetSubtype="4" fill="hold" nodeType="after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0" fill="hold"/>
                                        <p:tgtEl>
                                          <p:spTgt spid="6"/>
                                        </p:tgtEl>
                                        <p:attrNameLst>
                                          <p:attrName>ppt_x</p:attrName>
                                        </p:attrNameLst>
                                      </p:cBhvr>
                                      <p:tavLst>
                                        <p:tav tm="0">
                                          <p:val>
                                            <p:strVal val="#ppt_x"/>
                                          </p:val>
                                        </p:tav>
                                        <p:tav tm="100000">
                                          <p:val>
                                            <p:strVal val="#ppt_x"/>
                                          </p:val>
                                        </p:tav>
                                      </p:tavLst>
                                    </p:anim>
                                    <p:anim calcmode="lin" valueType="num">
                                      <p:cBhvr additive="base">
                                        <p:cTn id="14" dur="5000" fill="hold"/>
                                        <p:tgtEl>
                                          <p:spTgt spid="6"/>
                                        </p:tgtEl>
                                        <p:attrNameLst>
                                          <p:attrName>ppt_y</p:attrName>
                                        </p:attrNameLst>
                                      </p:cBhvr>
                                      <p:tavLst>
                                        <p:tav tm="0">
                                          <p:val>
                                            <p:strVal val="1+#ppt_h/2"/>
                                          </p:val>
                                        </p:tav>
                                        <p:tav tm="100000">
                                          <p:val>
                                            <p:strVal val="#ppt_y"/>
                                          </p:val>
                                        </p:tav>
                                      </p:tavLst>
                                    </p:anim>
                                  </p:childTnLst>
                                </p:cTn>
                              </p:par>
                            </p:childTnLst>
                          </p:cTn>
                        </p:par>
                        <p:par>
                          <p:cTn id="15" fill="hold">
                            <p:stCondLst>
                              <p:cond delay="7000"/>
                            </p:stCondLst>
                            <p:childTnLst>
                              <p:par>
                                <p:cTn id="16" presetID="10" presetClass="entr" presetSubtype="0"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2000"/>
                                        <p:tgtEl>
                                          <p:spTgt spid="8"/>
                                        </p:tgtEl>
                                      </p:cBhvr>
                                    </p:animEffect>
                                  </p:childTnLst>
                                </p:cTn>
                              </p:par>
                            </p:childTnLst>
                          </p:cTn>
                        </p:par>
                        <p:par>
                          <p:cTn id="19" fill="hold">
                            <p:stCondLst>
                              <p:cond delay="9000"/>
                            </p:stCondLst>
                            <p:childTnLst>
                              <p:par>
                                <p:cTn id="20" presetID="53" presetClass="entr" presetSubtype="0" fill="hold" nodeType="after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p:cTn id="22" dur="3000" fill="hold"/>
                                        <p:tgtEl>
                                          <p:spTgt spid="9"/>
                                        </p:tgtEl>
                                        <p:attrNameLst>
                                          <p:attrName>ppt_w</p:attrName>
                                        </p:attrNameLst>
                                      </p:cBhvr>
                                      <p:tavLst>
                                        <p:tav tm="0">
                                          <p:val>
                                            <p:fltVal val="0"/>
                                          </p:val>
                                        </p:tav>
                                        <p:tav tm="100000">
                                          <p:val>
                                            <p:strVal val="#ppt_w"/>
                                          </p:val>
                                        </p:tav>
                                      </p:tavLst>
                                    </p:anim>
                                    <p:anim calcmode="lin" valueType="num">
                                      <p:cBhvr>
                                        <p:cTn id="23" dur="3000" fill="hold"/>
                                        <p:tgtEl>
                                          <p:spTgt spid="9"/>
                                        </p:tgtEl>
                                        <p:attrNameLst>
                                          <p:attrName>ppt_h</p:attrName>
                                        </p:attrNameLst>
                                      </p:cBhvr>
                                      <p:tavLst>
                                        <p:tav tm="0">
                                          <p:val>
                                            <p:fltVal val="0"/>
                                          </p:val>
                                        </p:tav>
                                        <p:tav tm="100000">
                                          <p:val>
                                            <p:strVal val="#ppt_h"/>
                                          </p:val>
                                        </p:tav>
                                      </p:tavLst>
                                    </p:anim>
                                    <p:animEffect transition="in" filter="fade">
                                      <p:cBhvr>
                                        <p:cTn id="24" dur="3000"/>
                                        <p:tgtEl>
                                          <p:spTgt spid="9"/>
                                        </p:tgtEl>
                                      </p:cBhvr>
                                    </p:animEffect>
                                  </p:childTnLst>
                                </p:cTn>
                              </p:par>
                            </p:childTnLst>
                          </p:cTn>
                        </p:par>
                        <p:par>
                          <p:cTn id="25" fill="hold">
                            <p:stCondLst>
                              <p:cond delay="12000"/>
                            </p:stCondLst>
                            <p:childTnLst>
                              <p:par>
                                <p:cTn id="26" presetID="64" presetClass="path" presetSubtype="0" accel="50000" decel="50000" fill="hold" nodeType="afterEffect">
                                  <p:stCondLst>
                                    <p:cond delay="1500"/>
                                  </p:stCondLst>
                                  <p:childTnLst>
                                    <p:animMotion origin="layout" path="M 0.00226 0.13842 L 0.00226 -0.17778 " pathEditMode="relative" rAng="0" ptsTypes="AA">
                                      <p:cBhvr>
                                        <p:cTn id="27" dur="2000" fill="hold"/>
                                        <p:tgtEl>
                                          <p:spTgt spid="9"/>
                                        </p:tgtEl>
                                        <p:attrNameLst>
                                          <p:attrName>ppt_x</p:attrName>
                                          <p:attrName>ppt_y</p:attrName>
                                        </p:attrNameLst>
                                      </p:cBhvr>
                                      <p:rCtr x="0" y="-1581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p:cNvGrpSpPr/>
          <p:nvPr/>
        </p:nvGrpSpPr>
        <p:grpSpPr>
          <a:xfrm>
            <a:off x="1447800" y="5334000"/>
            <a:ext cx="6975475" cy="688975"/>
            <a:chOff x="1447800" y="5334000"/>
            <a:chExt cx="6975475" cy="688975"/>
          </a:xfrm>
        </p:grpSpPr>
        <p:sp>
          <p:nvSpPr>
            <p:cNvPr id="52" name="AutoShape 152">
              <a:hlinkClick r:id="rId2" action="ppaction://hlinksldjump"/>
            </p:cNvPr>
            <p:cNvSpPr>
              <a:spLocks noChangeArrowheads="1"/>
            </p:cNvSpPr>
            <p:nvPr/>
          </p:nvSpPr>
          <p:spPr bwMode="gray">
            <a:xfrm>
              <a:off x="1447800" y="5334000"/>
              <a:ext cx="6975475" cy="688975"/>
            </a:xfrm>
            <a:prstGeom prst="roundRect">
              <a:avLst>
                <a:gd name="adj" fmla="val 17509"/>
              </a:avLst>
            </a:prstGeom>
            <a:gradFill rotWithShape="1">
              <a:gsLst>
                <a:gs pos="0">
                  <a:srgbClr val="FF9933"/>
                </a:gs>
                <a:gs pos="100000">
                  <a:srgbClr val="FF9933">
                    <a:gamma/>
                    <a:shade val="46275"/>
                    <a:invGamma/>
                  </a:srgbClr>
                </a:gs>
              </a:gsLst>
              <a:lin ang="5400000" scaled="1"/>
            </a:gradFill>
            <a:ln w="9525">
              <a:noFill/>
              <a:round/>
              <a:headEnd/>
              <a:tailEnd/>
            </a:ln>
            <a:effectLst/>
          </p:spPr>
          <p:txBody>
            <a:bodyPr wrap="none" anchor="ctr"/>
            <a:lstStyle/>
            <a:p>
              <a:pPr marL="0" lvl="2" algn="ctr">
                <a:defRPr/>
              </a:pPr>
              <a:r>
                <a:rPr lang="fa-IR" b="1" dirty="0" smtClean="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cs typeface="B Titr" pitchFamily="2" charset="-78"/>
                </a:rPr>
                <a:t> </a:t>
              </a:r>
              <a:r>
                <a:rPr lang="ar-SA" b="1" dirty="0" smtClean="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latin typeface="Arial" pitchFamily="34" charset="0"/>
                  <a:ea typeface="Calibri" pitchFamily="34" charset="0"/>
                  <a:cs typeface="B Titr" pitchFamily="2" charset="-78"/>
                </a:rPr>
                <a:t>حوزه امنيت اطلاعات</a:t>
              </a:r>
              <a:endParaRPr lang="en-US"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cs typeface="B Titr" pitchFamily="2" charset="-78"/>
              </a:endParaRPr>
            </a:p>
          </p:txBody>
        </p:sp>
        <p:sp>
          <p:nvSpPr>
            <p:cNvPr id="54" name="AutoShape 154"/>
            <p:cNvSpPr>
              <a:spLocks noChangeArrowheads="1"/>
            </p:cNvSpPr>
            <p:nvPr/>
          </p:nvSpPr>
          <p:spPr bwMode="gray">
            <a:xfrm>
              <a:off x="1464989" y="5827765"/>
              <a:ext cx="6949691" cy="165067"/>
            </a:xfrm>
            <a:prstGeom prst="roundRect">
              <a:avLst>
                <a:gd name="adj" fmla="val 50000"/>
              </a:avLst>
            </a:prstGeom>
            <a:gradFill rotWithShape="1">
              <a:gsLst>
                <a:gs pos="0">
                  <a:schemeClr val="folHlink">
                    <a:alpha val="0"/>
                  </a:schemeClr>
                </a:gs>
                <a:gs pos="100000">
                  <a:schemeClr val="folHlink">
                    <a:gamma/>
                    <a:tint val="0"/>
                    <a:invGamma/>
                  </a:schemeClr>
                </a:gs>
              </a:gsLst>
              <a:lin ang="5400000" scaled="1"/>
            </a:gradFill>
            <a:ln w="9525">
              <a:noFill/>
              <a:round/>
              <a:headEnd/>
              <a:tailEnd/>
            </a:ln>
            <a:effectLst/>
          </p:spPr>
          <p:txBody>
            <a:bodyPr wrap="none" anchor="ctr"/>
            <a:lstStyle/>
            <a:p>
              <a:pPr algn="ctr" rtl="0" eaLnBrk="0" hangingPunct="0">
                <a:defRPr/>
              </a:pPr>
              <a:endParaRPr lang="fa-IR"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endParaRPr>
            </a:p>
          </p:txBody>
        </p:sp>
        <p:sp>
          <p:nvSpPr>
            <p:cNvPr id="55" name="AutoShape 155">
              <a:hlinkClick r:id="" action="ppaction://noaction" highlightClick="1"/>
            </p:cNvPr>
            <p:cNvSpPr>
              <a:spLocks noChangeArrowheads="1"/>
            </p:cNvSpPr>
            <p:nvPr/>
          </p:nvSpPr>
          <p:spPr bwMode="gray">
            <a:xfrm>
              <a:off x="1464989" y="5355530"/>
              <a:ext cx="6949691" cy="165067"/>
            </a:xfrm>
            <a:prstGeom prst="roundRect">
              <a:avLst>
                <a:gd name="adj" fmla="val 50000"/>
              </a:avLst>
            </a:prstGeom>
            <a:gradFill rotWithShape="1">
              <a:gsLst>
                <a:gs pos="0">
                  <a:schemeClr val="folHlink">
                    <a:gamma/>
                    <a:tint val="0"/>
                    <a:invGamma/>
                  </a:schemeClr>
                </a:gs>
                <a:gs pos="100000">
                  <a:schemeClr val="folHlink">
                    <a:alpha val="0"/>
                  </a:schemeClr>
                </a:gs>
              </a:gsLst>
              <a:lin ang="5400000" scaled="1"/>
            </a:gradFill>
            <a:ln w="9525">
              <a:noFill/>
              <a:round/>
              <a:headEnd/>
              <a:tailEnd/>
            </a:ln>
            <a:effectLst/>
          </p:spPr>
          <p:txBody>
            <a:bodyPr wrap="none" anchor="ctr"/>
            <a:lstStyle/>
            <a:p>
              <a:pPr algn="ctr" rtl="0" eaLnBrk="0" hangingPunct="0">
                <a:defRPr/>
              </a:pPr>
              <a:endParaRPr lang="fa-IR"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endParaRPr>
            </a:p>
          </p:txBody>
        </p:sp>
      </p:grpSp>
      <p:sp>
        <p:nvSpPr>
          <p:cNvPr id="4" name="Rectangle 3"/>
          <p:cNvSpPr/>
          <p:nvPr/>
        </p:nvSpPr>
        <p:spPr>
          <a:xfrm>
            <a:off x="2438400" y="1066800"/>
            <a:ext cx="4572000" cy="507831"/>
          </a:xfrm>
          <a:prstGeom prst="rect">
            <a:avLst/>
          </a:prstGeom>
        </p:spPr>
        <p:txBody>
          <a:bodyPr>
            <a:spAutoFit/>
          </a:bodyPr>
          <a:lstStyle/>
          <a:p>
            <a:pPr algn="ctr" rtl="1">
              <a:lnSpc>
                <a:spcPct val="150000"/>
              </a:lnSpc>
            </a:pPr>
            <a:r>
              <a:rPr lang="fa-IR" b="1" dirty="0" smtClean="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cs typeface="B Titr" pitchFamily="2" charset="-78"/>
              </a:rPr>
              <a:t>وظايف و عملكرد مركز انفورماتيك</a:t>
            </a:r>
            <a:endParaRPr lang="en-US" sz="800" b="1" dirty="0" smtClean="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cs typeface="B Titr" pitchFamily="2" charset="-78"/>
            </a:endParaRPr>
          </a:p>
        </p:txBody>
      </p:sp>
      <p:grpSp>
        <p:nvGrpSpPr>
          <p:cNvPr id="56" name="Group 55"/>
          <p:cNvGrpSpPr/>
          <p:nvPr/>
        </p:nvGrpSpPr>
        <p:grpSpPr>
          <a:xfrm>
            <a:off x="1392237" y="2001838"/>
            <a:ext cx="6975475" cy="688975"/>
            <a:chOff x="1392237" y="2001838"/>
            <a:chExt cx="6975475" cy="688975"/>
          </a:xfrm>
        </p:grpSpPr>
        <p:grpSp>
          <p:nvGrpSpPr>
            <p:cNvPr id="18" name="Group 15"/>
            <p:cNvGrpSpPr>
              <a:grpSpLocks/>
            </p:cNvGrpSpPr>
            <p:nvPr/>
          </p:nvGrpSpPr>
          <p:grpSpPr bwMode="auto">
            <a:xfrm>
              <a:off x="1392237" y="2001838"/>
              <a:ext cx="6975475" cy="688975"/>
              <a:chOff x="720" y="1392"/>
              <a:chExt cx="4058" cy="480"/>
            </a:xfrm>
          </p:grpSpPr>
          <p:sp>
            <p:nvSpPr>
              <p:cNvPr id="20" name="AutoShape 16">
                <a:hlinkClick r:id="rId3" action="ppaction://hlinksldjump" highlightClick="1"/>
              </p:cNvPr>
              <p:cNvSpPr>
                <a:spLocks noChangeArrowheads="1"/>
              </p:cNvSpPr>
              <p:nvPr/>
            </p:nvSpPr>
            <p:spPr bwMode="gray">
              <a:xfrm>
                <a:off x="720" y="1392"/>
                <a:ext cx="4058" cy="480"/>
              </a:xfrm>
              <a:prstGeom prst="roundRect">
                <a:avLst>
                  <a:gd name="adj" fmla="val 17509"/>
                </a:avLst>
              </a:prstGeom>
              <a:gradFill rotWithShape="1">
                <a:gsLst>
                  <a:gs pos="0">
                    <a:srgbClr val="996600"/>
                  </a:gs>
                  <a:gs pos="100000">
                    <a:srgbClr val="996600">
                      <a:gamma/>
                      <a:shade val="46275"/>
                      <a:invGamma/>
                    </a:srgbClr>
                  </a:gs>
                </a:gsLst>
                <a:lin ang="5400000" scaled="1"/>
              </a:gradFill>
              <a:ln w="9525">
                <a:noFill/>
                <a:round/>
                <a:headEnd/>
                <a:tailEnd/>
              </a:ln>
              <a:effectLst/>
            </p:spPr>
            <p:txBody>
              <a:bodyPr wrap="none" anchor="ctr"/>
              <a:lstStyle/>
              <a:p>
                <a:pPr lvl="2" algn="r">
                  <a:defRPr/>
                </a:pPr>
                <a:r>
                  <a:rPr lang="fa-IR" b="1" dirty="0" smtClean="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cs typeface="B Titr" pitchFamily="2" charset="-78"/>
                  </a:rPr>
                  <a:t>                                                             حوزه نرم افزار</a:t>
                </a:r>
                <a:endParaRPr lang="en-US"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cs typeface="B Titr" pitchFamily="2" charset="-78"/>
                </a:endParaRPr>
              </a:p>
            </p:txBody>
          </p:sp>
          <p:grpSp>
            <p:nvGrpSpPr>
              <p:cNvPr id="21" name="Group 17"/>
              <p:cNvGrpSpPr>
                <a:grpSpLocks/>
              </p:cNvGrpSpPr>
              <p:nvPr/>
            </p:nvGrpSpPr>
            <p:grpSpPr bwMode="auto">
              <a:xfrm>
                <a:off x="730" y="1407"/>
                <a:ext cx="4043" cy="444"/>
                <a:chOff x="744" y="1407"/>
                <a:chExt cx="3988" cy="444"/>
              </a:xfrm>
            </p:grpSpPr>
            <p:sp>
              <p:nvSpPr>
                <p:cNvPr id="22" name="AutoShape 18"/>
                <p:cNvSpPr>
                  <a:spLocks noChangeArrowheads="1"/>
                </p:cNvSpPr>
                <p:nvPr/>
              </p:nvSpPr>
              <p:spPr bwMode="gray">
                <a:xfrm>
                  <a:off x="744" y="1736"/>
                  <a:ext cx="3988" cy="115"/>
                </a:xfrm>
                <a:prstGeom prst="roundRect">
                  <a:avLst>
                    <a:gd name="adj" fmla="val 50000"/>
                  </a:avLst>
                </a:prstGeom>
                <a:gradFill rotWithShape="1">
                  <a:gsLst>
                    <a:gs pos="0">
                      <a:schemeClr val="folHlink">
                        <a:alpha val="0"/>
                      </a:schemeClr>
                    </a:gs>
                    <a:gs pos="100000">
                      <a:schemeClr val="folHlink">
                        <a:gamma/>
                        <a:tint val="0"/>
                        <a:invGamma/>
                      </a:schemeClr>
                    </a:gs>
                  </a:gsLst>
                  <a:lin ang="5400000" scaled="1"/>
                </a:gradFill>
                <a:ln w="9525">
                  <a:noFill/>
                  <a:round/>
                  <a:headEnd/>
                  <a:tailEnd/>
                </a:ln>
                <a:effectLst/>
              </p:spPr>
              <p:txBody>
                <a:bodyPr wrap="none" anchor="ctr"/>
                <a:lstStyle/>
                <a:p>
                  <a:pPr algn="r" rtl="0" eaLnBrk="0" hangingPunct="0">
                    <a:defRPr/>
                  </a:pPr>
                  <a:endParaRPr lang="fa-IR"/>
                </a:p>
              </p:txBody>
            </p:sp>
            <p:sp>
              <p:nvSpPr>
                <p:cNvPr id="23" name="AutoShape 19">
                  <a:hlinkClick r:id="" action="ppaction://noaction" highlightClick="1"/>
                </p:cNvPr>
                <p:cNvSpPr>
                  <a:spLocks noChangeArrowheads="1"/>
                </p:cNvSpPr>
                <p:nvPr/>
              </p:nvSpPr>
              <p:spPr bwMode="gray">
                <a:xfrm>
                  <a:off x="744" y="1407"/>
                  <a:ext cx="3988" cy="115"/>
                </a:xfrm>
                <a:prstGeom prst="roundRect">
                  <a:avLst>
                    <a:gd name="adj" fmla="val 50000"/>
                  </a:avLst>
                </a:prstGeom>
                <a:gradFill rotWithShape="1">
                  <a:gsLst>
                    <a:gs pos="0">
                      <a:schemeClr val="folHlink">
                        <a:gamma/>
                        <a:tint val="0"/>
                        <a:invGamma/>
                      </a:schemeClr>
                    </a:gs>
                    <a:gs pos="100000">
                      <a:schemeClr val="folHlink">
                        <a:alpha val="0"/>
                      </a:schemeClr>
                    </a:gs>
                  </a:gsLst>
                  <a:lin ang="5400000" scaled="1"/>
                </a:gradFill>
                <a:ln w="9525">
                  <a:noFill/>
                  <a:round/>
                  <a:headEnd/>
                  <a:tailEnd/>
                </a:ln>
                <a:effectLst/>
              </p:spPr>
              <p:txBody>
                <a:bodyPr wrap="none" anchor="ctr"/>
                <a:lstStyle/>
                <a:p>
                  <a:pPr algn="r" rtl="0" eaLnBrk="0" hangingPunct="0">
                    <a:defRPr/>
                  </a:pPr>
                  <a:endParaRPr lang="fa-IR" b="1">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endParaRPr>
                </a:p>
              </p:txBody>
            </p:sp>
          </p:grpSp>
        </p:grpSp>
        <p:pic>
          <p:nvPicPr>
            <p:cNvPr id="19" name="Picture 20" descr="f"/>
            <p:cNvPicPr>
              <a:picLocks noChangeAspect="1" noChangeArrowheads="1"/>
            </p:cNvPicPr>
            <p:nvPr/>
          </p:nvPicPr>
          <p:blipFill>
            <a:blip r:embed="rId4"/>
            <a:srcRect/>
            <a:stretch>
              <a:fillRect/>
            </a:stretch>
          </p:blipFill>
          <p:spPr bwMode="invGray">
            <a:xfrm>
              <a:off x="7848600" y="2057400"/>
              <a:ext cx="501650" cy="508000"/>
            </a:xfrm>
            <a:prstGeom prst="rect">
              <a:avLst/>
            </a:prstGeom>
            <a:noFill/>
            <a:ln w="9525">
              <a:noFill/>
              <a:miter lim="800000"/>
              <a:headEnd/>
              <a:tailEnd/>
            </a:ln>
          </p:spPr>
        </p:pic>
      </p:grpSp>
      <p:sp>
        <p:nvSpPr>
          <p:cNvPr id="29" name="AutoShape 145">
            <a:hlinkClick r:id="rId5" action="ppaction://hlinksldjump"/>
          </p:cNvPr>
          <p:cNvSpPr>
            <a:spLocks noChangeArrowheads="1"/>
          </p:cNvSpPr>
          <p:nvPr/>
        </p:nvSpPr>
        <p:spPr bwMode="gray">
          <a:xfrm>
            <a:off x="1357309" y="3214687"/>
            <a:ext cx="6975475" cy="688975"/>
          </a:xfrm>
          <a:prstGeom prst="roundRect">
            <a:avLst>
              <a:gd name="adj" fmla="val 17509"/>
            </a:avLst>
          </a:prstGeom>
          <a:gradFill rotWithShape="1">
            <a:gsLst>
              <a:gs pos="0">
                <a:srgbClr val="D78517"/>
              </a:gs>
              <a:gs pos="100000">
                <a:srgbClr val="D78517">
                  <a:gamma/>
                  <a:shade val="46275"/>
                  <a:invGamma/>
                </a:srgbClr>
              </a:gs>
            </a:gsLst>
            <a:lin ang="5400000" scaled="1"/>
          </a:gradFill>
          <a:ln w="9525">
            <a:noFill/>
            <a:round/>
            <a:headEnd/>
            <a:tailEnd/>
          </a:ln>
          <a:effectLst/>
        </p:spPr>
        <p:txBody>
          <a:bodyPr wrap="none" anchor="ctr"/>
          <a:lstStyle/>
          <a:p>
            <a:pPr marL="1322388" lvl="2" indent="-342900" algn="r">
              <a:defRPr/>
            </a:pPr>
            <a:r>
              <a:rPr lang="fa-IR" b="1" dirty="0" smtClean="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cs typeface="B Titr" pitchFamily="2" charset="-78"/>
              </a:rPr>
              <a:t>                                                         حوزه سخت افزار </a:t>
            </a:r>
            <a:endParaRPr lang="en-US"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cs typeface="B Titr" pitchFamily="2" charset="-78"/>
            </a:endParaRPr>
          </a:p>
        </p:txBody>
      </p:sp>
      <p:sp>
        <p:nvSpPr>
          <p:cNvPr id="31" name="AutoShape 147"/>
          <p:cNvSpPr>
            <a:spLocks noChangeArrowheads="1"/>
          </p:cNvSpPr>
          <p:nvPr/>
        </p:nvSpPr>
        <p:spPr bwMode="gray">
          <a:xfrm>
            <a:off x="1374498" y="3708452"/>
            <a:ext cx="6949691" cy="165067"/>
          </a:xfrm>
          <a:prstGeom prst="roundRect">
            <a:avLst>
              <a:gd name="adj" fmla="val 50000"/>
            </a:avLst>
          </a:prstGeom>
          <a:gradFill rotWithShape="1">
            <a:gsLst>
              <a:gs pos="0">
                <a:schemeClr val="folHlink">
                  <a:alpha val="0"/>
                </a:schemeClr>
              </a:gs>
              <a:gs pos="100000">
                <a:schemeClr val="folHlink">
                  <a:gamma/>
                  <a:tint val="0"/>
                  <a:invGamma/>
                </a:schemeClr>
              </a:gs>
            </a:gsLst>
            <a:lin ang="5400000" scaled="1"/>
          </a:gradFill>
          <a:ln w="9525">
            <a:noFill/>
            <a:round/>
            <a:headEnd/>
            <a:tailEnd/>
          </a:ln>
          <a:effectLst/>
        </p:spPr>
        <p:txBody>
          <a:bodyPr wrap="none" anchor="ctr"/>
          <a:lstStyle/>
          <a:p>
            <a:pPr algn="r" rtl="0" eaLnBrk="0" hangingPunct="0">
              <a:defRPr/>
            </a:pPr>
            <a:endParaRPr lang="fa-IR"/>
          </a:p>
        </p:txBody>
      </p:sp>
      <p:sp>
        <p:nvSpPr>
          <p:cNvPr id="32" name="AutoShape 148">
            <a:hlinkClick r:id="rId5" action="ppaction://hlinksldjump" highlightClick="1"/>
          </p:cNvPr>
          <p:cNvSpPr>
            <a:spLocks noChangeArrowheads="1"/>
          </p:cNvSpPr>
          <p:nvPr/>
        </p:nvSpPr>
        <p:spPr bwMode="gray">
          <a:xfrm>
            <a:off x="1374498" y="3236217"/>
            <a:ext cx="6949691" cy="165067"/>
          </a:xfrm>
          <a:prstGeom prst="roundRect">
            <a:avLst>
              <a:gd name="adj" fmla="val 50000"/>
            </a:avLst>
          </a:prstGeom>
          <a:gradFill rotWithShape="1">
            <a:gsLst>
              <a:gs pos="0">
                <a:schemeClr val="folHlink">
                  <a:gamma/>
                  <a:tint val="0"/>
                  <a:invGamma/>
                </a:schemeClr>
              </a:gs>
              <a:gs pos="100000">
                <a:schemeClr val="folHlink">
                  <a:alpha val="0"/>
                </a:schemeClr>
              </a:gs>
            </a:gsLst>
            <a:lin ang="5400000" scaled="1"/>
          </a:gradFill>
          <a:ln w="9525">
            <a:noFill/>
            <a:round/>
            <a:headEnd/>
            <a:tailEnd/>
          </a:ln>
          <a:effectLst/>
        </p:spPr>
        <p:txBody>
          <a:bodyPr wrap="none" anchor="ctr"/>
          <a:lstStyle/>
          <a:p>
            <a:pPr algn="r" rtl="0" eaLnBrk="0" hangingPunct="0">
              <a:defRPr/>
            </a:pPr>
            <a:endParaRPr lang="fa-IR"/>
          </a:p>
        </p:txBody>
      </p:sp>
      <p:pic>
        <p:nvPicPr>
          <p:cNvPr id="28" name="Picture 149" descr="f"/>
          <p:cNvPicPr>
            <a:picLocks noChangeAspect="1" noChangeArrowheads="1"/>
          </p:cNvPicPr>
          <p:nvPr/>
        </p:nvPicPr>
        <p:blipFill>
          <a:blip r:embed="rId4"/>
          <a:srcRect/>
          <a:stretch>
            <a:fillRect/>
          </a:stretch>
        </p:blipFill>
        <p:spPr bwMode="invGray">
          <a:xfrm>
            <a:off x="7794625" y="3276600"/>
            <a:ext cx="511175" cy="508000"/>
          </a:xfrm>
          <a:prstGeom prst="rect">
            <a:avLst/>
          </a:prstGeom>
          <a:noFill/>
          <a:ln w="9525">
            <a:noFill/>
            <a:miter lim="800000"/>
            <a:headEnd/>
            <a:tailEnd/>
          </a:ln>
        </p:spPr>
      </p:pic>
      <p:grpSp>
        <p:nvGrpSpPr>
          <p:cNvPr id="58" name="Group 57"/>
          <p:cNvGrpSpPr/>
          <p:nvPr/>
        </p:nvGrpSpPr>
        <p:grpSpPr>
          <a:xfrm>
            <a:off x="1409697" y="4286250"/>
            <a:ext cx="6975475" cy="688975"/>
            <a:chOff x="1409697" y="4286250"/>
            <a:chExt cx="6975475" cy="688975"/>
          </a:xfrm>
        </p:grpSpPr>
        <p:sp>
          <p:nvSpPr>
            <p:cNvPr id="38" name="AutoShape 152">
              <a:hlinkClick r:id="rId6" action="ppaction://hlinksldjump"/>
            </p:cNvPr>
            <p:cNvSpPr>
              <a:spLocks noChangeArrowheads="1"/>
            </p:cNvSpPr>
            <p:nvPr/>
          </p:nvSpPr>
          <p:spPr bwMode="gray">
            <a:xfrm>
              <a:off x="1409697" y="4286250"/>
              <a:ext cx="6975475" cy="688975"/>
            </a:xfrm>
            <a:prstGeom prst="roundRect">
              <a:avLst>
                <a:gd name="adj" fmla="val 17509"/>
              </a:avLst>
            </a:prstGeom>
            <a:gradFill rotWithShape="1">
              <a:gsLst>
                <a:gs pos="0">
                  <a:srgbClr val="FF9933"/>
                </a:gs>
                <a:gs pos="100000">
                  <a:srgbClr val="FF9933">
                    <a:gamma/>
                    <a:shade val="46275"/>
                    <a:invGamma/>
                  </a:srgbClr>
                </a:gs>
              </a:gsLst>
              <a:lin ang="5400000" scaled="1"/>
            </a:gradFill>
            <a:ln w="9525">
              <a:noFill/>
              <a:round/>
              <a:headEnd/>
              <a:tailEnd/>
            </a:ln>
            <a:effectLst/>
          </p:spPr>
          <p:txBody>
            <a:bodyPr wrap="none" anchor="ctr"/>
            <a:lstStyle/>
            <a:p>
              <a:pPr marL="1322388" lvl="2" indent="-342900" algn="ctr">
                <a:defRPr/>
              </a:pPr>
              <a:r>
                <a:rPr lang="fa-IR" b="1" dirty="0" smtClean="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latin typeface="Arial" pitchFamily="34" charset="0"/>
                  <a:ea typeface="Calibri" pitchFamily="34" charset="0"/>
                  <a:cs typeface="B Titr" pitchFamily="2" charset="-78"/>
                </a:rPr>
                <a:t>                  </a:t>
              </a:r>
              <a:r>
                <a:rPr lang="ar-SA" b="1" dirty="0" smtClean="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latin typeface="Arial" pitchFamily="34" charset="0"/>
                  <a:ea typeface="Calibri" pitchFamily="34" charset="0"/>
                  <a:cs typeface="B Titr" pitchFamily="2" charset="-78"/>
                </a:rPr>
                <a:t>حوزه خدمات و اطلاع رساني</a:t>
              </a:r>
              <a:endParaRPr lang="en-US"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cs typeface="B Titr" pitchFamily="2" charset="-78"/>
              </a:endParaRPr>
            </a:p>
          </p:txBody>
        </p:sp>
        <p:sp>
          <p:nvSpPr>
            <p:cNvPr id="40" name="AutoShape 154"/>
            <p:cNvSpPr>
              <a:spLocks noChangeArrowheads="1"/>
            </p:cNvSpPr>
            <p:nvPr/>
          </p:nvSpPr>
          <p:spPr bwMode="gray">
            <a:xfrm>
              <a:off x="1426886" y="4780015"/>
              <a:ext cx="6949691" cy="165067"/>
            </a:xfrm>
            <a:prstGeom prst="roundRect">
              <a:avLst>
                <a:gd name="adj" fmla="val 50000"/>
              </a:avLst>
            </a:prstGeom>
            <a:gradFill rotWithShape="1">
              <a:gsLst>
                <a:gs pos="0">
                  <a:schemeClr val="folHlink">
                    <a:alpha val="0"/>
                  </a:schemeClr>
                </a:gs>
                <a:gs pos="100000">
                  <a:schemeClr val="folHlink">
                    <a:gamma/>
                    <a:tint val="0"/>
                    <a:invGamma/>
                  </a:schemeClr>
                </a:gs>
              </a:gsLst>
              <a:lin ang="5400000" scaled="1"/>
            </a:gradFill>
            <a:ln w="9525">
              <a:noFill/>
              <a:round/>
              <a:headEnd/>
              <a:tailEnd/>
            </a:ln>
            <a:effectLst/>
          </p:spPr>
          <p:txBody>
            <a:bodyPr wrap="none" anchor="ctr"/>
            <a:lstStyle/>
            <a:p>
              <a:pPr algn="ctr" rtl="0" eaLnBrk="0" hangingPunct="0">
                <a:defRPr/>
              </a:pPr>
              <a:endParaRPr lang="fa-IR"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endParaRPr>
            </a:p>
          </p:txBody>
        </p:sp>
        <p:sp>
          <p:nvSpPr>
            <p:cNvPr id="41" name="AutoShape 155">
              <a:hlinkClick r:id="" action="ppaction://noaction" highlightClick="1"/>
            </p:cNvPr>
            <p:cNvSpPr>
              <a:spLocks noChangeArrowheads="1"/>
            </p:cNvSpPr>
            <p:nvPr/>
          </p:nvSpPr>
          <p:spPr bwMode="gray">
            <a:xfrm>
              <a:off x="1426886" y="4307780"/>
              <a:ext cx="6949691" cy="165067"/>
            </a:xfrm>
            <a:prstGeom prst="roundRect">
              <a:avLst>
                <a:gd name="adj" fmla="val 50000"/>
              </a:avLst>
            </a:prstGeom>
            <a:gradFill rotWithShape="1">
              <a:gsLst>
                <a:gs pos="0">
                  <a:schemeClr val="folHlink">
                    <a:gamma/>
                    <a:tint val="0"/>
                    <a:invGamma/>
                  </a:schemeClr>
                </a:gs>
                <a:gs pos="100000">
                  <a:schemeClr val="folHlink">
                    <a:alpha val="0"/>
                  </a:schemeClr>
                </a:gs>
              </a:gsLst>
              <a:lin ang="5400000" scaled="1"/>
            </a:gradFill>
            <a:ln w="9525">
              <a:noFill/>
              <a:round/>
              <a:headEnd/>
              <a:tailEnd/>
            </a:ln>
            <a:effectLst/>
          </p:spPr>
          <p:txBody>
            <a:bodyPr wrap="none" anchor="ctr"/>
            <a:lstStyle/>
            <a:p>
              <a:pPr algn="ctr" rtl="0" eaLnBrk="0" hangingPunct="0">
                <a:defRPr/>
              </a:pPr>
              <a:endParaRPr lang="fa-IR" b="1" dirty="0">
                <a:ln w="900" cmpd="sng">
                  <a:solidFill>
                    <a:schemeClr val="accent1">
                      <a:satMod val="190000"/>
                      <a:alpha val="55000"/>
                    </a:schemeClr>
                  </a:solidFill>
                  <a:prstDash val="solid"/>
                </a:ln>
                <a:solidFill>
                  <a:schemeClr val="accent1">
                    <a:satMod val="200000"/>
                    <a:tint val="3000"/>
                  </a:schemeClr>
                </a:solidFill>
                <a:effectLst>
                  <a:innerShdw blurRad="101600" dist="76200" dir="5400000">
                    <a:schemeClr val="accent1">
                      <a:satMod val="190000"/>
                      <a:tint val="100000"/>
                      <a:alpha val="74000"/>
                    </a:schemeClr>
                  </a:innerShdw>
                </a:effectLst>
              </a:endParaRPr>
            </a:p>
          </p:txBody>
        </p:sp>
      </p:grpSp>
      <p:pic>
        <p:nvPicPr>
          <p:cNvPr id="37" name="Picture 156" descr="f"/>
          <p:cNvPicPr>
            <a:picLocks noChangeAspect="1" noChangeArrowheads="1"/>
          </p:cNvPicPr>
          <p:nvPr/>
        </p:nvPicPr>
        <p:blipFill>
          <a:blip r:embed="rId4"/>
          <a:srcRect/>
          <a:stretch>
            <a:fillRect/>
          </a:stretch>
        </p:blipFill>
        <p:spPr bwMode="invGray">
          <a:xfrm>
            <a:off x="7772400" y="4343400"/>
            <a:ext cx="512763" cy="508000"/>
          </a:xfrm>
          <a:prstGeom prst="rect">
            <a:avLst/>
          </a:prstGeom>
          <a:noFill/>
          <a:ln w="9525">
            <a:noFill/>
            <a:miter lim="800000"/>
            <a:headEnd/>
            <a:tailEnd/>
          </a:ln>
        </p:spPr>
      </p:pic>
      <p:pic>
        <p:nvPicPr>
          <p:cNvPr id="46" name="Picture 167" descr="f"/>
          <p:cNvPicPr>
            <a:picLocks noChangeAspect="1" noChangeArrowheads="1"/>
          </p:cNvPicPr>
          <p:nvPr/>
        </p:nvPicPr>
        <p:blipFill>
          <a:blip r:embed="rId4"/>
          <a:srcRect/>
          <a:stretch>
            <a:fillRect/>
          </a:stretch>
        </p:blipFill>
        <p:spPr bwMode="invGray">
          <a:xfrm>
            <a:off x="7848600" y="5410200"/>
            <a:ext cx="512763" cy="508000"/>
          </a:xfrm>
          <a:prstGeom prst="rect">
            <a:avLst/>
          </a:prstGeom>
          <a:noFill/>
          <a:ln w="9525">
            <a:noFill/>
            <a:miter lim="800000"/>
            <a:headEnd/>
            <a:tailEnd/>
          </a:ln>
        </p:spPr>
      </p:pic>
    </p:spTree>
  </p:cSld>
  <p:clrMapOvr>
    <a:masterClrMapping/>
  </p:clrMapOvr>
  <p:transition spd="slow">
    <p:zo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09600" y="1371600"/>
            <a:ext cx="7929618" cy="2823850"/>
          </a:xfrm>
          <a:prstGeom prst="rect">
            <a:avLst/>
          </a:prstGeom>
          <a:noFill/>
        </p:spPr>
        <p:txBody>
          <a:bodyPr wrap="square" rtlCol="1">
            <a:spAutoFit/>
          </a:bodyPr>
          <a:lstStyle/>
          <a:p>
            <a:pPr algn="justLow" rtl="1">
              <a:lnSpc>
                <a:spcPct val="150000"/>
              </a:lnSpc>
            </a:pPr>
            <a:r>
              <a:rPr lang="ar-SA" sz="2000" b="1" dirty="0" smtClean="0">
                <a:cs typeface="B Roya" pitchFamily="2" charset="-78"/>
              </a:rPr>
              <a:t>ب-1- حوزه </a:t>
            </a:r>
            <a:r>
              <a:rPr lang="fa-IR" sz="2000" b="1" dirty="0" smtClean="0">
                <a:cs typeface="B Roya" pitchFamily="2" charset="-78"/>
              </a:rPr>
              <a:t>معاونت توسعه مدیریت و پشتیبانی:</a:t>
            </a:r>
            <a:endParaRPr lang="en-US" sz="2000" dirty="0" smtClean="0">
              <a:cs typeface="B Roya" pitchFamily="2" charset="-78"/>
            </a:endParaRPr>
          </a:p>
          <a:p>
            <a:pPr algn="justLow" rtl="1">
              <a:lnSpc>
                <a:spcPct val="150000"/>
              </a:lnSpc>
            </a:pPr>
            <a:r>
              <a:rPr lang="ar-SA" sz="2000" dirty="0" smtClean="0">
                <a:cs typeface="B Roya" pitchFamily="2" charset="-78"/>
              </a:rPr>
              <a:t>يكي از حوزه‌هايي كه از اوايل دهه 80 درگير امر مكانيزاسيون شده ، حوزه امور مالي ميباشد. در ادامه به بررسي مراحل مكانيزه نمودن عمليات مالي در قالب نرم افزارهاي مختلف مي پردازيم.</a:t>
            </a:r>
            <a:endParaRPr lang="en-US" sz="2000" dirty="0" smtClean="0">
              <a:cs typeface="B Roya" pitchFamily="2" charset="-78"/>
            </a:endParaRPr>
          </a:p>
          <a:p>
            <a:pPr algn="justLow" rtl="1">
              <a:lnSpc>
                <a:spcPct val="150000"/>
              </a:lnSpc>
            </a:pPr>
            <a:r>
              <a:rPr lang="ar-SA" sz="2000" b="1" u="sng" dirty="0" smtClean="0">
                <a:cs typeface="B Roya" pitchFamily="2" charset="-78"/>
              </a:rPr>
              <a:t>ب-1-</a:t>
            </a:r>
            <a:r>
              <a:rPr lang="fa-IR" sz="2000" b="1" u="sng" dirty="0" smtClean="0">
                <a:cs typeface="B Roya" pitchFamily="2" charset="-78"/>
              </a:rPr>
              <a:t>2</a:t>
            </a:r>
            <a:r>
              <a:rPr lang="ar-SA" sz="2000" b="1" u="sng" dirty="0" smtClean="0">
                <a:cs typeface="B Roya" pitchFamily="2" charset="-78"/>
              </a:rPr>
              <a:t>-  سيستم هاي ذي‌حسابي جاري و عمراني رسا :</a:t>
            </a:r>
            <a:endParaRPr lang="en-US" sz="1600" dirty="0" smtClean="0">
              <a:cs typeface="B Roya" pitchFamily="2" charset="-78"/>
            </a:endParaRPr>
          </a:p>
          <a:p>
            <a:pPr algn="justLow" rtl="1">
              <a:lnSpc>
                <a:spcPct val="150000"/>
              </a:lnSpc>
            </a:pPr>
            <a:r>
              <a:rPr lang="ar-SA" sz="2000" dirty="0" smtClean="0">
                <a:cs typeface="B Roya" pitchFamily="2" charset="-78"/>
              </a:rPr>
              <a:t>اين سيستم ها از سال 1384 در سازمان عملياتي شده است و نسبت به سيستم هاي قبلي ، بيشترين پشتيباني را از امور حسابداري دولتي مي‌نمايد. </a:t>
            </a:r>
            <a:endParaRPr lang="fa-IR" sz="2000" dirty="0" smtClean="0">
              <a:cs typeface="B Roya" pitchFamily="2" charset="-78"/>
            </a:endParaRPr>
          </a:p>
        </p:txBody>
      </p:sp>
      <p:sp>
        <p:nvSpPr>
          <p:cNvPr id="4" name="Rectangle 3"/>
          <p:cNvSpPr/>
          <p:nvPr/>
        </p:nvSpPr>
        <p:spPr>
          <a:xfrm>
            <a:off x="3547131" y="857232"/>
            <a:ext cx="1923925" cy="523220"/>
          </a:xfrm>
          <a:prstGeom prst="rect">
            <a:avLst/>
          </a:prstGeom>
        </p:spPr>
        <p:txBody>
          <a:bodyPr wrap="none">
            <a:spAutoFit/>
          </a:bodyPr>
          <a:lstStyle/>
          <a:p>
            <a:pPr algn="r" rtl="1"/>
            <a:r>
              <a:rPr lang="fa-IR" sz="2800" b="1" dirty="0" smtClean="0">
                <a:cs typeface="B Roya" pitchFamily="2" charset="-78"/>
              </a:rPr>
              <a:t>حوزه نرم افزار</a:t>
            </a:r>
            <a:endParaRPr lang="en-US" sz="1200" b="1" dirty="0" smtClean="0">
              <a:cs typeface="B Roya" pitchFamily="2" charset="-78"/>
            </a:endParaRPr>
          </a:p>
        </p:txBody>
      </p:sp>
      <p:sp>
        <p:nvSpPr>
          <p:cNvPr id="5" name="Rectangle 4"/>
          <p:cNvSpPr/>
          <p:nvPr/>
        </p:nvSpPr>
        <p:spPr>
          <a:xfrm>
            <a:off x="685800" y="4191000"/>
            <a:ext cx="7772400" cy="1900520"/>
          </a:xfrm>
          <a:prstGeom prst="rect">
            <a:avLst/>
          </a:prstGeom>
        </p:spPr>
        <p:txBody>
          <a:bodyPr wrap="square">
            <a:spAutoFit/>
          </a:bodyPr>
          <a:lstStyle/>
          <a:p>
            <a:pPr algn="justLow" rtl="1">
              <a:lnSpc>
                <a:spcPct val="150000"/>
              </a:lnSpc>
            </a:pPr>
            <a:r>
              <a:rPr lang="ar-SA" sz="2000" dirty="0" smtClean="0">
                <a:cs typeface="B Roya" pitchFamily="2" charset="-78"/>
              </a:rPr>
              <a:t>هدف از اين سيستم ها ، كامپيوتري نمودن كليه فرآيندها و فعاليتهاي مديريت ذيحسابي سازمانهاي دولتي است و محدوده اين سيستم ها بصورت جامع شامل فعاليتها و ارتباط با مديريت ذيحسابي و مديريت خزانه وزارت اقتصاد و دارائي و بانك ها و نيز ارتباطات و فعاليتهاي دواير داخلي مديريت ذيحسابي است.  </a:t>
            </a:r>
            <a:endParaRPr lang="en-US" sz="2000" dirty="0" smtClean="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28596" y="1071546"/>
            <a:ext cx="8286776" cy="5016758"/>
          </a:xfrm>
          <a:prstGeom prst="rect">
            <a:avLst/>
          </a:prstGeom>
        </p:spPr>
        <p:txBody>
          <a:bodyPr wrap="square">
            <a:spAutoFit/>
          </a:bodyPr>
          <a:lstStyle/>
          <a:p>
            <a:pPr algn="justLow" rtl="1"/>
            <a:r>
              <a:rPr lang="ar-SA" sz="2000" dirty="0" smtClean="0">
                <a:cs typeface="B Roya" pitchFamily="2" charset="-78"/>
              </a:rPr>
              <a:t>اين سيستم‌ها جامع بوده و از چهار زير سيستم تشكيل شده است كه بصورت يكپارچه با هم در تعامل مي‌باشند كه عبارتند از سيستم‌هاي :  اعتبارات، سيستم دريافت و پرداخت، سيستم رسيدگي و سيستم حسابداري دفترداري. </a:t>
            </a:r>
            <a:endParaRPr lang="en-US" sz="2000" dirty="0" smtClean="0">
              <a:cs typeface="B Roya" pitchFamily="2" charset="-78"/>
            </a:endParaRPr>
          </a:p>
          <a:p>
            <a:pPr algn="justLow" rtl="1"/>
            <a:r>
              <a:rPr lang="ar-SA" sz="2000" dirty="0" smtClean="0">
                <a:cs typeface="B Roya" pitchFamily="2" charset="-78"/>
              </a:rPr>
              <a:t>جهت ساخت اين سيستم ها ، از بانك اطلاعاتي </a:t>
            </a:r>
            <a:r>
              <a:rPr lang="en-US" sz="2000" dirty="0" smtClean="0">
                <a:cs typeface="B Roya" pitchFamily="2" charset="-78"/>
              </a:rPr>
              <a:t>ORACLE</a:t>
            </a:r>
            <a:r>
              <a:rPr lang="ar-SA" sz="2000" dirty="0" smtClean="0">
                <a:cs typeface="B Roya" pitchFamily="2" charset="-78"/>
              </a:rPr>
              <a:t> استفاده شده كه از قويترين بانكهاي اطلاعاتي رابطه‌اي دنيا است و سيستم در حالت خادم / مخدوم (</a:t>
            </a:r>
            <a:r>
              <a:rPr lang="en-US" sz="2000" dirty="0" smtClean="0">
                <a:cs typeface="B Roya" pitchFamily="2" charset="-78"/>
              </a:rPr>
              <a:t>Client/Server</a:t>
            </a:r>
            <a:r>
              <a:rPr lang="ar-SA" sz="2000" dirty="0" smtClean="0">
                <a:cs typeface="B Roya" pitchFamily="2" charset="-78"/>
              </a:rPr>
              <a:t>) اجرا مي گردد و هيچگونه محدوديت در مورد تعداد كاربران اين سيستم وجود ندارد.</a:t>
            </a:r>
            <a:endParaRPr lang="en-US" sz="2000" dirty="0" smtClean="0">
              <a:cs typeface="B Roya" pitchFamily="2" charset="-78"/>
            </a:endParaRPr>
          </a:p>
          <a:p>
            <a:pPr algn="justLow" rtl="1"/>
            <a:r>
              <a:rPr lang="ar-SA" sz="2000" dirty="0" smtClean="0">
                <a:cs typeface="B Roya" pitchFamily="2" charset="-78"/>
              </a:rPr>
              <a:t>فرايندهاي مهم اين سيستم ها عبارتند از :</a:t>
            </a:r>
            <a:endParaRPr lang="fa-IR" sz="2000" dirty="0" smtClean="0">
              <a:cs typeface="B Roya" pitchFamily="2" charset="-78"/>
            </a:endParaRPr>
          </a:p>
          <a:p>
            <a:pPr marL="4763" lvl="1" algn="justLow" rtl="1"/>
            <a:r>
              <a:rPr lang="ar-SA" sz="2000" b="1" i="1" u="sng" dirty="0" smtClean="0">
                <a:cs typeface="B Roya" pitchFamily="2" charset="-78"/>
              </a:rPr>
              <a:t>فرآيند ثبت موافقتنامه :</a:t>
            </a:r>
            <a:r>
              <a:rPr lang="ar-SA" sz="2000" dirty="0" smtClean="0">
                <a:cs typeface="B Roya" pitchFamily="2" charset="-78"/>
              </a:rPr>
              <a:t>در اين فرآيند طرحها ، برنامه ها ، پروژه ها و فعاليتهاي آنها تعريف مي شود .</a:t>
            </a:r>
            <a:endParaRPr lang="en-US" sz="2000" dirty="0" smtClean="0">
              <a:cs typeface="B Roya" pitchFamily="2" charset="-78"/>
            </a:endParaRPr>
          </a:p>
          <a:p>
            <a:pPr marL="4763" lvl="1" indent="-4763" algn="justLow" rtl="1"/>
            <a:r>
              <a:rPr lang="ar-SA" sz="2000" b="1" i="1" u="sng" dirty="0" smtClean="0">
                <a:cs typeface="B Roya" pitchFamily="2" charset="-78"/>
              </a:rPr>
              <a:t>فرآيند تعيين وضعيت اعتباري :</a:t>
            </a:r>
            <a:r>
              <a:rPr lang="ar-SA" sz="2000" dirty="0" smtClean="0">
                <a:cs typeface="B Roya" pitchFamily="2" charset="-78"/>
              </a:rPr>
              <a:t>در اين فرآيند سقف اعتبارات كليه سطوح طرحها و برنامه ها اولا به تفكيك هر سال و منبع اعتباري معين مي گردد، همينطور سقف اعتبارات معين شده در سطح مواد هزينه يا فصول نيزمشخص مي شود تا بتوان در زمان تعهد و تامين اعتبار كنترل را انجام داد.</a:t>
            </a:r>
            <a:endParaRPr lang="en-US" sz="2000" dirty="0" smtClean="0">
              <a:cs typeface="B Roya" pitchFamily="2" charset="-78"/>
            </a:endParaRPr>
          </a:p>
          <a:p>
            <a:pPr marL="4763" lvl="1" algn="justLow" rtl="1"/>
            <a:r>
              <a:rPr lang="ar-SA" sz="2000" b="1" i="1" u="sng" dirty="0" smtClean="0">
                <a:cs typeface="B Roya" pitchFamily="2" charset="-78"/>
              </a:rPr>
              <a:t>فرآيند كنترل تخصيص :</a:t>
            </a:r>
            <a:r>
              <a:rPr lang="ar-SA" sz="2000" dirty="0" smtClean="0">
                <a:cs typeface="B Roya" pitchFamily="2" charset="-78"/>
              </a:rPr>
              <a:t>در اين فرآيند تخصيصهاي ارسالي از خزانه تعريف مي گردد و بازاء هر كدام درخواستها و دريافتهايي وجود دارد كه داراي كنترل مي باشند.</a:t>
            </a:r>
            <a:endParaRPr lang="fa-IR" sz="2000" dirty="0" smtClean="0">
              <a:cs typeface="B Roya" pitchFamily="2" charset="-78"/>
            </a:endParaRPr>
          </a:p>
          <a:p>
            <a:pPr marL="4763" lvl="1" algn="justLow" rtl="1"/>
            <a:r>
              <a:rPr lang="ar-SA" sz="2000" b="1" i="1" u="sng" dirty="0" smtClean="0">
                <a:cs typeface="B Roya" pitchFamily="2" charset="-78"/>
              </a:rPr>
              <a:t>فرآيند اصلاحيه موافقتنامه ها :</a:t>
            </a:r>
            <a:r>
              <a:rPr lang="ar-SA" sz="2000" dirty="0" smtClean="0">
                <a:cs typeface="B Roya" pitchFamily="2" charset="-78"/>
              </a:rPr>
              <a:t>در اين فرآيند اصلاحات اعمالي بر روي پارامترهاي اعتباري موجود در موافقتنامه مصوب تعريف مي شود.</a:t>
            </a:r>
            <a:endParaRPr lang="en-US" sz="2000" dirty="0" smtClean="0">
              <a:cs typeface="B Roya" pitchFamily="2" charset="-78"/>
            </a:endParaRPr>
          </a:p>
          <a:p>
            <a:pPr lvl="1" algn="justLow" rtl="1"/>
            <a:endParaRPr lang="fa-IR" sz="2000" dirty="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357158" y="1142984"/>
            <a:ext cx="8215370" cy="4524315"/>
          </a:xfrm>
          <a:prstGeom prst="rect">
            <a:avLst/>
          </a:prstGeom>
          <a:noFill/>
        </p:spPr>
        <p:txBody>
          <a:bodyPr wrap="square" rtlCol="1">
            <a:spAutoFit/>
          </a:bodyPr>
          <a:lstStyle/>
          <a:p>
            <a:pPr lvl="1" algn="justLow" rtl="1"/>
            <a:r>
              <a:rPr lang="ar-SA" b="1" i="1" u="sng" dirty="0" smtClean="0">
                <a:cs typeface="B Roya" pitchFamily="2" charset="-78"/>
              </a:rPr>
              <a:t>فرآيند تعريف قراردادها :</a:t>
            </a:r>
            <a:r>
              <a:rPr lang="ar-SA" dirty="0" smtClean="0">
                <a:cs typeface="B Roya" pitchFamily="2" charset="-78"/>
              </a:rPr>
              <a:t>در اين فرآيند شناسنامه قراردادهاي موجود در سازمان با تمامي پارامترهاي معين شده تعريف مي گردد.</a:t>
            </a:r>
            <a:endParaRPr lang="en-US" dirty="0" smtClean="0">
              <a:cs typeface="B Roya" pitchFamily="2" charset="-78"/>
            </a:endParaRPr>
          </a:p>
          <a:p>
            <a:pPr lvl="1" algn="justLow" rtl="1"/>
            <a:r>
              <a:rPr lang="ar-SA" b="1" i="1" u="sng" dirty="0" smtClean="0">
                <a:cs typeface="B Roya" pitchFamily="2" charset="-78"/>
              </a:rPr>
              <a:t>فرآيند تعريف اعتبارات اسنادي :</a:t>
            </a:r>
            <a:r>
              <a:rPr lang="ar-SA" dirty="0" smtClean="0">
                <a:cs typeface="B Roya" pitchFamily="2" charset="-78"/>
              </a:rPr>
              <a:t>در اين فرآيند اعتبارات اسنادي معرفي مي گردد و همينطور پرداختها و عمليات مالي هر كدام نيز ثبت مي شود.</a:t>
            </a:r>
            <a:endParaRPr lang="en-US" dirty="0" smtClean="0">
              <a:cs typeface="B Roya" pitchFamily="2" charset="-78"/>
            </a:endParaRPr>
          </a:p>
          <a:p>
            <a:pPr lvl="1" algn="justLow" rtl="1"/>
            <a:r>
              <a:rPr lang="ar-SA" b="1" i="1" u="sng" dirty="0" smtClean="0">
                <a:cs typeface="B Roya" pitchFamily="2" charset="-78"/>
              </a:rPr>
              <a:t>فرآيند تأمين اعتبار :</a:t>
            </a:r>
            <a:r>
              <a:rPr lang="ar-SA" dirty="0" smtClean="0">
                <a:cs typeface="B Roya" pitchFamily="2" charset="-78"/>
              </a:rPr>
              <a:t>در اين فرآيند عمليات مربوط به تأمين اعتبار اداره اعتبارات صورت مي گيرد.</a:t>
            </a:r>
            <a:endParaRPr lang="en-US" dirty="0" smtClean="0">
              <a:cs typeface="B Roya" pitchFamily="2" charset="-78"/>
            </a:endParaRPr>
          </a:p>
          <a:p>
            <a:pPr lvl="1" algn="justLow" rtl="1"/>
            <a:r>
              <a:rPr lang="ar-SA" b="1" i="1" u="sng" dirty="0" smtClean="0">
                <a:cs typeface="B Roya" pitchFamily="2" charset="-78"/>
              </a:rPr>
              <a:t>فرآيند دريافت و پرداختها (صدور چك) :</a:t>
            </a:r>
            <a:r>
              <a:rPr lang="ar-SA" dirty="0" smtClean="0">
                <a:cs typeface="B Roya" pitchFamily="2" charset="-78"/>
              </a:rPr>
              <a:t>در اين فرآيند كليه عمليات مربوط به دريافت وجوه و پرداخت‌هاي سازمان به اشكال مختلف انجام مي گيرد.</a:t>
            </a:r>
            <a:endParaRPr lang="en-US" dirty="0" smtClean="0">
              <a:cs typeface="B Roya" pitchFamily="2" charset="-78"/>
            </a:endParaRPr>
          </a:p>
          <a:p>
            <a:pPr lvl="1" algn="justLow" rtl="1"/>
            <a:r>
              <a:rPr lang="ar-SA" b="1" i="1" u="sng" dirty="0" smtClean="0">
                <a:cs typeface="B Roya" pitchFamily="2" charset="-78"/>
              </a:rPr>
              <a:t>فرآيند تضمينات :‌</a:t>
            </a:r>
            <a:r>
              <a:rPr lang="ar-SA" dirty="0" smtClean="0">
                <a:cs typeface="B Roya" pitchFamily="2" charset="-78"/>
              </a:rPr>
              <a:t>در اين فرآيند ضمانت‌نامه‌ها و سپرده‌هاي مربوط به هر قرارداد و اعتبارات اسنادي و مناقصات ثبت می‌گردد.</a:t>
            </a:r>
            <a:endParaRPr lang="en-US" dirty="0" smtClean="0">
              <a:cs typeface="B Roya" pitchFamily="2" charset="-78"/>
            </a:endParaRPr>
          </a:p>
          <a:p>
            <a:pPr lvl="1" algn="justLow" rtl="1"/>
            <a:r>
              <a:rPr lang="ar-SA" b="1" i="1" u="sng" dirty="0" smtClean="0">
                <a:cs typeface="B Roya" pitchFamily="2" charset="-78"/>
              </a:rPr>
              <a:t>فرآيند پرداخت به قراردادها :</a:t>
            </a:r>
            <a:r>
              <a:rPr lang="ar-SA" dirty="0" smtClean="0">
                <a:cs typeface="B Roya" pitchFamily="2" charset="-78"/>
              </a:rPr>
              <a:t>در اين فرآيند مي‌توان انواع پرداخت‌هاي موجود از قبيل (پيش پرداخت، علي الحساب، پرداخت صورت وضعيت ها و …) را با كمك ابزارهاي محاسبه كسور اتوماتيك ثبت نمود.</a:t>
            </a:r>
            <a:endParaRPr lang="fa-IR" dirty="0" smtClean="0">
              <a:cs typeface="B Roya" pitchFamily="2" charset="-78"/>
            </a:endParaRPr>
          </a:p>
          <a:p>
            <a:pPr lvl="1" algn="justLow" rtl="1"/>
            <a:r>
              <a:rPr lang="ar-SA" b="1" i="1" u="sng" dirty="0" smtClean="0">
                <a:cs typeface="B Roya" pitchFamily="2" charset="-78"/>
              </a:rPr>
              <a:t>فرآيند اصلاحات قراردادها :</a:t>
            </a:r>
            <a:r>
              <a:rPr lang="ar-SA" dirty="0" smtClean="0">
                <a:cs typeface="B Roya" pitchFamily="2" charset="-78"/>
              </a:rPr>
              <a:t>در اين فرآيند اصلاحيه ها و الحاقيه هاي هرقرارداد تعريف مي شودومي‌توان اطلاعات شناسنامه اي و مبلغي هرقراردادرا اصلاح كرد.</a:t>
            </a:r>
            <a:endParaRPr lang="en-US" dirty="0" smtClean="0">
              <a:cs typeface="B Roya" pitchFamily="2" charset="-78"/>
            </a:endParaRPr>
          </a:p>
          <a:p>
            <a:pPr lvl="1" algn="justLow" rtl="1"/>
            <a:r>
              <a:rPr lang="ar-SA" b="1" i="1" u="sng" dirty="0" smtClean="0">
                <a:cs typeface="B Roya" pitchFamily="2" charset="-78"/>
              </a:rPr>
              <a:t>فرآيند صدور اسناد و تصويب حسابها :</a:t>
            </a:r>
            <a:r>
              <a:rPr lang="ar-SA" dirty="0" smtClean="0">
                <a:cs typeface="B Roya" pitchFamily="2" charset="-78"/>
              </a:rPr>
              <a:t>دراين فرآيند اسناد حسابداري سازمان وارد مي شود و نيز توسط سيستم دفترداري كنترل و تصويب مي گردد و در دفاتر ثبت مي شود.</a:t>
            </a:r>
            <a:endParaRPr lang="en-US" dirty="0" smtClean="0">
              <a:cs typeface="B Roya" pitchFamily="2" charset="-78"/>
            </a:endParaRPr>
          </a:p>
          <a:p>
            <a:pPr lvl="1" algn="r" rtl="1"/>
            <a:endParaRPr lang="fa-IR" dirty="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357158" y="1071546"/>
            <a:ext cx="8429652" cy="4524315"/>
          </a:xfrm>
          <a:prstGeom prst="rect">
            <a:avLst/>
          </a:prstGeom>
          <a:noFill/>
        </p:spPr>
        <p:txBody>
          <a:bodyPr wrap="square" rtlCol="1">
            <a:spAutoFit/>
          </a:bodyPr>
          <a:lstStyle/>
          <a:p>
            <a:pPr algn="r" rtl="1"/>
            <a:r>
              <a:rPr lang="ar-SA" b="1" u="sng" dirty="0" smtClean="0">
                <a:cs typeface="B Roya" pitchFamily="2" charset="-78"/>
              </a:rPr>
              <a:t>ب-1-5- نرم افزار حسابداري انبار :</a:t>
            </a:r>
            <a:endParaRPr lang="en-US" dirty="0" smtClean="0">
              <a:cs typeface="B Roya" pitchFamily="2" charset="-78"/>
            </a:endParaRPr>
          </a:p>
          <a:p>
            <a:pPr algn="r" rtl="1"/>
            <a:r>
              <a:rPr lang="ar-SA" dirty="0" smtClean="0">
                <a:cs typeface="B Roya" pitchFamily="2" charset="-78"/>
              </a:rPr>
              <a:t>اين نرم افزار جزء مجموعه برنامه‌هاي يكپارچه اداري و مالي مي‌باشد كه با ساير نرم افزارها در تعامل مي‌باشد از جمله دريافت اطلاعات پرسنل از سيستم پرسنلي و دريافت اطلاعات صادره و وارده به انبار از سيستم انبار  . خلاصه امكانات موجود در اين نرم افزار به شرح زير است:</a:t>
            </a:r>
            <a:endParaRPr lang="en-US" dirty="0" smtClean="0">
              <a:cs typeface="B Roya" pitchFamily="2" charset="-78"/>
            </a:endParaRPr>
          </a:p>
          <a:p>
            <a:pPr lvl="0" algn="r" rtl="1">
              <a:buFont typeface="Wingdings" pitchFamily="2" charset="2"/>
              <a:buChar char="Ø"/>
            </a:pPr>
            <a:r>
              <a:rPr lang="ar-SA" dirty="0" smtClean="0">
                <a:cs typeface="B Roya" pitchFamily="2" charset="-78"/>
              </a:rPr>
              <a:t>امكان ثبت موجودي مقداري ريالي اول دوره پس از انجام انبار گرداني در سيستم انبار </a:t>
            </a:r>
            <a:endParaRPr lang="en-US" dirty="0" smtClean="0">
              <a:cs typeface="B Roya" pitchFamily="2" charset="-78"/>
            </a:endParaRPr>
          </a:p>
          <a:p>
            <a:pPr lvl="0" algn="r" rtl="1">
              <a:buFont typeface="Wingdings" pitchFamily="2" charset="2"/>
              <a:buChar char="Ø"/>
            </a:pPr>
            <a:r>
              <a:rPr lang="ar-SA" dirty="0" smtClean="0">
                <a:cs typeface="B Roya" pitchFamily="2" charset="-78"/>
              </a:rPr>
              <a:t>امكان ثبت عوامل مصرف كالاها بر اساس گروه هزينه، مركز هزينه، طرح، جاري، كل، معين و ...</a:t>
            </a:r>
            <a:endParaRPr lang="en-US" dirty="0" smtClean="0">
              <a:cs typeface="B Roya" pitchFamily="2" charset="-78"/>
            </a:endParaRPr>
          </a:p>
          <a:p>
            <a:pPr lvl="0" algn="r" rtl="1">
              <a:buFont typeface="Wingdings" pitchFamily="2" charset="2"/>
              <a:buChar char="Ø"/>
            </a:pPr>
            <a:r>
              <a:rPr lang="ar-SA" dirty="0" smtClean="0">
                <a:cs typeface="B Roya" pitchFamily="2" charset="-78"/>
              </a:rPr>
              <a:t>امكان قيمت گذاري رسيد انبار بر اساس درخواست خريد</a:t>
            </a:r>
            <a:endParaRPr lang="en-US" dirty="0" smtClean="0">
              <a:cs typeface="B Roya" pitchFamily="2" charset="-78"/>
            </a:endParaRPr>
          </a:p>
          <a:p>
            <a:pPr lvl="0" algn="r" rtl="1">
              <a:buFont typeface="Wingdings" pitchFamily="2" charset="2"/>
              <a:buChar char="Ø"/>
            </a:pPr>
            <a:r>
              <a:rPr lang="ar-SA" dirty="0" smtClean="0">
                <a:cs typeface="B Roya" pitchFamily="2" charset="-78"/>
              </a:rPr>
              <a:t>امكان قيمت گذاري اسناد بر اساس روش ميانگين و </a:t>
            </a:r>
            <a:r>
              <a:rPr lang="en-US" dirty="0" smtClean="0">
                <a:cs typeface="B Roya" pitchFamily="2" charset="-78"/>
              </a:rPr>
              <a:t>FIFO</a:t>
            </a:r>
          </a:p>
          <a:p>
            <a:pPr lvl="0" algn="r" rtl="1">
              <a:buFont typeface="Wingdings" pitchFamily="2" charset="2"/>
              <a:buChar char="Ø"/>
            </a:pPr>
            <a:r>
              <a:rPr lang="ar-SA" dirty="0" smtClean="0">
                <a:cs typeface="B Roya" pitchFamily="2" charset="-78"/>
              </a:rPr>
              <a:t>امكان ويرايش كد گذاري حواله ها ، رسيد هاي  برگشتي و انتقالي ها</a:t>
            </a:r>
            <a:endParaRPr lang="en-US" dirty="0" smtClean="0">
              <a:cs typeface="B Roya" pitchFamily="2" charset="-78"/>
            </a:endParaRPr>
          </a:p>
          <a:p>
            <a:pPr lvl="0" algn="r" rtl="1">
              <a:buFont typeface="Wingdings" pitchFamily="2" charset="2"/>
              <a:buChar char="Ø"/>
            </a:pPr>
            <a:r>
              <a:rPr lang="ar-SA" dirty="0" smtClean="0">
                <a:cs typeface="B Roya" pitchFamily="2" charset="-78"/>
              </a:rPr>
              <a:t>امكان استفاده از كاردكس مقداري ريالي انبار </a:t>
            </a:r>
            <a:endParaRPr lang="en-US" dirty="0" smtClean="0">
              <a:cs typeface="B Roya" pitchFamily="2" charset="-78"/>
            </a:endParaRPr>
          </a:p>
          <a:p>
            <a:pPr lvl="0" algn="r" rtl="1">
              <a:buFont typeface="Wingdings" pitchFamily="2" charset="2"/>
              <a:buChar char="Ø"/>
            </a:pPr>
            <a:r>
              <a:rPr lang="ar-SA" dirty="0" smtClean="0">
                <a:cs typeface="B Roya" pitchFamily="2" charset="-78"/>
              </a:rPr>
              <a:t>امكان صدور سند مصارف ، سند رسيد با قيمت موقت و قطعي ، رسيد انتقال</a:t>
            </a:r>
            <a:endParaRPr lang="en-US" dirty="0" smtClean="0">
              <a:cs typeface="B Roya" pitchFamily="2" charset="-78"/>
            </a:endParaRPr>
          </a:p>
          <a:p>
            <a:pPr lvl="0" algn="r" rtl="1">
              <a:buFont typeface="Wingdings" pitchFamily="2" charset="2"/>
              <a:buChar char="Ø"/>
            </a:pPr>
            <a:r>
              <a:rPr lang="ar-SA" dirty="0" smtClean="0">
                <a:cs typeface="B Roya" pitchFamily="2" charset="-78"/>
              </a:rPr>
              <a:t>امكان مشاهده اسناد طرحهاي عمراني و جاري</a:t>
            </a:r>
            <a:endParaRPr lang="en-US" dirty="0" smtClean="0">
              <a:cs typeface="B Roya" pitchFamily="2" charset="-78"/>
            </a:endParaRPr>
          </a:p>
          <a:p>
            <a:pPr lvl="0" algn="r" rtl="1">
              <a:buFont typeface="Wingdings" pitchFamily="2" charset="2"/>
              <a:buChar char="Ø"/>
            </a:pPr>
            <a:r>
              <a:rPr lang="ar-SA" dirty="0" smtClean="0">
                <a:cs typeface="B Roya" pitchFamily="2" charset="-78"/>
              </a:rPr>
              <a:t>امكان گزارش بر اساس پارامترهاي مختلف از جمله ليست كالاهايي كه برايشان حساب تعريف نشده ، ليست اسناد ريالي بدون سند مالي، ليست حواله‌هايي كه قيمت‌گذاري صفر شده‌اند ، ليست كالاهاي داراي موجودي اول دوره ، گزارش مصارف به تفكيك مراكز هزينه ، گزارش گردش نقدي جنسي ، كاردكس حسابدراي انبار ، ....</a:t>
            </a:r>
            <a:endParaRPr lang="en-US" dirty="0" smtClean="0">
              <a:cs typeface="B Roya" pitchFamily="2" charset="-78"/>
            </a:endParaRPr>
          </a:p>
          <a:p>
            <a:pPr algn="r"/>
            <a:endParaRPr lang="fa-IR" dirty="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158" y="1000108"/>
            <a:ext cx="8429684" cy="5016758"/>
          </a:xfrm>
          <a:prstGeom prst="rect">
            <a:avLst/>
          </a:prstGeom>
          <a:noFill/>
        </p:spPr>
        <p:txBody>
          <a:bodyPr wrap="square" rtlCol="1">
            <a:spAutoFit/>
          </a:bodyPr>
          <a:lstStyle/>
          <a:p>
            <a:pPr algn="justLow" rtl="1"/>
            <a:r>
              <a:rPr lang="ar-SA" sz="1600" b="1" dirty="0" smtClean="0">
                <a:cs typeface="B Roya" pitchFamily="2" charset="-78"/>
              </a:rPr>
              <a:t>ب-1-6- نرم افزار اموال :</a:t>
            </a:r>
            <a:endParaRPr lang="en-US" sz="1600" dirty="0" smtClean="0">
              <a:cs typeface="B Roya" pitchFamily="2" charset="-78"/>
            </a:endParaRPr>
          </a:p>
          <a:p>
            <a:pPr algn="justLow" rtl="1"/>
            <a:r>
              <a:rPr lang="ar-SA" sz="1600" dirty="0" smtClean="0">
                <a:cs typeface="B Roya" pitchFamily="2" charset="-78"/>
              </a:rPr>
              <a:t>اين نرم افزار جزء مجموعه برنامه‌هاي يكپارچه اداري و مالي است كه با ساير نرم افزارها در تعامل مي‌باشد از جمله دريافت اطلاعات پرسنل از سيستم پرسنلي و دريافت اطلاعات كالاهاي ثبت شده ، گروه هزينه و مركز هزينه در انبار از  سيستم انبار. خلاصه امكانات موجود در اين نرم افزار به شرح زير است:</a:t>
            </a:r>
            <a:endParaRPr lang="en-US" sz="1600" dirty="0" smtClean="0">
              <a:cs typeface="B Roya" pitchFamily="2" charset="-78"/>
            </a:endParaRPr>
          </a:p>
          <a:p>
            <a:pPr lvl="0" algn="justLow" rtl="1">
              <a:buFont typeface="Wingdings" pitchFamily="2" charset="2"/>
              <a:buChar char="Ø"/>
            </a:pPr>
            <a:r>
              <a:rPr lang="ar-SA" sz="1600" dirty="0" smtClean="0">
                <a:cs typeface="B Roya" pitchFamily="2" charset="-78"/>
              </a:rPr>
              <a:t>امكان گروه‌بندي دارايي‌ها بر اساس ماهيت، گروه اصلي و گروه فرعي</a:t>
            </a:r>
            <a:endParaRPr lang="en-US" sz="1600" dirty="0" smtClean="0">
              <a:cs typeface="B Roya" pitchFamily="2" charset="-78"/>
            </a:endParaRPr>
          </a:p>
          <a:p>
            <a:pPr lvl="0" algn="justLow" rtl="1">
              <a:buFont typeface="Wingdings" pitchFamily="2" charset="2"/>
              <a:buChar char="Ø"/>
            </a:pPr>
            <a:r>
              <a:rPr lang="ar-SA" sz="1600" dirty="0" smtClean="0">
                <a:cs typeface="B Roya" pitchFamily="2" charset="-78"/>
              </a:rPr>
              <a:t>امكان تعريف حساب‌هاي مالي بر اساس ماهيت و گروه اصلي اموال</a:t>
            </a:r>
            <a:endParaRPr lang="en-US" sz="1600" dirty="0" smtClean="0">
              <a:cs typeface="B Roya" pitchFamily="2" charset="-78"/>
            </a:endParaRPr>
          </a:p>
          <a:p>
            <a:pPr lvl="0" algn="justLow" rtl="1">
              <a:buFont typeface="Wingdings" pitchFamily="2" charset="2"/>
              <a:buChar char="Ø"/>
            </a:pPr>
            <a:r>
              <a:rPr lang="ar-SA" sz="1600" dirty="0" smtClean="0">
                <a:cs typeface="B Roya" pitchFamily="2" charset="-78"/>
              </a:rPr>
              <a:t>مشاهده درختواره كدينگ اموال</a:t>
            </a:r>
            <a:endParaRPr lang="en-US" sz="1600" dirty="0" smtClean="0">
              <a:cs typeface="B Roya" pitchFamily="2" charset="-78"/>
            </a:endParaRPr>
          </a:p>
          <a:p>
            <a:pPr lvl="0" algn="justLow" rtl="1">
              <a:buFont typeface="Wingdings" pitchFamily="2" charset="2"/>
              <a:buChar char="Ø"/>
            </a:pPr>
            <a:r>
              <a:rPr lang="ar-SA" sz="1600" dirty="0" smtClean="0">
                <a:cs typeface="B Roya" pitchFamily="2" charset="-78"/>
              </a:rPr>
              <a:t>امكان ثبت محل استقرار و تعريف جمعدار مربوط به گروه هزينه و مركز هزينه هاي ثبت شده در انبار </a:t>
            </a:r>
            <a:endParaRPr lang="en-US" sz="1600" dirty="0" smtClean="0">
              <a:cs typeface="B Roya" pitchFamily="2" charset="-78"/>
            </a:endParaRPr>
          </a:p>
          <a:p>
            <a:pPr lvl="0" algn="justLow" rtl="1">
              <a:buFont typeface="Wingdings" pitchFamily="2" charset="2"/>
              <a:buChar char="Ø"/>
            </a:pPr>
            <a:r>
              <a:rPr lang="ar-SA" sz="1600" dirty="0" smtClean="0">
                <a:cs typeface="B Roya" pitchFamily="2" charset="-78"/>
              </a:rPr>
              <a:t>امكان استفاده از طبقات دارايي ثبت شده در سيستم بر اساس استاندارد وزارت دارايي </a:t>
            </a:r>
            <a:endParaRPr lang="en-US" sz="1600" dirty="0" smtClean="0">
              <a:cs typeface="B Roya" pitchFamily="2" charset="-78"/>
            </a:endParaRPr>
          </a:p>
          <a:p>
            <a:pPr lvl="0" algn="justLow" rtl="1">
              <a:buFont typeface="Wingdings" pitchFamily="2" charset="2"/>
              <a:buChar char="Ø"/>
            </a:pPr>
            <a:r>
              <a:rPr lang="ar-SA" sz="1600" dirty="0" smtClean="0">
                <a:cs typeface="B Roya" pitchFamily="2" charset="-78"/>
              </a:rPr>
              <a:t>امكان ثبت مشخصات پلاك دارايي ها شامل مركز و گروه هزينه، محل استقرار، ماهيت، گروه اصلي، گروه فرعي، تاريخ ورود، قيمت اوليه و.... امكان اختصاص پلاك دارايي ثبت شده به كد كالاي انتخابي از سيستم انبار</a:t>
            </a:r>
            <a:endParaRPr lang="en-US" sz="1600" dirty="0" smtClean="0">
              <a:cs typeface="B Roya" pitchFamily="2" charset="-78"/>
            </a:endParaRPr>
          </a:p>
          <a:p>
            <a:pPr lvl="0" algn="justLow" rtl="1">
              <a:buFont typeface="Wingdings" pitchFamily="2" charset="2"/>
              <a:buChar char="Ø"/>
            </a:pPr>
            <a:r>
              <a:rPr lang="ar-SA" sz="1600" dirty="0" smtClean="0">
                <a:cs typeface="B Roya" pitchFamily="2" charset="-78"/>
              </a:rPr>
              <a:t>امكان تائيد و تصويب گروهي بر اساس پلاك يا كلي</a:t>
            </a:r>
            <a:endParaRPr lang="en-US" sz="1600" dirty="0" smtClean="0">
              <a:cs typeface="B Roya" pitchFamily="2" charset="-78"/>
            </a:endParaRPr>
          </a:p>
          <a:p>
            <a:pPr lvl="0" algn="justLow" rtl="1">
              <a:buFont typeface="Wingdings" pitchFamily="2" charset="2"/>
              <a:buChar char="Ø"/>
            </a:pPr>
            <a:r>
              <a:rPr lang="ar-SA" sz="1600" dirty="0" smtClean="0">
                <a:cs typeface="B Roya" pitchFamily="2" charset="-78"/>
              </a:rPr>
              <a:t>امكان ثبت بيمه نامه هاي مربوط به هر پلاك دارايي </a:t>
            </a:r>
            <a:endParaRPr lang="en-US" sz="1600" dirty="0" smtClean="0">
              <a:cs typeface="B Roya" pitchFamily="2" charset="-78"/>
            </a:endParaRPr>
          </a:p>
          <a:p>
            <a:pPr lvl="0" algn="justLow" rtl="1">
              <a:buFont typeface="Wingdings" pitchFamily="2" charset="2"/>
              <a:buChar char="Ø"/>
            </a:pPr>
            <a:r>
              <a:rPr lang="ar-SA" sz="1600" dirty="0" smtClean="0">
                <a:cs typeface="B Roya" pitchFamily="2" charset="-78"/>
              </a:rPr>
              <a:t>امكان نقل و انتقال پلاك دارايي بين پرسنل و مراكز هزينه ( تحويل گيرندگان و جمعداران)</a:t>
            </a:r>
            <a:endParaRPr lang="en-US" sz="1600" dirty="0" smtClean="0">
              <a:cs typeface="B Roya" pitchFamily="2" charset="-78"/>
            </a:endParaRPr>
          </a:p>
          <a:p>
            <a:pPr lvl="0" algn="justLow" rtl="1">
              <a:buFont typeface="Wingdings" pitchFamily="2" charset="2"/>
              <a:buChar char="Ø"/>
            </a:pPr>
            <a:r>
              <a:rPr lang="ar-SA" sz="1600" dirty="0" smtClean="0">
                <a:cs typeface="B Roya" pitchFamily="2" charset="-78"/>
              </a:rPr>
              <a:t>امكان ثبت تعديل قيمت اموال</a:t>
            </a:r>
            <a:endParaRPr lang="fa-IR" sz="1600" dirty="0" smtClean="0">
              <a:cs typeface="B Roya" pitchFamily="2" charset="-78"/>
            </a:endParaRPr>
          </a:p>
          <a:p>
            <a:pPr lvl="0" algn="justLow" rtl="1">
              <a:buFont typeface="Wingdings" pitchFamily="2" charset="2"/>
              <a:buChar char="Ø"/>
            </a:pPr>
            <a:r>
              <a:rPr lang="ar-SA" sz="1600" dirty="0" smtClean="0">
                <a:cs typeface="B Roya" pitchFamily="2" charset="-78"/>
              </a:rPr>
              <a:t>امكان انتقال اموال از انبار به استفاده كننده و برگشت اموال به انبار توسط استفاده كننده</a:t>
            </a:r>
            <a:endParaRPr lang="en-US" sz="1600" dirty="0" smtClean="0">
              <a:cs typeface="B Roya" pitchFamily="2" charset="-78"/>
            </a:endParaRPr>
          </a:p>
          <a:p>
            <a:pPr lvl="0" algn="justLow" rtl="1">
              <a:buFont typeface="Wingdings" pitchFamily="2" charset="2"/>
              <a:buChar char="Ø"/>
            </a:pPr>
            <a:r>
              <a:rPr lang="ar-SA" sz="1600" dirty="0" smtClean="0">
                <a:cs typeface="B Roya" pitchFamily="2" charset="-78"/>
              </a:rPr>
              <a:t>امكان حذف (فروش) دارايي ثابت </a:t>
            </a:r>
            <a:endParaRPr lang="en-US" sz="1600" dirty="0" smtClean="0">
              <a:cs typeface="B Roya" pitchFamily="2" charset="-78"/>
            </a:endParaRPr>
          </a:p>
          <a:p>
            <a:pPr lvl="0" algn="justLow" rtl="1">
              <a:buFont typeface="Wingdings" pitchFamily="2" charset="2"/>
              <a:buChar char="Ø"/>
            </a:pPr>
            <a:r>
              <a:rPr lang="ar-SA" sz="1600" dirty="0" smtClean="0">
                <a:cs typeface="B Roya" pitchFamily="2" charset="-78"/>
              </a:rPr>
              <a:t>امكان صدور برگ خروج اموال و ثبت سند برگشت اموال خارج شده بر اساس برگ خروج</a:t>
            </a:r>
            <a:endParaRPr lang="en-US" sz="1600" dirty="0" smtClean="0">
              <a:cs typeface="B Roya" pitchFamily="2" charset="-78"/>
            </a:endParaRPr>
          </a:p>
          <a:p>
            <a:pPr lvl="0" algn="justLow" rtl="1">
              <a:buFont typeface="Wingdings" pitchFamily="2" charset="2"/>
              <a:buChar char="Ø"/>
            </a:pPr>
            <a:r>
              <a:rPr lang="ar-SA" sz="1600" dirty="0" smtClean="0">
                <a:cs typeface="B Roya" pitchFamily="2" charset="-78"/>
              </a:rPr>
              <a:t>امكان اموال گرداني و مغايرت گيري</a:t>
            </a:r>
            <a:endParaRPr lang="en-US" sz="1600" dirty="0" smtClean="0">
              <a:cs typeface="B Roya" pitchFamily="2" charset="-78"/>
            </a:endParaRPr>
          </a:p>
          <a:p>
            <a:pPr lvl="0" algn="justLow" rtl="1">
              <a:buFont typeface="Wingdings" pitchFamily="2" charset="2"/>
              <a:buChar char="Ø"/>
            </a:pPr>
            <a:r>
              <a:rPr lang="ar-SA" sz="1600" dirty="0" smtClean="0">
                <a:cs typeface="B Roya" pitchFamily="2" charset="-78"/>
              </a:rPr>
              <a:t>امكان محاسبه استهلاك بر اساس دو روش مستقيم و نزولي ( سالانه و ماهانه)  و امكان حذف محاسبه استهلاك در صورت نياز</a:t>
            </a:r>
            <a:endParaRPr lang="en-US" sz="1600" dirty="0" smtClean="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71472" y="1142984"/>
            <a:ext cx="8358182" cy="3891258"/>
          </a:xfrm>
          <a:prstGeom prst="rect">
            <a:avLst/>
          </a:prstGeom>
          <a:noFill/>
        </p:spPr>
        <p:txBody>
          <a:bodyPr wrap="square" rtlCol="1">
            <a:spAutoFit/>
          </a:bodyPr>
          <a:lstStyle/>
          <a:p>
            <a:pPr lvl="0" algn="justLow" rtl="1">
              <a:lnSpc>
                <a:spcPct val="200000"/>
              </a:lnSpc>
              <a:buFont typeface="Wingdings" pitchFamily="2" charset="2"/>
              <a:buChar char="Ø"/>
            </a:pPr>
            <a:r>
              <a:rPr lang="ar-SA" dirty="0" smtClean="0">
                <a:cs typeface="B Roya" pitchFamily="2" charset="-78"/>
              </a:rPr>
              <a:t>مشاهده سر رسيد بيمه نامه پلاك دارايي ها به صورت آلارم</a:t>
            </a:r>
            <a:endParaRPr lang="en-US" dirty="0" smtClean="0">
              <a:cs typeface="B Roya" pitchFamily="2" charset="-78"/>
            </a:endParaRPr>
          </a:p>
          <a:p>
            <a:pPr lvl="0" algn="justLow" rtl="1">
              <a:lnSpc>
                <a:spcPct val="200000"/>
              </a:lnSpc>
              <a:buFont typeface="Wingdings" pitchFamily="2" charset="2"/>
              <a:buChar char="Ø"/>
            </a:pPr>
            <a:r>
              <a:rPr lang="ar-SA" dirty="0" smtClean="0">
                <a:cs typeface="B Roya" pitchFamily="2" charset="-78"/>
              </a:rPr>
              <a:t>امكان گزارش‌گيري بر اساس پارامترهاي مختلف از جمله : گزارشات استهلاك شامل ريز دارايي‌ها ، به تفكيك ماهيت ، جدول دارايي‌هاي ثابت و استهلاك موضوع ماده 151 ، گزارش فهرست دارايي‌ها بر اساس ماهيت ، گروه اصلي و گروه فرعي، گزارش اموال نزد جمعداران و تحويل گيرندگان، گزارشات كنترل دارايي‌هاي ثابت شامل : گزارشات كنترلي اموال، گزارش خروج دارايي‌ها، حذف دارايي‌ها ، گزارش نقل و انتقال دارايي‌ها ، گزارش كارت داراي ثابت ،‌گزارش پلاك هاي ثبت شده و...</a:t>
            </a:r>
            <a:endParaRPr lang="en-US" dirty="0" smtClean="0">
              <a:cs typeface="B Roya" pitchFamily="2" charset="-78"/>
            </a:endParaRPr>
          </a:p>
          <a:p>
            <a:pPr algn="justLow" rtl="1">
              <a:lnSpc>
                <a:spcPct val="200000"/>
              </a:lnSpc>
            </a:pPr>
            <a:r>
              <a:rPr lang="ar-SA" dirty="0" smtClean="0">
                <a:cs typeface="B Roya" pitchFamily="2" charset="-78"/>
              </a:rPr>
              <a:t> </a:t>
            </a:r>
            <a:endParaRPr lang="en-US" dirty="0" smtClean="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5720" y="1285860"/>
            <a:ext cx="8501058" cy="3970318"/>
          </a:xfrm>
          <a:prstGeom prst="rect">
            <a:avLst/>
          </a:prstGeom>
          <a:noFill/>
        </p:spPr>
        <p:txBody>
          <a:bodyPr wrap="square" rtlCol="1">
            <a:spAutoFit/>
          </a:bodyPr>
          <a:lstStyle/>
          <a:p>
            <a:pPr algn="justLow" rtl="1"/>
            <a:r>
              <a:rPr lang="ar-SA" b="1" dirty="0" smtClean="0">
                <a:cs typeface="B Roya" pitchFamily="2" charset="-78"/>
              </a:rPr>
              <a:t>ب-2-1- نرم افزار پرسنلي :</a:t>
            </a:r>
            <a:endParaRPr lang="en-US" dirty="0" smtClean="0">
              <a:cs typeface="B Roya" pitchFamily="2" charset="-78"/>
            </a:endParaRPr>
          </a:p>
          <a:p>
            <a:pPr algn="justLow" rtl="1"/>
            <a:r>
              <a:rPr lang="ar-SA" dirty="0" smtClean="0">
                <a:cs typeface="B Roya" pitchFamily="2" charset="-78"/>
              </a:rPr>
              <a:t>همانطور كه مي‌دانيد درگاه ارتباطي نيروي انساني و مكاتبات مربوط به پرسنل هر دستگاه اداره‌ي كارگزيني در اداره كل امور اداري مي باشد و حجيم‌ترين بخش عمليات اين اداره صدور احكام كارگزيني پرسنل در مقاطع زماني و موارد خاص مربوط به پرسنل مي‌باشد. به همين منظور وجود يك پايگاه اطلاعاتي كامل براي صدور احكام دقيق و صحيح يكي از نيازهاي اساسي هر سازمان به شمار مي‌رود. در سازمان تبليغات اسلامي از ابتدا براي ثبت و صدوراحكام، به شكل دستي عمل مي‌شد. با گذشت زمان و ورود رايانه و</a:t>
            </a:r>
            <a:r>
              <a:rPr lang="en-US" dirty="0" smtClean="0">
                <a:cs typeface="B Roya" pitchFamily="2" charset="-78"/>
              </a:rPr>
              <a:t>IT</a:t>
            </a:r>
            <a:r>
              <a:rPr lang="ar-SA" dirty="0" smtClean="0">
                <a:cs typeface="B Roya" pitchFamily="2" charset="-78"/>
              </a:rPr>
              <a:t> به سازمان‌ها و دستگاه‌ها براي دقت و سرعت بيشتر و تسهيل در صدور احكام از يك نرم افزار تحت سيستم عامل </a:t>
            </a:r>
            <a:r>
              <a:rPr lang="en-US" dirty="0" smtClean="0">
                <a:cs typeface="B Roya" pitchFamily="2" charset="-78"/>
              </a:rPr>
              <a:t>DOS</a:t>
            </a:r>
            <a:r>
              <a:rPr lang="ar-SA" dirty="0" smtClean="0">
                <a:cs typeface="B Roya" pitchFamily="2" charset="-78"/>
              </a:rPr>
              <a:t> با نام </a:t>
            </a:r>
            <a:r>
              <a:rPr lang="en-US" dirty="0" smtClean="0">
                <a:cs typeface="B Roya" pitchFamily="2" charset="-78"/>
              </a:rPr>
              <a:t>MIS</a:t>
            </a:r>
            <a:r>
              <a:rPr lang="ar-SA" dirty="0" smtClean="0">
                <a:cs typeface="B Roya" pitchFamily="2" charset="-78"/>
              </a:rPr>
              <a:t> كه در وزارت جهاد كشاورزي تجربه موفقي داشت و به شكل فايلينگ كار مي كرد استفاده شد.پس از گذشت چندين سال و رشد روزافزون علم </a:t>
            </a:r>
            <a:r>
              <a:rPr lang="en-US" dirty="0" smtClean="0">
                <a:cs typeface="B Roya" pitchFamily="2" charset="-78"/>
              </a:rPr>
              <a:t>IT</a:t>
            </a:r>
            <a:r>
              <a:rPr lang="ar-SA" dirty="0" smtClean="0">
                <a:cs typeface="B Roya" pitchFamily="2" charset="-78"/>
              </a:rPr>
              <a:t> و تجهيز ارگانها به رايانه و پيشرفت روند توليد نرم افزار، ديگر نرم افزار </a:t>
            </a:r>
            <a:r>
              <a:rPr lang="en-US" dirty="0" smtClean="0">
                <a:cs typeface="B Roya" pitchFamily="2" charset="-78"/>
              </a:rPr>
              <a:t>MIS</a:t>
            </a:r>
            <a:r>
              <a:rPr lang="ar-SA" dirty="0" smtClean="0">
                <a:cs typeface="B Roya" pitchFamily="2" charset="-78"/>
              </a:rPr>
              <a:t> نيازهاي جديد كارشناسان اداره كارگزيني را مرتفع نمي‌نمود از اين روسازمان به فكر تهيه نرم افزار جامع اداري- مالي افتاد تا بتواند علاوه بر بروزرساني خود و رفع نيازهاي واحدهاي مختلف، پيوستگي و ارتباط بين نرم افزارهاي مختلف را نيز تامين نمايد. پس از تحقيقات و بررسي‌هاي بعمل آمده در آن مقطع زماني نرم افزار جامع اداري و مالي شركت سازهاي اطلاعاتي رسا انتخاب و خريداري شد. پس از راه اندازي و تبديل اطلاعات از نرم افزار قبلي به نرم افزار جديد كه پايگاه اطلاعاتي آن </a:t>
            </a:r>
            <a:r>
              <a:rPr lang="en-US" dirty="0" smtClean="0">
                <a:cs typeface="B Roya" pitchFamily="2" charset="-78"/>
              </a:rPr>
              <a:t>ORACLE </a:t>
            </a:r>
            <a:r>
              <a:rPr lang="ar-SA" dirty="0" smtClean="0">
                <a:cs typeface="B Roya" pitchFamily="2" charset="-78"/>
              </a:rPr>
              <a:t> بوده و به شكل(</a:t>
            </a:r>
            <a:r>
              <a:rPr lang="en-US" dirty="0" smtClean="0">
                <a:cs typeface="B Roya" pitchFamily="2" charset="-78"/>
              </a:rPr>
              <a:t>Client/Server</a:t>
            </a:r>
            <a:r>
              <a:rPr lang="ar-SA" dirty="0" smtClean="0">
                <a:cs typeface="B Roya" pitchFamily="2" charset="-78"/>
              </a:rPr>
              <a:t>)  كار مي كند تصحيح اطلاعات انجام شد</a:t>
            </a:r>
            <a:endParaRPr lang="fa-IR" dirty="0">
              <a:cs typeface="B Roya" pitchFamily="2" charset="-78"/>
            </a:endParaRPr>
          </a:p>
        </p:txBody>
      </p:sp>
      <p:sp>
        <p:nvSpPr>
          <p:cNvPr id="3" name="Rectangle 2"/>
          <p:cNvSpPr/>
          <p:nvPr/>
        </p:nvSpPr>
        <p:spPr>
          <a:xfrm>
            <a:off x="3714744" y="571480"/>
            <a:ext cx="1717137" cy="507831"/>
          </a:xfrm>
          <a:prstGeom prst="rect">
            <a:avLst/>
          </a:prstGeom>
        </p:spPr>
        <p:txBody>
          <a:bodyPr wrap="none">
            <a:spAutoFit/>
          </a:bodyPr>
          <a:lstStyle/>
          <a:p>
            <a:pPr algn="r" rtl="1">
              <a:lnSpc>
                <a:spcPct val="150000"/>
              </a:lnSpc>
            </a:pPr>
            <a:r>
              <a:rPr lang="ar-SA" b="1" dirty="0" smtClean="0"/>
              <a:t>ب-2- حوزه اداري :</a:t>
            </a:r>
            <a:endParaRPr lang="en-US" dirty="0" smtClean="0"/>
          </a:p>
        </p:txBody>
      </p:sp>
    </p:spTree>
  </p:cSld>
  <p:clrMapOvr>
    <a:masterClrMapping/>
  </p:clrMapOvr>
  <p:transition spd="slow">
    <p:zoom/>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1000108"/>
            <a:ext cx="8429684" cy="4247317"/>
          </a:xfrm>
          <a:prstGeom prst="rect">
            <a:avLst/>
          </a:prstGeom>
          <a:noFill/>
        </p:spPr>
        <p:txBody>
          <a:bodyPr wrap="square" rtlCol="1">
            <a:spAutoFit/>
          </a:bodyPr>
          <a:lstStyle/>
          <a:p>
            <a:pPr algn="justLow" rtl="1"/>
            <a:r>
              <a:rPr lang="ar-SA" dirty="0" smtClean="0">
                <a:cs typeface="B Roya" pitchFamily="2" charset="-78"/>
              </a:rPr>
              <a:t>شايان ذكر است كه نرم افزار پرسنلي جاري از قانون خدمات كشوري و نظام هماهنگ پرداخت پشتيباني مي كند. از جمله امكانات نرم افزار پرسنلي و صدور احكام شركت رساكه به شكل كامل در سازمان تبليغات اسلامي در سطح كشور درحال استفاده مي باشد و پايه و مرتبط كننده تمام نرم افزارهاي ديگر به ويژه سيستم حقوق و دستمزد مي باشد مي توان به موارد ذيل اشاره كرد:</a:t>
            </a:r>
            <a:endParaRPr lang="en-US" dirty="0" smtClean="0">
              <a:cs typeface="B Roya" pitchFamily="2" charset="-78"/>
            </a:endParaRPr>
          </a:p>
          <a:p>
            <a:pPr algn="justLow" rtl="1"/>
            <a:r>
              <a:rPr lang="ar-SA" dirty="0" smtClean="0">
                <a:cs typeface="B Roya" pitchFamily="2" charset="-78"/>
              </a:rPr>
              <a:t>-بانك اطاعات كامل اطلاعات شخصي و استخدامي پرسنل </a:t>
            </a:r>
            <a:endParaRPr lang="en-US" dirty="0" smtClean="0">
              <a:cs typeface="B Roya" pitchFamily="2" charset="-78"/>
            </a:endParaRPr>
          </a:p>
          <a:p>
            <a:pPr algn="justLow" rtl="1"/>
            <a:r>
              <a:rPr lang="ar-SA" dirty="0" smtClean="0">
                <a:cs typeface="B Roya" pitchFamily="2" charset="-78"/>
              </a:rPr>
              <a:t>- امكان تعريف سازمان وچارت سازماني در بيش از پنج سطح</a:t>
            </a:r>
            <a:endParaRPr lang="en-US" dirty="0" smtClean="0">
              <a:cs typeface="B Roya" pitchFamily="2" charset="-78"/>
            </a:endParaRPr>
          </a:p>
          <a:p>
            <a:pPr algn="justLow" rtl="1"/>
            <a:r>
              <a:rPr lang="ar-SA" dirty="0" smtClean="0">
                <a:cs typeface="B Roya" pitchFamily="2" charset="-78"/>
              </a:rPr>
              <a:t>-امكان تعريف انواع استخدام و پرداخت‌هاي مربوط به هر نوع استخدام، انتصاب، مدارك و مقاطع تحصيلي</a:t>
            </a:r>
            <a:endParaRPr lang="en-US" dirty="0" smtClean="0">
              <a:cs typeface="B Roya" pitchFamily="2" charset="-78"/>
            </a:endParaRPr>
          </a:p>
          <a:p>
            <a:pPr algn="justLow" rtl="1"/>
            <a:r>
              <a:rPr lang="ar-SA" dirty="0" smtClean="0">
                <a:cs typeface="B Roya" pitchFamily="2" charset="-78"/>
              </a:rPr>
              <a:t>- امكان تعريف رسته ها و رشته ها و نيز ضرايب مربوطه آنها</a:t>
            </a:r>
            <a:endParaRPr lang="en-US" dirty="0" smtClean="0">
              <a:cs typeface="B Roya" pitchFamily="2" charset="-78"/>
            </a:endParaRPr>
          </a:p>
          <a:p>
            <a:pPr algn="justLow" rtl="1"/>
            <a:r>
              <a:rPr lang="ar-SA" dirty="0" smtClean="0">
                <a:cs typeface="B Roya" pitchFamily="2" charset="-78"/>
              </a:rPr>
              <a:t>- امكان تعريف استانها، شهرها و شهرستانها و نيز ضرايب مربوطه آنها براي محاسباتي از جمله بدي آب و هوا ، تسهيلات زندگي و....</a:t>
            </a:r>
            <a:endParaRPr lang="en-US" dirty="0" smtClean="0">
              <a:cs typeface="B Roya" pitchFamily="2" charset="-78"/>
            </a:endParaRPr>
          </a:p>
          <a:p>
            <a:pPr algn="justLow" rtl="1"/>
            <a:r>
              <a:rPr lang="ar-SA" dirty="0" smtClean="0">
                <a:cs typeface="B Roya" pitchFamily="2" charset="-78"/>
              </a:rPr>
              <a:t>- مشخص نمودن زمان ارتقا گروه استحقاقي (در نظام هماهنگ) رتبه و طبقه (در قانون خدمات كشوري) بعدي پرسنل</a:t>
            </a:r>
            <a:endParaRPr lang="en-US" dirty="0" smtClean="0">
              <a:cs typeface="B Roya" pitchFamily="2" charset="-78"/>
            </a:endParaRPr>
          </a:p>
          <a:p>
            <a:pPr algn="justLow" rtl="1"/>
            <a:r>
              <a:rPr lang="ar-SA" dirty="0" smtClean="0">
                <a:cs typeface="B Roya" pitchFamily="2" charset="-78"/>
              </a:rPr>
              <a:t>- امكان صدور انواع احكامكارگزيني به شكل واحد وگروهي</a:t>
            </a:r>
            <a:endParaRPr lang="en-US" dirty="0" smtClean="0">
              <a:cs typeface="B Roya" pitchFamily="2" charset="-78"/>
            </a:endParaRPr>
          </a:p>
          <a:p>
            <a:pPr algn="justLow" rtl="1"/>
            <a:r>
              <a:rPr lang="ar-SA" dirty="0" smtClean="0">
                <a:cs typeface="B Roya" pitchFamily="2" charset="-78"/>
              </a:rPr>
              <a:t>- ثبت و تاييد ماموريت‌هاي پرسنل</a:t>
            </a:r>
            <a:endParaRPr lang="en-US" dirty="0" smtClean="0">
              <a:cs typeface="B Roya" pitchFamily="2" charset="-78"/>
            </a:endParaRPr>
          </a:p>
          <a:p>
            <a:pPr algn="justLow" rtl="1"/>
            <a:r>
              <a:rPr lang="ar-SA" dirty="0" smtClean="0">
                <a:cs typeface="B Roya" pitchFamily="2" charset="-78"/>
              </a:rPr>
              <a:t>- ثبت و تاييد ارزشيابي و آموزش پرسنل براي تاثير مستقيم در احكام</a:t>
            </a:r>
            <a:endParaRPr lang="en-US" dirty="0" smtClean="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1071546"/>
            <a:ext cx="8358246" cy="4247317"/>
          </a:xfrm>
          <a:prstGeom prst="rect">
            <a:avLst/>
          </a:prstGeom>
          <a:noFill/>
        </p:spPr>
        <p:txBody>
          <a:bodyPr wrap="square" rtlCol="1">
            <a:spAutoFit/>
          </a:bodyPr>
          <a:lstStyle/>
          <a:p>
            <a:pPr algn="justLow" rtl="1"/>
            <a:r>
              <a:rPr lang="ar-SA" dirty="0" smtClean="0">
                <a:cs typeface="B Roya" pitchFamily="2" charset="-78"/>
              </a:rPr>
              <a:t>- توليد انواع فرمهاي بازنشستگي با محاسبه اطلاعات احكام سنوات قبل براي پرسنل بازنشسته جهت ارائه به سازمان بازنشستگي كشور</a:t>
            </a:r>
            <a:endParaRPr lang="en-US" dirty="0" smtClean="0">
              <a:cs typeface="B Roya" pitchFamily="2" charset="-78"/>
            </a:endParaRPr>
          </a:p>
          <a:p>
            <a:pPr algn="justLow" rtl="1"/>
            <a:r>
              <a:rPr lang="ar-SA" dirty="0" smtClean="0">
                <a:cs typeface="B Roya" pitchFamily="2" charset="-78"/>
              </a:rPr>
              <a:t>- توليد گزارشات با قالب هاي ثابت و متغيير توسط گزارش ساز پويا</a:t>
            </a:r>
            <a:endParaRPr lang="en-US" dirty="0" smtClean="0">
              <a:cs typeface="B Roya" pitchFamily="2" charset="-78"/>
            </a:endParaRPr>
          </a:p>
          <a:p>
            <a:pPr algn="justLow" rtl="1"/>
            <a:r>
              <a:rPr lang="ar-SA" b="1" u="sng" dirty="0" smtClean="0">
                <a:cs typeface="B Roya" pitchFamily="2" charset="-78"/>
              </a:rPr>
              <a:t>ب-2-1- نرم افزار انبار :</a:t>
            </a:r>
            <a:endParaRPr lang="en-US" dirty="0" smtClean="0">
              <a:cs typeface="B Roya" pitchFamily="2" charset="-78"/>
            </a:endParaRPr>
          </a:p>
          <a:p>
            <a:pPr algn="justLow" rtl="1"/>
            <a:r>
              <a:rPr lang="ar-SA" dirty="0" smtClean="0">
                <a:cs typeface="B Roya" pitchFamily="2" charset="-78"/>
              </a:rPr>
              <a:t>اين نرم‌افزار جزء برنامه هاي  شركت رسا مي باشد كه به صورت  يكپارچه با ساير نرم افزار ها كار مي كند از جمله دريافت اطلاعات پرسنل از سيستم پرسنلي . خلاصه امكانات موجود در اين نرم افزار به شرح زير مي باشد :</a:t>
            </a:r>
            <a:endParaRPr lang="en-US" dirty="0" smtClean="0">
              <a:cs typeface="B Roya" pitchFamily="2" charset="-78"/>
            </a:endParaRPr>
          </a:p>
          <a:p>
            <a:pPr lvl="0" algn="justLow" rtl="1"/>
            <a:r>
              <a:rPr lang="ar-SA" dirty="0" smtClean="0">
                <a:cs typeface="B Roya" pitchFamily="2" charset="-78"/>
              </a:rPr>
              <a:t>ثبت و طبقه بندي كالاها با استفاده از تعريف چهار سطح كدينگ كالا</a:t>
            </a:r>
            <a:endParaRPr lang="en-US" dirty="0" smtClean="0">
              <a:cs typeface="B Roya" pitchFamily="2" charset="-78"/>
            </a:endParaRPr>
          </a:p>
          <a:p>
            <a:pPr lvl="0" algn="justLow" rtl="1"/>
            <a:r>
              <a:rPr lang="ar-SA" dirty="0" smtClean="0">
                <a:cs typeface="B Roya" pitchFamily="2" charset="-78"/>
              </a:rPr>
              <a:t>امكان مشاهده اسناد صادره از انبار و وارده به انبار بر اساس تفكيك سال </a:t>
            </a:r>
            <a:endParaRPr lang="en-US" dirty="0" smtClean="0">
              <a:cs typeface="B Roya" pitchFamily="2" charset="-78"/>
            </a:endParaRPr>
          </a:p>
          <a:p>
            <a:pPr lvl="0" algn="justLow" rtl="1"/>
            <a:r>
              <a:rPr lang="ar-SA" dirty="0" smtClean="0">
                <a:cs typeface="B Roya" pitchFamily="2" charset="-78"/>
              </a:rPr>
              <a:t>امكان تعريف انبار هاي مختلف و ثبت كالا و كنترل ورود و خروج كالا در هر كدام از انبار ها به تفكيك</a:t>
            </a:r>
            <a:endParaRPr lang="en-US" dirty="0" smtClean="0">
              <a:cs typeface="B Roya" pitchFamily="2" charset="-78"/>
            </a:endParaRPr>
          </a:p>
          <a:p>
            <a:pPr lvl="0" algn="justLow" rtl="1"/>
            <a:r>
              <a:rPr lang="ar-SA" dirty="0" smtClean="0">
                <a:cs typeface="B Roya" pitchFamily="2" charset="-78"/>
              </a:rPr>
              <a:t>امكان ثبت درخواست كالا براي مراكز هزينه مختلف با توجه به مقدار موجودي كالا</a:t>
            </a:r>
            <a:endParaRPr lang="en-US" dirty="0" smtClean="0">
              <a:cs typeface="B Roya" pitchFamily="2" charset="-78"/>
            </a:endParaRPr>
          </a:p>
          <a:p>
            <a:pPr lvl="0" algn="justLow" rtl="1"/>
            <a:r>
              <a:rPr lang="ar-SA" dirty="0" smtClean="0">
                <a:cs typeface="B Roya" pitchFamily="2" charset="-78"/>
              </a:rPr>
              <a:t>امكان ثبت حواله ، برگ خروج ، برگشت از خروج كالا ، انتقال بين انبار ها ، رسيد انبار ،‌ در خواست خريد ، رسيد بر اساس درخواست خريد و رسيد مرجوعي</a:t>
            </a:r>
            <a:endParaRPr lang="en-US" dirty="0" smtClean="0">
              <a:cs typeface="B Roya" pitchFamily="2" charset="-78"/>
            </a:endParaRPr>
          </a:p>
          <a:p>
            <a:pPr lvl="0" algn="justLow" rtl="1"/>
            <a:r>
              <a:rPr lang="ar-SA" dirty="0" smtClean="0">
                <a:cs typeface="B Roya" pitchFamily="2" charset="-78"/>
              </a:rPr>
              <a:t>امكان انبار گرداني و انتقال موجودي مقداري ريالي كالاها به سال بعد در سيستم حسابداري انبار</a:t>
            </a:r>
            <a:endParaRPr lang="en-US" dirty="0" smtClean="0">
              <a:cs typeface="B Roya" pitchFamily="2" charset="-78"/>
            </a:endParaRPr>
          </a:p>
          <a:p>
            <a:pPr lvl="0" algn="justLow" rtl="1"/>
            <a:r>
              <a:rPr lang="ar-SA" dirty="0" smtClean="0">
                <a:cs typeface="B Roya" pitchFamily="2" charset="-78"/>
              </a:rPr>
              <a:t>دريافت گزارشات مختلف با توجه به گردش كار ثبت شده در سيستم ازجمله كاردكس انبار ، خلاصه گردش كالا، موجودي و ماهيت كالا ، گزارش مغايرت موجودي و كاردكس ، رسيد و حواله هاي انبار ، .... </a:t>
            </a:r>
            <a:endParaRPr lang="en-US" dirty="0" smtClean="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158" y="928670"/>
            <a:ext cx="8501090" cy="4247317"/>
          </a:xfrm>
          <a:prstGeom prst="rect">
            <a:avLst/>
          </a:prstGeom>
          <a:noFill/>
        </p:spPr>
        <p:txBody>
          <a:bodyPr wrap="square" rtlCol="1">
            <a:spAutoFit/>
          </a:bodyPr>
          <a:lstStyle/>
          <a:p>
            <a:pPr algn="justLow" rtl="1"/>
            <a:r>
              <a:rPr lang="ar-SA" b="1" u="sng" dirty="0" smtClean="0">
                <a:cs typeface="B Roya" pitchFamily="2" charset="-78"/>
              </a:rPr>
              <a:t>ب-2-3- نرم افزار آموزش :</a:t>
            </a:r>
            <a:endParaRPr lang="en-US" dirty="0" smtClean="0">
              <a:cs typeface="B Roya" pitchFamily="2" charset="-78"/>
            </a:endParaRPr>
          </a:p>
          <a:p>
            <a:pPr algn="justLow" rtl="1"/>
            <a:r>
              <a:rPr lang="ar-SA" dirty="0" smtClean="0">
                <a:cs typeface="B Roya" pitchFamily="2" charset="-78"/>
              </a:rPr>
              <a:t>اين نرم افزار در سال 1389 در واحد انفورماتيك تهيه گرديده كه هم اكنون نيز در دست بررسي و ورود اطلاعات اوليه توسط كاربران مي باشد. كليه موارد اجرايي در اين سيستم بر اساس درخواست اداره آموزش و گردش كار موجود در آن اداره مي‌باشد. اين نرم افزار از اطلاعات ثبت شده در سيستم پرسنلي استفاده مي كند. در زير به بخشي از امكانات موجود اشاره مي گردد:</a:t>
            </a:r>
            <a:endParaRPr lang="en-US" dirty="0" smtClean="0">
              <a:cs typeface="B Roya" pitchFamily="2" charset="-78"/>
            </a:endParaRPr>
          </a:p>
          <a:p>
            <a:pPr lvl="0" algn="justLow" rtl="1">
              <a:buFont typeface="Wingdings" pitchFamily="2" charset="2"/>
              <a:buChar char="Ø"/>
            </a:pPr>
            <a:r>
              <a:rPr lang="ar-SA" dirty="0" smtClean="0">
                <a:cs typeface="B Roya" pitchFamily="2" charset="-78"/>
              </a:rPr>
              <a:t>امكان مشاهده اطلاعات رسته‌ ، رشته شغلي ، پستهاي مربوطه تعريف شده در سيستم پرسنلي</a:t>
            </a:r>
            <a:endParaRPr lang="en-US" dirty="0" smtClean="0">
              <a:cs typeface="B Roya" pitchFamily="2" charset="-78"/>
            </a:endParaRPr>
          </a:p>
          <a:p>
            <a:pPr lvl="0" algn="justLow" rtl="1">
              <a:buFont typeface="Wingdings" pitchFamily="2" charset="2"/>
              <a:buChar char="Ø"/>
            </a:pPr>
            <a:r>
              <a:rPr lang="ar-SA" dirty="0" smtClean="0">
                <a:cs typeface="B Roya" pitchFamily="2" charset="-78"/>
              </a:rPr>
              <a:t>امكان تفكيك رشته شغلي ها بر اساس نوع رشته شغلي اختصاصي و مشترك امور اداري</a:t>
            </a:r>
            <a:endParaRPr lang="en-US" dirty="0" smtClean="0">
              <a:cs typeface="B Roya" pitchFamily="2" charset="-78"/>
            </a:endParaRPr>
          </a:p>
          <a:p>
            <a:pPr lvl="0" algn="justLow" rtl="1">
              <a:buFont typeface="Wingdings" pitchFamily="2" charset="2"/>
              <a:buChar char="Ø"/>
            </a:pPr>
            <a:r>
              <a:rPr lang="ar-SA" dirty="0" smtClean="0">
                <a:cs typeface="B Roya" pitchFamily="2" charset="-78"/>
              </a:rPr>
              <a:t>امكان تفكيك پستهاي رشته شغلي ها </a:t>
            </a:r>
            <a:endParaRPr lang="en-US" dirty="0" smtClean="0">
              <a:cs typeface="B Roya" pitchFamily="2" charset="-78"/>
            </a:endParaRPr>
          </a:p>
          <a:p>
            <a:pPr lvl="0" algn="justLow" rtl="1">
              <a:buFont typeface="Wingdings" pitchFamily="2" charset="2"/>
              <a:buChar char="Ø"/>
            </a:pPr>
            <a:r>
              <a:rPr lang="ar-SA" dirty="0" smtClean="0">
                <a:cs typeface="B Roya" pitchFamily="2" charset="-78"/>
              </a:rPr>
              <a:t>امكان تعريف دوره هاي آموزشي بر اساس طبقه بندي مورد نظر اداره آموزش و تعريف هر دوره آموزشي به صورت يكتا</a:t>
            </a:r>
            <a:endParaRPr lang="en-US" dirty="0" smtClean="0">
              <a:cs typeface="B Roya" pitchFamily="2" charset="-78"/>
            </a:endParaRPr>
          </a:p>
          <a:p>
            <a:pPr lvl="0" algn="justLow" rtl="1">
              <a:buFont typeface="Wingdings" pitchFamily="2" charset="2"/>
              <a:buChar char="Ø"/>
            </a:pPr>
            <a:r>
              <a:rPr lang="ar-SA" dirty="0" smtClean="0">
                <a:cs typeface="B Roya" pitchFamily="2" charset="-78"/>
              </a:rPr>
              <a:t>امكان اختصاص دوره هاي ثبت شده به پستهاي مورد نظر مربوط به هر دو نوع رشته شغلي اختصاصي و مشترك امور اداري</a:t>
            </a:r>
            <a:endParaRPr lang="en-US" dirty="0" smtClean="0">
              <a:cs typeface="B Roya" pitchFamily="2" charset="-78"/>
            </a:endParaRPr>
          </a:p>
          <a:p>
            <a:pPr lvl="0" algn="justLow" rtl="1">
              <a:buFont typeface="Wingdings" pitchFamily="2" charset="2"/>
              <a:buChar char="Ø"/>
            </a:pPr>
            <a:r>
              <a:rPr lang="ar-SA" dirty="0" smtClean="0">
                <a:cs typeface="B Roya" pitchFamily="2" charset="-78"/>
              </a:rPr>
              <a:t>امكان تعريف و ثبت طرح درس</a:t>
            </a:r>
            <a:endParaRPr lang="en-US" dirty="0" smtClean="0">
              <a:cs typeface="B Roya" pitchFamily="2" charset="-78"/>
            </a:endParaRPr>
          </a:p>
          <a:p>
            <a:pPr lvl="0" algn="justLow" rtl="1">
              <a:buFont typeface="Wingdings" pitchFamily="2" charset="2"/>
              <a:buChar char="Ø"/>
            </a:pPr>
            <a:r>
              <a:rPr lang="ar-SA" dirty="0" smtClean="0">
                <a:cs typeface="B Roya" pitchFamily="2" charset="-78"/>
              </a:rPr>
              <a:t>امكان تعريف اطلاعات مدرسين و موسسات مورد نظر و اسكن اسناد مرتبط </a:t>
            </a:r>
            <a:endParaRPr lang="en-US" dirty="0" smtClean="0">
              <a:cs typeface="B Roya" pitchFamily="2" charset="-78"/>
            </a:endParaRPr>
          </a:p>
          <a:p>
            <a:pPr lvl="0" algn="justLow" rtl="1">
              <a:buFont typeface="Wingdings" pitchFamily="2" charset="2"/>
              <a:buChar char="Ø"/>
            </a:pPr>
            <a:r>
              <a:rPr lang="ar-SA" dirty="0" smtClean="0">
                <a:cs typeface="B Roya" pitchFamily="2" charset="-78"/>
              </a:rPr>
              <a:t>امكان ثبت تقويم آموزشي ، برنامه ريزي دوره ، حضور و غياب ، ثبت اطلاعات آزمون </a:t>
            </a:r>
            <a:endParaRPr lang="en-US" dirty="0" smtClean="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785794"/>
            <a:ext cx="8215338" cy="4801314"/>
          </a:xfrm>
          <a:prstGeom prst="rect">
            <a:avLst/>
          </a:prstGeom>
          <a:noFill/>
        </p:spPr>
        <p:txBody>
          <a:bodyPr wrap="square" rtlCol="1">
            <a:spAutoFit/>
          </a:bodyPr>
          <a:lstStyle/>
          <a:p>
            <a:pPr lvl="0" algn="justLow" rtl="1">
              <a:buFont typeface="Wingdings" pitchFamily="2" charset="2"/>
              <a:buChar char="Ø"/>
            </a:pPr>
            <a:r>
              <a:rPr lang="ar-SA" dirty="0" smtClean="0">
                <a:cs typeface="B Roya" pitchFamily="2" charset="-78"/>
              </a:rPr>
              <a:t>امكان ثبت گواهينامه آموزشي پرسنل بر اساس دوره هاي گذرانده داخل سازمان و خارج سازمان و امكان مشاهده تمامي دوره هاي گذرانده هر پرسنل و شناسنامه آموزشي </a:t>
            </a:r>
            <a:endParaRPr lang="en-US" dirty="0" smtClean="0">
              <a:cs typeface="B Roya" pitchFamily="2" charset="-78"/>
            </a:endParaRPr>
          </a:p>
          <a:p>
            <a:pPr lvl="0" algn="justLow" rtl="1">
              <a:buFont typeface="Wingdings" pitchFamily="2" charset="2"/>
              <a:buChar char="Ø"/>
            </a:pPr>
            <a:r>
              <a:rPr lang="ar-SA" dirty="0" smtClean="0">
                <a:cs typeface="B Roya" pitchFamily="2" charset="-78"/>
              </a:rPr>
              <a:t>امكان ثبت اطلاعات مربوط به هر آزمون و مدرس مربوطه</a:t>
            </a:r>
            <a:endParaRPr lang="en-US" dirty="0" smtClean="0">
              <a:cs typeface="B Roya" pitchFamily="2" charset="-78"/>
            </a:endParaRPr>
          </a:p>
          <a:p>
            <a:pPr lvl="0" algn="justLow" rtl="1">
              <a:buFont typeface="Wingdings" pitchFamily="2" charset="2"/>
              <a:buChar char="Ø"/>
            </a:pPr>
            <a:r>
              <a:rPr lang="ar-SA" dirty="0" smtClean="0">
                <a:cs typeface="B Roya" pitchFamily="2" charset="-78"/>
              </a:rPr>
              <a:t>امكان گزارش گيري ليست پرسنل بر اساس رسته، رشته شغلي و ليست پرسنل بر اساس گروه و مركز هزينه</a:t>
            </a:r>
            <a:endParaRPr lang="en-US" dirty="0" smtClean="0">
              <a:cs typeface="B Roya" pitchFamily="2" charset="-78"/>
            </a:endParaRPr>
          </a:p>
          <a:p>
            <a:pPr algn="justLow" rtl="1"/>
            <a:r>
              <a:rPr lang="ar-SA" b="1" u="sng" dirty="0" smtClean="0">
                <a:cs typeface="B Roya" pitchFamily="2" charset="-78"/>
              </a:rPr>
              <a:t>ب-3-</a:t>
            </a:r>
            <a:r>
              <a:rPr lang="fa-IR" b="1" u="sng" dirty="0" smtClean="0">
                <a:cs typeface="B Roya" pitchFamily="2" charset="-78"/>
              </a:rPr>
              <a:t>نرم افزار مكانيزه</a:t>
            </a:r>
            <a:r>
              <a:rPr lang="ar-SA" b="1" u="sng" dirty="0" smtClean="0">
                <a:cs typeface="B Roya" pitchFamily="2" charset="-78"/>
              </a:rPr>
              <a:t> حراست :</a:t>
            </a:r>
            <a:endParaRPr lang="en-US" dirty="0" smtClean="0">
              <a:cs typeface="B Roya" pitchFamily="2" charset="-78"/>
            </a:endParaRPr>
          </a:p>
          <a:p>
            <a:pPr algn="justLow" rtl="1"/>
            <a:r>
              <a:rPr lang="ar-SA" dirty="0" smtClean="0">
                <a:cs typeface="B Roya" pitchFamily="2" charset="-78"/>
              </a:rPr>
              <a:t> وجود مأموريتهاي خاص و بعضاً محرمانه و نيز مكاتباتي از اين قبيل، كه در حوزه حراست سازمان و حراست كل كشور وجود دارد غير از مكاتبات عادي و محرمانه سازمان نياز به يك ارتباط خاص بين حراست‌هاي سازمان‌ها و دستگاه‌هاي مختلف است كه با توجه به طرح جامع حراست كل كشور مبني بر استفاده از يك نرم افزار مكاتباتي جامع سيستم شركت پايانه‌هاي داده‌هاي نوين با نام </a:t>
            </a:r>
            <a:r>
              <a:rPr lang="en-US" dirty="0" smtClean="0">
                <a:cs typeface="B Roya" pitchFamily="2" charset="-78"/>
              </a:rPr>
              <a:t>PDN</a:t>
            </a:r>
            <a:r>
              <a:rPr lang="ar-SA" dirty="0" smtClean="0">
                <a:cs typeface="B Roya" pitchFamily="2" charset="-78"/>
              </a:rPr>
              <a:t> انتخاب و در حراست نصب و راه‌اندازي گرديد كه با توجه به محدوده دسترسي بين افراد مشغول به كار در حراست و نحوه ارتباط با دستگاه‌هاي ديگر مكاتبات خاص محرمانه در حال تبادل مي باشد.</a:t>
            </a:r>
            <a:endParaRPr lang="fa-IR" dirty="0" smtClean="0">
              <a:cs typeface="B Roya" pitchFamily="2" charset="-78"/>
            </a:endParaRPr>
          </a:p>
          <a:p>
            <a:pPr algn="justLow" rtl="1"/>
            <a:r>
              <a:rPr lang="ar-SA" b="1" u="sng" dirty="0" smtClean="0">
                <a:cs typeface="B Roya" pitchFamily="2" charset="-78"/>
              </a:rPr>
              <a:t> ب-4-</a:t>
            </a:r>
            <a:r>
              <a:rPr lang="fa-IR" b="1" u="sng" dirty="0" smtClean="0">
                <a:cs typeface="B Roya" pitchFamily="2" charset="-78"/>
              </a:rPr>
              <a:t> نرم افزار مكانيزه هيئت رسيدگي به تخلفات اداري</a:t>
            </a:r>
            <a:r>
              <a:rPr lang="ar-SA" b="1" u="sng" dirty="0" smtClean="0">
                <a:cs typeface="B Roya" pitchFamily="2" charset="-78"/>
              </a:rPr>
              <a:t> :</a:t>
            </a:r>
            <a:endParaRPr lang="en-US" dirty="0" smtClean="0">
              <a:cs typeface="B Roya" pitchFamily="2" charset="-78"/>
            </a:endParaRPr>
          </a:p>
          <a:p>
            <a:pPr algn="justLow" rtl="1"/>
            <a:r>
              <a:rPr lang="ar-SA" dirty="0" smtClean="0">
                <a:cs typeface="B Roya" pitchFamily="2" charset="-78"/>
              </a:rPr>
              <a:t> براي نگهداري پرونده‌هاي تخلفاتي كه بايد به شكل محرمانه و جداگانه نگهداري و روند كار آن پيشرفت داشته باشد تا به صدور رأي هيئت‌هاي مختلف منجر گردد نياز به يك بانك اطلاعاتي جداگانه و پويا به نظر مي رسد و نيز به دليل اينكه اعضاي هيئت‌هاي تخلفات مي‌توانند در ارگان‌هاي خارج سازمان مشغول به كار باشند بايد نرم افزار فوق تحت وب نيز كار كند به همين منظور پيرو برگزاري جلسه مورخ 6/8/88 در خصوص معرفي نرم افزار تخلفات اداري محصول شركت</a:t>
            </a:r>
            <a:endParaRPr lang="en-US" dirty="0" smtClean="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57158" y="1000108"/>
            <a:ext cx="8501090" cy="3970318"/>
          </a:xfrm>
          <a:prstGeom prst="rect">
            <a:avLst/>
          </a:prstGeom>
          <a:noFill/>
        </p:spPr>
        <p:txBody>
          <a:bodyPr wrap="square" rtlCol="1">
            <a:spAutoFit/>
          </a:bodyPr>
          <a:lstStyle/>
          <a:p>
            <a:pPr algn="justLow" rtl="1"/>
            <a:r>
              <a:rPr lang="ar-SA" dirty="0" smtClean="0">
                <a:cs typeface="B Roya" pitchFamily="2" charset="-78"/>
              </a:rPr>
              <a:t>نرم افزاري طلايه داران رايان آريا در دفتر هماهنگي هيأتهاي رسيدگي به تخلفات اداري وزارت آموزش و پرورش كه با حضور مسئولين دفاتر هماهنگي وزارتخانه ها و سازمان ها و نماينده هيأت عالي نظارت برگزار گرديد سازمان تصميم به تهيه نرم افزار مذكور گرفت. لذا از نماينده شركت دعوت گرديد تا جهت معرفي و توضيح كامل نرم افزار جلسه اي را با حضور كارشناسان سازمان برگزار نمايند. پس از برگزاري اين جلسه و بيان نيازهاي دبيرخانه هيات تخلفات مقرر شد جهت آشنايي بيشتر با عملكرد نرم افزار يكي از نهادهايي كه سامانه در آن راه اندازي و مورد بهره برداري قرار گرفته است از نزديك ديده شود كه بدين منظور وزارت ارتباطات و فناوري اطلاعات با هماهنگي قبلي  مد نظر قرار گرفت. با انجام اين مهم پس از بحث و تبادل نظر تصميم بر آن شد تا سامانه مورد نظر به صورت آزمايشي و براي مدت چند ماه در محل دبيرخانه هماهنگي اين سازمان نصب و راه اندازي گرديده و مورد آزمايش قرار گرفته تا نقاط ضعف و قوت آن به خوبي ملموس و آشكار شود. با توافقات صورت گرفته پس از ايجاد امكانات و بسترهاي لازم از سوي واحد انفورماتيك اين امر صورت پذيرفت.</a:t>
            </a:r>
            <a:endParaRPr lang="en-US" dirty="0" smtClean="0">
              <a:cs typeface="B Roya" pitchFamily="2" charset="-78"/>
            </a:endParaRPr>
          </a:p>
          <a:p>
            <a:pPr algn="justLow" rtl="1"/>
            <a:r>
              <a:rPr lang="ar-SA" dirty="0" smtClean="0">
                <a:cs typeface="B Roya" pitchFamily="2" charset="-78"/>
              </a:rPr>
              <a:t>پس از طي مراحل نصب و بهره برداري موقت ، كه تقريباً حدود سه ماه به طول انجاميد نواقص و كاستي ها و ايرادات نرم افزار توسط كارشناسان استخراج و به نماينده شركت اعلام گرديد كه ايشان نيز نسبت به رفع و اصلاح آن و به نوعي بومي سازي و يكسان سازي سامانه اقدام نمودند. هم اكنون در فاز خريد نرم افزار مي باشد.</a:t>
            </a:r>
            <a:endParaRPr lang="en-US" dirty="0" smtClean="0">
              <a:cs typeface="B Roya" pitchFamily="2" charset="-78"/>
            </a:endParaRPr>
          </a:p>
          <a:p>
            <a:pPr algn="justLow"/>
            <a:endParaRPr lang="fa-IR" dirty="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1071546"/>
            <a:ext cx="8215370" cy="4247317"/>
          </a:xfrm>
          <a:prstGeom prst="rect">
            <a:avLst/>
          </a:prstGeom>
          <a:noFill/>
        </p:spPr>
        <p:txBody>
          <a:bodyPr wrap="square" rtlCol="1">
            <a:spAutoFit/>
          </a:bodyPr>
          <a:lstStyle/>
          <a:p>
            <a:pPr algn="justLow" rtl="1"/>
            <a:r>
              <a:rPr lang="ar-SA" b="1" u="sng" dirty="0" smtClean="0">
                <a:cs typeface="B Roya" pitchFamily="2" charset="-78"/>
              </a:rPr>
              <a:t>ب-5-</a:t>
            </a:r>
            <a:r>
              <a:rPr lang="fa-IR" b="1" u="sng" dirty="0" smtClean="0">
                <a:cs typeface="B Roya" pitchFamily="2" charset="-78"/>
              </a:rPr>
              <a:t> نرم افزار مكانيزه هسته مركزي</a:t>
            </a:r>
            <a:r>
              <a:rPr lang="ar-SA" b="1" u="sng" dirty="0" smtClean="0">
                <a:cs typeface="B Roya" pitchFamily="2" charset="-78"/>
              </a:rPr>
              <a:t> گزينش : </a:t>
            </a:r>
            <a:endParaRPr lang="en-US" dirty="0" smtClean="0">
              <a:cs typeface="B Roya" pitchFamily="2" charset="-78"/>
            </a:endParaRPr>
          </a:p>
          <a:p>
            <a:pPr algn="justLow" rtl="1"/>
            <a:r>
              <a:rPr lang="ar-SA" dirty="0" smtClean="0">
                <a:cs typeface="B Roya" pitchFamily="2" charset="-78"/>
              </a:rPr>
              <a:t>در مركز گزينش نرم افزاري از سوي هيئت عالي گزينش تهيه گرديده كه اطلاعات گزينشي پرسنل در آن ثبت مي گردد.</a:t>
            </a:r>
            <a:endParaRPr lang="en-US" dirty="0" smtClean="0">
              <a:cs typeface="B Roya" pitchFamily="2" charset="-78"/>
            </a:endParaRPr>
          </a:p>
          <a:p>
            <a:pPr algn="justLow" rtl="1"/>
            <a:r>
              <a:rPr lang="ar-SA" dirty="0" smtClean="0">
                <a:cs typeface="B Roya" pitchFamily="2" charset="-78"/>
              </a:rPr>
              <a:t>اين نرم افزار بر روي دستگاهي راه اندازي شده كه به هيچ شبكه اي متصل نیست.</a:t>
            </a:r>
            <a:endParaRPr lang="en-US" dirty="0" smtClean="0">
              <a:cs typeface="B Roya" pitchFamily="2" charset="-78"/>
            </a:endParaRPr>
          </a:p>
          <a:p>
            <a:pPr algn="justLow" rtl="1"/>
            <a:r>
              <a:rPr lang="ar-SA" b="1" dirty="0" smtClean="0">
                <a:cs typeface="B Roya" pitchFamily="2" charset="-78"/>
              </a:rPr>
              <a:t>: </a:t>
            </a:r>
            <a:endParaRPr lang="fa-IR" b="1" dirty="0" smtClean="0">
              <a:cs typeface="B Roya" pitchFamily="2" charset="-78"/>
            </a:endParaRPr>
          </a:p>
          <a:p>
            <a:pPr algn="ctr" rtl="1"/>
            <a:r>
              <a:rPr lang="ar-SA" b="1" dirty="0" smtClean="0">
                <a:solidFill>
                  <a:srgbClr val="FF0000"/>
                </a:solidFill>
                <a:cs typeface="B Roya" pitchFamily="2" charset="-78"/>
              </a:rPr>
              <a:t>نرم افزارهاي حوزه فرهنگي </a:t>
            </a:r>
            <a:endParaRPr lang="en-US" dirty="0" smtClean="0">
              <a:solidFill>
                <a:srgbClr val="FF0000"/>
              </a:solidFill>
              <a:cs typeface="B Roya" pitchFamily="2" charset="-78"/>
            </a:endParaRPr>
          </a:p>
          <a:p>
            <a:pPr algn="justLow" rtl="1"/>
            <a:r>
              <a:rPr lang="ar-SA" b="1" u="sng" dirty="0" smtClean="0">
                <a:cs typeface="B Roya" pitchFamily="2" charset="-78"/>
              </a:rPr>
              <a:t>ب-6-1- نرم افزار اعزام مبلغ :</a:t>
            </a:r>
            <a:endParaRPr lang="en-US" dirty="0" smtClean="0">
              <a:cs typeface="B Roya" pitchFamily="2" charset="-78"/>
            </a:endParaRPr>
          </a:p>
          <a:p>
            <a:pPr algn="justLow" rtl="1"/>
            <a:r>
              <a:rPr lang="fa-IR" dirty="0" smtClean="0">
                <a:cs typeface="B Roya" pitchFamily="2" charset="-78"/>
              </a:rPr>
              <a:t>در راستای اهداف راهبری سازمان محترم تبلیغات اسلامی درافزایش راندمان فعالیتها و استفاده بهتر از منابع و همچنین بکارگیری امکانات </a:t>
            </a:r>
            <a:r>
              <a:rPr lang="en-US" dirty="0" smtClean="0">
                <a:cs typeface="B Roya" pitchFamily="2" charset="-78"/>
              </a:rPr>
              <a:t>IT </a:t>
            </a:r>
            <a:r>
              <a:rPr lang="fa-IR" dirty="0" smtClean="0">
                <a:cs typeface="B Roya" pitchFamily="2" charset="-78"/>
              </a:rPr>
              <a:t>در همه زمینه ها پرتالی در ابعاد ملی با نام پرتال شناسایی ، ثبت نام ، اعزام ، استقرار مبلغین مذهبی با هدف شناسایی و ساماندهی مبلغین و همچنین ایجاد یک سامانه ارتباطی موثر حاوی اطلاعات پایه و شرح فعالیتهای سالیانه (به عنوان رزومه) در قسمت اول و ساماندهی عملیات عظیم اعزام و استقرار مبلغین در هر مناسبت و تولید اتوماتیک گزارشات کمی و کیفی در قسمت دوم در دست مطالعه قرار گرفت.</a:t>
            </a:r>
          </a:p>
          <a:p>
            <a:pPr algn="justLow" rtl="1"/>
            <a:r>
              <a:rPr lang="fa-IR" dirty="0" smtClean="0">
                <a:cs typeface="B Roya" pitchFamily="2" charset="-78"/>
              </a:rPr>
              <a:t> مركز انفورماتيك سازمان ضمن بهره گيري از توان بخش خصوصي اقدام به انجام پروژه مذكور نموده كه در زير به برخي از امكانات آن اشاره ميگردد.</a:t>
            </a:r>
            <a:endParaRPr lang="en-US" dirty="0" smtClean="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5720" y="1357298"/>
            <a:ext cx="8501090" cy="3970318"/>
          </a:xfrm>
          <a:prstGeom prst="rect">
            <a:avLst/>
          </a:prstGeom>
          <a:noFill/>
        </p:spPr>
        <p:txBody>
          <a:bodyPr wrap="square" rtlCol="1">
            <a:spAutoFit/>
          </a:bodyPr>
          <a:lstStyle/>
          <a:p>
            <a:pPr lvl="0" algn="justLow" rtl="1"/>
            <a:r>
              <a:rPr lang="fa-IR" b="1" dirty="0" smtClean="0">
                <a:cs typeface="B Roya" pitchFamily="2" charset="-78"/>
              </a:rPr>
              <a:t>حوزه نیروی انسانی :</a:t>
            </a:r>
          </a:p>
          <a:p>
            <a:pPr lvl="0" algn="justLow" rtl="1"/>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تولید فراخوان برای جذب مبلغین و مبلغات مذهبی </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دریافت درخواستها و پردازش آنها </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واگذاری شماره منحصر به فرد تبلیغی و رتبه تبلیغی به واجدین شرایط </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ثبت مدارک تحصیلی و سنجشی و نتایج گزینشها به صورت دیجیتال </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ثبت سابقه هر فعالیت به صورت رزومه</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ثبت گزارشهای عملکردی برای هر مبلغ به صورت دیجیتال </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ثبت مکاتبات با هر مبلغ به صورت دیجیتال </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ثبت تخصص های هر مبلغ علاوه بر رتبه تبلیغی</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فعال و یا غیر فعال نمودن هر مبلغ </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ارتقاء رتبه تبلیغی و یا تخصصی هر مبلغ همراه با امکان ثبت مدارک </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ثبت یک محل برای هر مبلغ بعنوان مبلغ بومی </a:t>
            </a:r>
            <a:endParaRPr lang="en-US" dirty="0" smtClean="0">
              <a:cs typeface="B Roya" pitchFamily="2" charset="-78"/>
            </a:endParaRPr>
          </a:p>
          <a:p>
            <a:pPr algn="justLow" rtl="1"/>
            <a:r>
              <a:rPr lang="fa-IR" dirty="0" smtClean="0">
                <a:cs typeface="B Roya" pitchFamily="2" charset="-78"/>
              </a:rPr>
              <a:t>ودهها ارگان دیگر ...</a:t>
            </a:r>
            <a:endParaRPr lang="fa-IR" dirty="0">
              <a:cs typeface="B Roya" pitchFamily="2" charset="-78"/>
            </a:endParaRPr>
          </a:p>
        </p:txBody>
      </p:sp>
      <p:sp>
        <p:nvSpPr>
          <p:cNvPr id="3" name="Rectangle 2"/>
          <p:cNvSpPr/>
          <p:nvPr/>
        </p:nvSpPr>
        <p:spPr>
          <a:xfrm>
            <a:off x="4143372" y="785794"/>
            <a:ext cx="1334019" cy="369332"/>
          </a:xfrm>
          <a:prstGeom prst="rect">
            <a:avLst/>
          </a:prstGeom>
        </p:spPr>
        <p:txBody>
          <a:bodyPr wrap="none">
            <a:spAutoFit/>
          </a:bodyPr>
          <a:lstStyle/>
          <a:p>
            <a:pPr algn="justLow" rtl="1"/>
            <a:r>
              <a:rPr lang="fa-IR" b="1" dirty="0" smtClean="0">
                <a:cs typeface="B Roya" pitchFamily="2" charset="-78"/>
              </a:rPr>
              <a:t>امکانات طرح : </a:t>
            </a:r>
            <a:endParaRPr lang="en-US" dirty="0" smtClean="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158" y="1000108"/>
            <a:ext cx="8501090" cy="4247317"/>
          </a:xfrm>
          <a:prstGeom prst="rect">
            <a:avLst/>
          </a:prstGeom>
          <a:noFill/>
        </p:spPr>
        <p:txBody>
          <a:bodyPr wrap="square" rtlCol="1">
            <a:spAutoFit/>
          </a:bodyPr>
          <a:lstStyle/>
          <a:p>
            <a:pPr lvl="0" algn="justLow" rtl="1"/>
            <a:r>
              <a:rPr lang="fa-IR" b="1" dirty="0" smtClean="0">
                <a:cs typeface="B Roya" pitchFamily="2" charset="-78"/>
              </a:rPr>
              <a:t>حوزه اعزام و استقرار</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ثبت اعزام های مناسبتی ،موردی ، مستقر و مستمر </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ثبت ظرفیت و تنظیم زمان شروع و پایان فراخوان و مناسبت </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تفکیک ظرفیت  به بومی و غیر بومی </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تفکیک ظرفیت به مبلغ و مبلغه</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تفکیک عملیات اعزام و توزیع</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اختصاص حداقل رتبه و یا تخصص به هر منطقه </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ارسال درخواست از طرف هر شهرستان به تفکیک اعزام و توزیع یا مبلغ و مبلغه </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ارسال مستقیم ظرفیت توزیعی به هر یک از مشارکت کنندگان خارج از سازمان در شبکه تبلیغی از طریق کنترل و پنل اختصاصی</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اصلاح ، حذف و یا اضافه هر استان روی پیشنهادات شهرستان های تابعه </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اصلاح ، حذف و یا اضافه مرکز روی پیشنهاد استانها</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توزیع ظرفیت تایید شده از طرف مرکز بین شهرستانهای تابعه طبق صلاحدید </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نظارت مرکز بر کلیه فرآیندهای اعزام و استقرار و توزیع</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ثبت گزارش عملکرد از طرف هر مبلغ در هر مناسبت </a:t>
            </a:r>
            <a:endParaRPr lang="en-US" dirty="0" smtClean="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1000108"/>
            <a:ext cx="8358214" cy="4247317"/>
          </a:xfrm>
          <a:prstGeom prst="rect">
            <a:avLst/>
          </a:prstGeom>
          <a:noFill/>
        </p:spPr>
        <p:txBody>
          <a:bodyPr wrap="square" rtlCol="1">
            <a:spAutoFit/>
          </a:bodyPr>
          <a:lstStyle/>
          <a:p>
            <a:pPr lvl="0" algn="justLow" rtl="1">
              <a:buFont typeface="Wingdings" pitchFamily="2" charset="2"/>
              <a:buChar char="Ø"/>
            </a:pPr>
            <a:r>
              <a:rPr lang="fa-IR" dirty="0" smtClean="0">
                <a:cs typeface="B Roya" pitchFamily="2" charset="-78"/>
              </a:rPr>
              <a:t>امکان ثبت نظریه های ارزیابی توسط ارزیابی هر استان </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ثبت و محاسبه نفر ساعت فعالیت هر مبلغ در هر مناسبت </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تجمیع فعالیت در هر شهرستان مناسبت</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تجمیع فعالیت در هر استان مناسبت </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تجمیع فعالیت کشوری در هر مناسبت </a:t>
            </a:r>
            <a:endParaRPr lang="en-US" dirty="0" smtClean="0">
              <a:cs typeface="B Roya" pitchFamily="2" charset="-78"/>
            </a:endParaRPr>
          </a:p>
          <a:p>
            <a:pPr lvl="0" algn="justLow" rtl="1">
              <a:buFont typeface="Wingdings" pitchFamily="2" charset="2"/>
              <a:buChar char="Ø"/>
            </a:pPr>
            <a:r>
              <a:rPr lang="fa-IR" dirty="0" smtClean="0">
                <a:cs typeface="B Roya" pitchFamily="2" charset="-78"/>
              </a:rPr>
              <a:t>امکان ثبت ظرفیت ثابت با طول 1 سال شمسی برای پروژه های استقرار و مستمر و دهها امکان دیگر ...</a:t>
            </a:r>
            <a:endParaRPr lang="en-US" dirty="0" smtClean="0">
              <a:cs typeface="B Roya" pitchFamily="2" charset="-78"/>
            </a:endParaRPr>
          </a:p>
          <a:p>
            <a:pPr lvl="0" algn="justLow" rtl="1"/>
            <a:r>
              <a:rPr lang="fa-IR" b="1" dirty="0" smtClean="0">
                <a:cs typeface="B Roya" pitchFamily="2" charset="-78"/>
              </a:rPr>
              <a:t>اهداف:</a:t>
            </a:r>
            <a:endParaRPr lang="en-US" dirty="0" smtClean="0">
              <a:cs typeface="B Roya" pitchFamily="2" charset="-78"/>
            </a:endParaRPr>
          </a:p>
          <a:p>
            <a:pPr lvl="0" algn="justLow" rtl="1">
              <a:buFont typeface="Wingdings" pitchFamily="2" charset="2"/>
              <a:buChar char="q"/>
            </a:pPr>
            <a:r>
              <a:rPr lang="fa-IR" dirty="0" smtClean="0">
                <a:cs typeface="B Roya" pitchFamily="2" charset="-78"/>
              </a:rPr>
              <a:t>سهولت در ایجاد ارتباط با مبلغین و مبلغات فعال در کل کشور </a:t>
            </a:r>
            <a:endParaRPr lang="en-US" dirty="0" smtClean="0">
              <a:cs typeface="B Roya" pitchFamily="2" charset="-78"/>
            </a:endParaRPr>
          </a:p>
          <a:p>
            <a:pPr lvl="0" algn="justLow" rtl="1">
              <a:buFont typeface="Wingdings" pitchFamily="2" charset="2"/>
              <a:buChar char="q"/>
            </a:pPr>
            <a:r>
              <a:rPr lang="fa-IR" dirty="0" smtClean="0">
                <a:cs typeface="B Roya" pitchFamily="2" charset="-78"/>
              </a:rPr>
              <a:t>سهولت در بازیابی اطلاعات مربوط تحصیلات ، سوابق ، رتبه تبلیغی و تخصصی هر مبلغ </a:t>
            </a:r>
            <a:endParaRPr lang="en-US" dirty="0" smtClean="0">
              <a:cs typeface="B Roya" pitchFamily="2" charset="-78"/>
            </a:endParaRPr>
          </a:p>
          <a:p>
            <a:pPr lvl="0" algn="justLow" rtl="1">
              <a:buFont typeface="Wingdings" pitchFamily="2" charset="2"/>
              <a:buChar char="q"/>
            </a:pPr>
            <a:r>
              <a:rPr lang="fa-IR" dirty="0" smtClean="0">
                <a:cs typeface="B Roya" pitchFamily="2" charset="-78"/>
              </a:rPr>
              <a:t>یکپارچه سازی عملیات اعزام </a:t>
            </a:r>
            <a:endParaRPr lang="en-US" dirty="0" smtClean="0">
              <a:cs typeface="B Roya" pitchFamily="2" charset="-78"/>
            </a:endParaRPr>
          </a:p>
          <a:p>
            <a:pPr lvl="0" algn="justLow" rtl="1">
              <a:buFont typeface="Wingdings" pitchFamily="2" charset="2"/>
              <a:buChar char="q"/>
            </a:pPr>
            <a:r>
              <a:rPr lang="fa-IR" dirty="0" smtClean="0">
                <a:cs typeface="B Roya" pitchFamily="2" charset="-78"/>
              </a:rPr>
              <a:t>جلوگیری از فعالیت های موازی از طریق شفاف سازی فرآیند </a:t>
            </a:r>
            <a:endParaRPr lang="en-US" dirty="0" smtClean="0">
              <a:cs typeface="B Roya" pitchFamily="2" charset="-78"/>
            </a:endParaRPr>
          </a:p>
          <a:p>
            <a:pPr lvl="0" algn="justLow" rtl="1">
              <a:buFont typeface="Wingdings" pitchFamily="2" charset="2"/>
              <a:buChar char="q"/>
            </a:pPr>
            <a:r>
              <a:rPr lang="fa-IR" dirty="0" smtClean="0">
                <a:cs typeface="B Roya" pitchFamily="2" charset="-78"/>
              </a:rPr>
              <a:t>صرفه جویی در منابع از طریق استفاده از امکانات اینترنتی و  </a:t>
            </a:r>
            <a:r>
              <a:rPr lang="en-US" dirty="0" smtClean="0">
                <a:cs typeface="B Roya" pitchFamily="2" charset="-78"/>
              </a:rPr>
              <a:t>IT</a:t>
            </a:r>
          </a:p>
          <a:p>
            <a:pPr lvl="0" algn="justLow" rtl="1">
              <a:buFont typeface="Wingdings" pitchFamily="2" charset="2"/>
              <a:buChar char="q"/>
            </a:pPr>
            <a:r>
              <a:rPr lang="fa-IR" dirty="0" smtClean="0">
                <a:cs typeface="B Roya" pitchFamily="2" charset="-78"/>
              </a:rPr>
              <a:t>کاهش خطا در گزارشات </a:t>
            </a:r>
            <a:endParaRPr lang="en-US" dirty="0" smtClean="0">
              <a:cs typeface="B Roya" pitchFamily="2" charset="-78"/>
            </a:endParaRPr>
          </a:p>
          <a:p>
            <a:pPr lvl="0" algn="justLow" rtl="1">
              <a:buFont typeface="Wingdings" pitchFamily="2" charset="2"/>
              <a:buChar char="q"/>
            </a:pPr>
            <a:r>
              <a:rPr lang="fa-IR" dirty="0" smtClean="0">
                <a:cs typeface="B Roya" pitchFamily="2" charset="-78"/>
              </a:rPr>
              <a:t>افزایش سرعت عمل در فرآیند ها </a:t>
            </a:r>
            <a:endParaRPr lang="en-US" dirty="0" smtClean="0">
              <a:cs typeface="B Roya" pitchFamily="2" charset="-78"/>
            </a:endParaRPr>
          </a:p>
          <a:p>
            <a:pPr lvl="0" algn="justLow" rtl="1">
              <a:buFont typeface="Wingdings" pitchFamily="2" charset="2"/>
              <a:buChar char="q"/>
            </a:pPr>
            <a:r>
              <a:rPr lang="fa-IR" dirty="0" smtClean="0">
                <a:cs typeface="B Roya" pitchFamily="2" charset="-78"/>
              </a:rPr>
              <a:t>افزایش سرعت عمل در تولید گزارشات </a:t>
            </a:r>
            <a:endParaRPr lang="en-US" dirty="0" smtClean="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1000108"/>
            <a:ext cx="8215370" cy="4801314"/>
          </a:xfrm>
          <a:prstGeom prst="rect">
            <a:avLst/>
          </a:prstGeom>
          <a:noFill/>
        </p:spPr>
        <p:txBody>
          <a:bodyPr wrap="square" rtlCol="1">
            <a:spAutoFit/>
          </a:bodyPr>
          <a:lstStyle/>
          <a:p>
            <a:pPr lvl="0" algn="justLow" rtl="1">
              <a:buFont typeface="Wingdings" pitchFamily="2" charset="2"/>
              <a:buChar char="q"/>
            </a:pPr>
            <a:r>
              <a:rPr lang="fa-IR" dirty="0" smtClean="0">
                <a:cs typeface="B Roya" pitchFamily="2" charset="-78"/>
              </a:rPr>
              <a:t>افزایش سرعت عمل در بازیابی آرشیوها و سوابق فردی و عملیاتی </a:t>
            </a:r>
            <a:endParaRPr lang="en-US" dirty="0" smtClean="0">
              <a:cs typeface="B Roya" pitchFamily="2" charset="-78"/>
            </a:endParaRPr>
          </a:p>
          <a:p>
            <a:pPr lvl="0" algn="justLow" rtl="1">
              <a:buFont typeface="Wingdings" pitchFamily="2" charset="2"/>
              <a:buChar char="q"/>
            </a:pPr>
            <a:r>
              <a:rPr lang="fa-IR" dirty="0" smtClean="0">
                <a:cs typeface="B Roya" pitchFamily="2" charset="-78"/>
              </a:rPr>
              <a:t>کاهش کاربرد عملیات کاغذی </a:t>
            </a:r>
            <a:endParaRPr lang="en-US" dirty="0" smtClean="0">
              <a:cs typeface="B Roya" pitchFamily="2" charset="-78"/>
            </a:endParaRPr>
          </a:p>
          <a:p>
            <a:pPr lvl="0" algn="justLow" rtl="1">
              <a:buFont typeface="Wingdings" pitchFamily="2" charset="2"/>
              <a:buChar char="q"/>
            </a:pPr>
            <a:r>
              <a:rPr lang="fa-IR" dirty="0" smtClean="0">
                <a:cs typeface="B Roya" pitchFamily="2" charset="-78"/>
              </a:rPr>
              <a:t>سهولت در نظارت برفرآیند </a:t>
            </a:r>
            <a:endParaRPr lang="en-US" dirty="0" smtClean="0">
              <a:cs typeface="B Roya" pitchFamily="2" charset="-78"/>
            </a:endParaRPr>
          </a:p>
          <a:p>
            <a:pPr lvl="0" algn="justLow" rtl="1">
              <a:buFont typeface="Wingdings" pitchFamily="2" charset="2"/>
              <a:buChar char="q"/>
            </a:pPr>
            <a:r>
              <a:rPr lang="fa-IR" dirty="0" smtClean="0">
                <a:cs typeface="B Roya" pitchFamily="2" charset="-78"/>
              </a:rPr>
              <a:t>ایجاد ارتباط سریعتر و موثرتر مرکز با استانها و شهرستان ها </a:t>
            </a:r>
            <a:endParaRPr lang="en-US" dirty="0" smtClean="0">
              <a:cs typeface="B Roya" pitchFamily="2" charset="-78"/>
            </a:endParaRPr>
          </a:p>
          <a:p>
            <a:pPr lvl="0" algn="justLow" rtl="1">
              <a:buFont typeface="Wingdings" pitchFamily="2" charset="2"/>
              <a:buChar char="q"/>
            </a:pPr>
            <a:r>
              <a:rPr lang="fa-IR" dirty="0" smtClean="0">
                <a:cs typeface="B Roya" pitchFamily="2" charset="-78"/>
              </a:rPr>
              <a:t>امکان فراخوان سریع از طریق پیامک </a:t>
            </a:r>
            <a:endParaRPr lang="en-US" dirty="0" smtClean="0">
              <a:cs typeface="B Roya" pitchFamily="2" charset="-78"/>
            </a:endParaRPr>
          </a:p>
          <a:p>
            <a:pPr lvl="0" algn="justLow" rtl="1">
              <a:buFont typeface="Wingdings" pitchFamily="2" charset="2"/>
              <a:buChar char="q"/>
            </a:pPr>
            <a:r>
              <a:rPr lang="fa-IR" dirty="0" smtClean="0">
                <a:cs typeface="B Roya" pitchFamily="2" charset="-78"/>
              </a:rPr>
              <a:t>امکان تغذیه فکری از طریق ارسال جزوات به مبلغین </a:t>
            </a:r>
            <a:endParaRPr lang="en-US" dirty="0" smtClean="0">
              <a:cs typeface="B Roya" pitchFamily="2" charset="-78"/>
            </a:endParaRPr>
          </a:p>
          <a:p>
            <a:pPr algn="justLow" rtl="1"/>
            <a:r>
              <a:rPr lang="en-US" dirty="0" smtClean="0">
                <a:cs typeface="B Roya" pitchFamily="2" charset="-78"/>
              </a:rPr>
              <a:t> </a:t>
            </a:r>
            <a:endParaRPr lang="en-US" sz="1600" dirty="0" smtClean="0">
              <a:cs typeface="B Roya" pitchFamily="2" charset="-78"/>
            </a:endParaRPr>
          </a:p>
          <a:p>
            <a:pPr algn="justLow" rtl="1"/>
            <a:r>
              <a:rPr lang="fa-IR" b="1" dirty="0" smtClean="0">
                <a:cs typeface="B Roya" pitchFamily="2" charset="-78"/>
              </a:rPr>
              <a:t>فرآیند ها :</a:t>
            </a:r>
            <a:endParaRPr lang="en-US" sz="1400" dirty="0" smtClean="0">
              <a:cs typeface="B Roya" pitchFamily="2" charset="-78"/>
            </a:endParaRPr>
          </a:p>
          <a:p>
            <a:pPr lvl="0" algn="justLow" rtl="1"/>
            <a:r>
              <a:rPr lang="fa-IR" b="1" dirty="0" smtClean="0">
                <a:cs typeface="B Roya" pitchFamily="2" charset="-78"/>
              </a:rPr>
              <a:t>نیروی انسانی :</a:t>
            </a:r>
            <a:endParaRPr lang="en-US" sz="1600" dirty="0" smtClean="0">
              <a:cs typeface="B Roya" pitchFamily="2" charset="-78"/>
            </a:endParaRPr>
          </a:p>
          <a:p>
            <a:pPr algn="justLow" rtl="1"/>
            <a:r>
              <a:rPr lang="en-US" b="1" dirty="0" smtClean="0">
                <a:cs typeface="B Roya" pitchFamily="2" charset="-78"/>
              </a:rPr>
              <a:t> </a:t>
            </a:r>
            <a:endParaRPr lang="en-US" sz="1600" dirty="0" smtClean="0">
              <a:cs typeface="B Roya" pitchFamily="2" charset="-78"/>
            </a:endParaRPr>
          </a:p>
          <a:p>
            <a:pPr algn="justLow" rtl="1"/>
            <a:r>
              <a:rPr lang="fa-IR" dirty="0" smtClean="0">
                <a:cs typeface="B Roya" pitchFamily="2" charset="-78"/>
              </a:rPr>
              <a:t>فرآیند ثبت نام و جذب در بخش نیروی انسانی در 6 مرحله اجرا می گردد.</a:t>
            </a:r>
            <a:endParaRPr lang="en-US" sz="1600" dirty="0" smtClean="0">
              <a:cs typeface="B Roya" pitchFamily="2" charset="-78"/>
            </a:endParaRPr>
          </a:p>
          <a:p>
            <a:pPr algn="justLow" rtl="1"/>
            <a:r>
              <a:rPr lang="fa-IR" dirty="0" smtClean="0">
                <a:cs typeface="B Roya" pitchFamily="2" charset="-78"/>
              </a:rPr>
              <a:t> </a:t>
            </a:r>
            <a:endParaRPr lang="en-US" sz="1600" dirty="0" smtClean="0">
              <a:cs typeface="B Roya" pitchFamily="2" charset="-78"/>
            </a:endParaRPr>
          </a:p>
          <a:p>
            <a:pPr lvl="1" algn="r" rtl="1"/>
            <a:r>
              <a:rPr lang="fa-IR" dirty="0" smtClean="0">
                <a:cs typeface="B Roya" pitchFamily="2" charset="-78"/>
              </a:rPr>
              <a:t>فراخوان : </a:t>
            </a:r>
            <a:endParaRPr lang="en-US" sz="1600" dirty="0" smtClean="0">
              <a:cs typeface="B Roya" pitchFamily="2" charset="-78"/>
            </a:endParaRPr>
          </a:p>
          <a:p>
            <a:pPr algn="justLow" rtl="1"/>
            <a:r>
              <a:rPr lang="en-US" dirty="0" smtClean="0">
                <a:cs typeface="B Roya" pitchFamily="2" charset="-78"/>
              </a:rPr>
              <a:t> </a:t>
            </a:r>
            <a:endParaRPr lang="en-US" sz="1600" dirty="0" smtClean="0">
              <a:cs typeface="B Roya" pitchFamily="2" charset="-78"/>
            </a:endParaRPr>
          </a:p>
          <a:p>
            <a:pPr algn="justLow" rtl="1"/>
            <a:r>
              <a:rPr lang="fa-IR" dirty="0" smtClean="0">
                <a:cs typeface="B Roya" pitchFamily="2" charset="-78"/>
              </a:rPr>
              <a:t>عملیات جذب مبلغین در این سامانه از طریق اطلاع رسانی عمومی و یا فراخوان پیامکی صورت پذیرفته و آدرس اینترنتی ثبت نام به اطلاع مبلغین محترم می رسد.</a:t>
            </a:r>
            <a:endParaRPr lang="en-US" sz="1600" dirty="0" smtClean="0">
              <a:cs typeface="B Roya" pitchFamily="2" charset="-78"/>
            </a:endParaRPr>
          </a:p>
          <a:p>
            <a:pPr algn="justLow" rtl="1"/>
            <a:r>
              <a:rPr lang="fa-IR" dirty="0" smtClean="0">
                <a:cs typeface="B Roya" pitchFamily="2" charset="-78"/>
              </a:rPr>
              <a:t> </a:t>
            </a:r>
            <a:endParaRPr lang="en-US" sz="1600" dirty="0" smtClean="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928670"/>
            <a:ext cx="8358214" cy="5078313"/>
          </a:xfrm>
          <a:prstGeom prst="rect">
            <a:avLst/>
          </a:prstGeom>
          <a:noFill/>
        </p:spPr>
        <p:txBody>
          <a:bodyPr wrap="square" rtlCol="1">
            <a:spAutoFit/>
          </a:bodyPr>
          <a:lstStyle/>
          <a:p>
            <a:pPr marL="61913" lvl="1" indent="-4763" algn="justLow" rtl="1"/>
            <a:r>
              <a:rPr lang="fa-IR" b="1" dirty="0" smtClean="0">
                <a:cs typeface="B Roya" pitchFamily="2" charset="-78"/>
              </a:rPr>
              <a:t>ثبت نام :</a:t>
            </a:r>
            <a:endParaRPr lang="en-US" b="1" dirty="0" smtClean="0">
              <a:cs typeface="B Roya" pitchFamily="2" charset="-78"/>
            </a:endParaRPr>
          </a:p>
          <a:p>
            <a:pPr algn="justLow" rtl="1"/>
            <a:r>
              <a:rPr lang="en-US" dirty="0" smtClean="0">
                <a:cs typeface="B Roya" pitchFamily="2" charset="-78"/>
              </a:rPr>
              <a:t> </a:t>
            </a:r>
            <a:r>
              <a:rPr lang="fa-IR" dirty="0" smtClean="0">
                <a:cs typeface="B Roya" pitchFamily="2" charset="-78"/>
              </a:rPr>
              <a:t>مبلغین پس از مرجعه اینترنتی به سامانه اقدام به ثبت نام و پر کردن فرمهای مربوط می نمایند در این حالت یک کد موقت برای ایشان صادر شده و هر نوع اقدام بعدی در مورد ثبت نام ایشان از طریق پیامک و یا کد موقت ایشان روی سامانه به ایشان اطلاع داده می شود.</a:t>
            </a:r>
            <a:endParaRPr lang="en-US" dirty="0" smtClean="0">
              <a:cs typeface="B Roya" pitchFamily="2" charset="-78"/>
            </a:endParaRPr>
          </a:p>
          <a:p>
            <a:pPr algn="justLow" rtl="1"/>
            <a:r>
              <a:rPr lang="fa-IR" b="1" dirty="0" smtClean="0">
                <a:cs typeface="B Roya" pitchFamily="2" charset="-78"/>
              </a:rPr>
              <a:t>آزمون کتبی :</a:t>
            </a:r>
            <a:endParaRPr lang="en-US" b="1" dirty="0" smtClean="0">
              <a:cs typeface="B Roya" pitchFamily="2" charset="-78"/>
            </a:endParaRPr>
          </a:p>
          <a:p>
            <a:pPr algn="justLow" rtl="1"/>
            <a:r>
              <a:rPr lang="en-US" dirty="0" smtClean="0">
                <a:cs typeface="B Roya" pitchFamily="2" charset="-78"/>
              </a:rPr>
              <a:t> </a:t>
            </a:r>
            <a:r>
              <a:rPr lang="fa-IR" dirty="0" smtClean="0">
                <a:cs typeface="B Roya" pitchFamily="2" charset="-78"/>
              </a:rPr>
              <a:t>پس از بررسی موارد ثبت نام شده از واجدین شرایط درخواست می گردد که در آزمون کتبی تعیین سطح شرکت نمایند که نمرات این آزمون در پرونده الکترونیکی ثبت می گردد.</a:t>
            </a:r>
            <a:endParaRPr lang="en-US" dirty="0" smtClean="0">
              <a:cs typeface="B Roya" pitchFamily="2" charset="-78"/>
            </a:endParaRPr>
          </a:p>
          <a:p>
            <a:pPr algn="justLow" rtl="1"/>
            <a:r>
              <a:rPr lang="fa-IR" b="1" dirty="0" smtClean="0">
                <a:cs typeface="B Roya" pitchFamily="2" charset="-78"/>
              </a:rPr>
              <a:t> تحقیق :</a:t>
            </a:r>
            <a:endParaRPr lang="en-US" b="1" dirty="0" smtClean="0">
              <a:cs typeface="B Roya" pitchFamily="2" charset="-78"/>
            </a:endParaRPr>
          </a:p>
          <a:p>
            <a:pPr algn="justLow" rtl="1"/>
            <a:r>
              <a:rPr lang="fa-IR" dirty="0" smtClean="0">
                <a:cs typeface="B Roya" pitchFamily="2" charset="-78"/>
              </a:rPr>
              <a:t>   مراحل تحقیق میدانی در مورد هر یک از متقاضیان انجام شده و نظر محقق در سامانه درج می گردد.</a:t>
            </a:r>
          </a:p>
          <a:p>
            <a:pPr marL="61913" lvl="1" indent="-4763" algn="justLow" rtl="1"/>
            <a:r>
              <a:rPr lang="fa-IR" b="1" dirty="0" smtClean="0">
                <a:cs typeface="B Roya" pitchFamily="2" charset="-78"/>
              </a:rPr>
              <a:t>مصاحبه :</a:t>
            </a:r>
            <a:endParaRPr lang="en-US" sz="1600" b="1" dirty="0" smtClean="0">
              <a:cs typeface="B Roya" pitchFamily="2" charset="-78"/>
            </a:endParaRPr>
          </a:p>
          <a:p>
            <a:pPr algn="justLow" rtl="1"/>
            <a:r>
              <a:rPr lang="en-US" dirty="0" smtClean="0">
                <a:cs typeface="B Roya" pitchFamily="2" charset="-78"/>
              </a:rPr>
              <a:t> </a:t>
            </a:r>
            <a:r>
              <a:rPr lang="fa-IR" dirty="0" smtClean="0">
                <a:cs typeface="B Roya" pitchFamily="2" charset="-78"/>
              </a:rPr>
              <a:t>افرادی که مراحل آزمون کتبی و تحقیق را با موفقیت گذرانده باشنددر مرحله مصاحبه شرکت نموده و مصاحبه گر نظر خود را در سامانه ثبت می نماید.</a:t>
            </a:r>
            <a:endParaRPr lang="en-US" sz="1600" dirty="0" smtClean="0">
              <a:cs typeface="B Roya" pitchFamily="2" charset="-78"/>
            </a:endParaRPr>
          </a:p>
          <a:p>
            <a:pPr algn="justLow" rtl="1"/>
            <a:r>
              <a:rPr lang="fa-IR" b="1" dirty="0" smtClean="0">
                <a:cs typeface="B Roya" pitchFamily="2" charset="-78"/>
              </a:rPr>
              <a:t> تایید :</a:t>
            </a:r>
            <a:endParaRPr lang="en-US" sz="1600" b="1" dirty="0" smtClean="0">
              <a:cs typeface="B Roya" pitchFamily="2" charset="-78"/>
            </a:endParaRPr>
          </a:p>
          <a:p>
            <a:pPr algn="justLow" rtl="1"/>
            <a:r>
              <a:rPr lang="en-US" dirty="0" smtClean="0">
                <a:cs typeface="B Roya" pitchFamily="2" charset="-78"/>
              </a:rPr>
              <a:t> </a:t>
            </a:r>
            <a:r>
              <a:rPr lang="fa-IR" dirty="0" smtClean="0">
                <a:cs typeface="B Roya" pitchFamily="2" charset="-78"/>
              </a:rPr>
              <a:t>مسئول مربوط در صورت صلاحدید هر یک از متقاضیان را تایید نموده  و با توجه به نتایج امتحان کتبی و تحقیق و مصاحبه و همچنین مدارک تحصیلی و سوابق به ایشان    کد تبلیغی ، رتبه تبلیغی و تخصص اختصاص می دهد.</a:t>
            </a:r>
            <a:endParaRPr lang="en-US" sz="1600" dirty="0" smtClean="0">
              <a:cs typeface="B Roya" pitchFamily="2" charset="-78"/>
            </a:endParaRPr>
          </a:p>
          <a:p>
            <a:pPr algn="justLow" rtl="1"/>
            <a:r>
              <a:rPr lang="fa-IR" dirty="0" smtClean="0">
                <a:cs typeface="B Roya" pitchFamily="2" charset="-78"/>
              </a:rPr>
              <a:t>بدیهی است که داوطلبین بعد از این مرحله به عنوان یک مبلغ فعال آماده قبول مسئولیتها در اعزام ها خواهند بود.</a:t>
            </a:r>
            <a:endParaRPr lang="en-US" sz="1600" dirty="0" smtClean="0">
              <a:cs typeface="B Roya" pitchFamily="2" charset="-78"/>
            </a:endParaRPr>
          </a:p>
          <a:p>
            <a:pPr algn="justLow" rtl="1"/>
            <a:endParaRPr lang="en-US" dirty="0" smtClean="0">
              <a:cs typeface="B Roya" pitchFamily="2" charset="-78"/>
            </a:endParaRPr>
          </a:p>
          <a:p>
            <a:pPr algn="justLow" rtl="1"/>
            <a:r>
              <a:rPr lang="fa-IR" dirty="0" smtClean="0">
                <a:cs typeface="B Roya" pitchFamily="2" charset="-78"/>
              </a:rPr>
              <a:t>  </a:t>
            </a:r>
            <a:endParaRPr lang="en-US" dirty="0" smtClean="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158" y="714357"/>
            <a:ext cx="8358246" cy="5632311"/>
          </a:xfrm>
          <a:prstGeom prst="rect">
            <a:avLst/>
          </a:prstGeom>
          <a:noFill/>
        </p:spPr>
        <p:txBody>
          <a:bodyPr wrap="square" rtlCol="1">
            <a:spAutoFit/>
          </a:bodyPr>
          <a:lstStyle/>
          <a:p>
            <a:pPr algn="justLow" rtl="1"/>
            <a:r>
              <a:rPr lang="fa-IR" b="1" dirty="0" smtClean="0">
                <a:cs typeface="B Roya" pitchFamily="2" charset="-78"/>
              </a:rPr>
              <a:t>اعزام و استقرار</a:t>
            </a:r>
            <a:endParaRPr lang="en-US" sz="1400" dirty="0" smtClean="0">
              <a:cs typeface="B Roya" pitchFamily="2" charset="-78"/>
            </a:endParaRPr>
          </a:p>
          <a:p>
            <a:pPr algn="justLow" rtl="1"/>
            <a:r>
              <a:rPr lang="fa-IR" dirty="0" smtClean="0">
                <a:cs typeface="B Roya" pitchFamily="2" charset="-78"/>
              </a:rPr>
              <a:t>که شامل فرآیند های زیر است.</a:t>
            </a:r>
            <a:endParaRPr lang="en-US" sz="1600" dirty="0" smtClean="0">
              <a:cs typeface="B Roya" pitchFamily="2" charset="-78"/>
            </a:endParaRPr>
          </a:p>
          <a:p>
            <a:pPr lvl="0" algn="justLow" rtl="1"/>
            <a:r>
              <a:rPr lang="fa-IR" dirty="0" smtClean="0">
                <a:cs typeface="B Roya" pitchFamily="2" charset="-78"/>
              </a:rPr>
              <a:t>اعزامهای مناسبتی یا توزیع </a:t>
            </a:r>
            <a:endParaRPr lang="en-US" sz="1600" dirty="0" smtClean="0">
              <a:cs typeface="B Roya" pitchFamily="2" charset="-78"/>
            </a:endParaRPr>
          </a:p>
          <a:p>
            <a:pPr algn="justLow" rtl="1"/>
            <a:r>
              <a:rPr lang="fa-IR" dirty="0" smtClean="0">
                <a:cs typeface="B Roya" pitchFamily="2" charset="-78"/>
              </a:rPr>
              <a:t>مثل رمضان  ، محرم و صفر ، 22 بهمن و ...</a:t>
            </a:r>
            <a:endParaRPr lang="en-US" sz="1600" dirty="0" smtClean="0">
              <a:cs typeface="B Roya" pitchFamily="2" charset="-78"/>
            </a:endParaRPr>
          </a:p>
          <a:p>
            <a:pPr lvl="0" algn="justLow" rtl="1"/>
            <a:endParaRPr lang="fa-IR" dirty="0" smtClean="0">
              <a:cs typeface="B Roya" pitchFamily="2" charset="-78"/>
            </a:endParaRPr>
          </a:p>
          <a:p>
            <a:pPr lvl="0" algn="justLow" rtl="1"/>
            <a:r>
              <a:rPr lang="fa-IR" dirty="0" smtClean="0">
                <a:cs typeface="B Roya" pitchFamily="2" charset="-78"/>
              </a:rPr>
              <a:t>اعزامهای موردی یا توزیع</a:t>
            </a:r>
            <a:endParaRPr lang="en-US" dirty="0" smtClean="0">
              <a:cs typeface="B Roya" pitchFamily="2" charset="-78"/>
            </a:endParaRPr>
          </a:p>
          <a:p>
            <a:pPr algn="justLow" rtl="1"/>
            <a:r>
              <a:rPr lang="en-US" dirty="0" smtClean="0">
                <a:cs typeface="B Roya" pitchFamily="2" charset="-78"/>
              </a:rPr>
              <a:t> </a:t>
            </a:r>
          </a:p>
          <a:p>
            <a:pPr lvl="0" algn="justLow" rtl="1"/>
            <a:r>
              <a:rPr lang="fa-IR" dirty="0" smtClean="0">
                <a:cs typeface="B Roya" pitchFamily="2" charset="-78"/>
              </a:rPr>
              <a:t>استقرار</a:t>
            </a:r>
            <a:endParaRPr lang="en-US" dirty="0" smtClean="0">
              <a:cs typeface="B Roya" pitchFamily="2" charset="-78"/>
            </a:endParaRPr>
          </a:p>
          <a:p>
            <a:pPr algn="justLow" rtl="1"/>
            <a:r>
              <a:rPr lang="fa-IR" dirty="0" smtClean="0">
                <a:cs typeface="B Roya" pitchFamily="2" charset="-78"/>
              </a:rPr>
              <a:t>شامل استقرار دائم و پاره وقت که پاره وقت شامل خود استقرار و موقت خواهد بود .</a:t>
            </a:r>
            <a:endParaRPr lang="en-US" dirty="0" smtClean="0">
              <a:cs typeface="B Roya" pitchFamily="2" charset="-78"/>
            </a:endParaRPr>
          </a:p>
          <a:p>
            <a:pPr algn="justLow" rtl="1"/>
            <a:r>
              <a:rPr lang="fa-IR" dirty="0" smtClean="0">
                <a:cs typeface="B Roya" pitchFamily="2" charset="-78"/>
              </a:rPr>
              <a:t> </a:t>
            </a:r>
            <a:endParaRPr lang="en-US" dirty="0" smtClean="0">
              <a:cs typeface="B Roya" pitchFamily="2" charset="-78"/>
            </a:endParaRPr>
          </a:p>
          <a:p>
            <a:pPr lvl="0" algn="justLow" rtl="1"/>
            <a:r>
              <a:rPr lang="fa-IR" dirty="0" smtClean="0">
                <a:cs typeface="B Roya" pitchFamily="2" charset="-78"/>
              </a:rPr>
              <a:t>مستمر </a:t>
            </a:r>
            <a:endParaRPr lang="en-US" dirty="0" smtClean="0">
              <a:cs typeface="B Roya" pitchFamily="2" charset="-78"/>
            </a:endParaRPr>
          </a:p>
          <a:p>
            <a:pPr algn="justLow" rtl="1"/>
            <a:r>
              <a:rPr lang="fa-IR" dirty="0" smtClean="0">
                <a:cs typeface="B Roya" pitchFamily="2" charset="-78"/>
              </a:rPr>
              <a:t>شامل کلیه اعزام ها به ادارات ارگانها ، نهادها ، شرکتها ، مدارس و دانشگاه ها </a:t>
            </a:r>
            <a:endParaRPr lang="en-US" dirty="0" smtClean="0">
              <a:cs typeface="B Roya" pitchFamily="2" charset="-78"/>
            </a:endParaRPr>
          </a:p>
          <a:p>
            <a:pPr algn="justLow" rtl="1"/>
            <a:r>
              <a:rPr lang="en-US" dirty="0" smtClean="0">
                <a:cs typeface="B Roya" pitchFamily="2" charset="-78"/>
              </a:rPr>
              <a:t> </a:t>
            </a:r>
            <a:r>
              <a:rPr lang="fa-IR" b="1" dirty="0" smtClean="0">
                <a:cs typeface="B Roya" pitchFamily="2" charset="-78"/>
              </a:rPr>
              <a:t> </a:t>
            </a:r>
            <a:endParaRPr lang="en-US" dirty="0" smtClean="0">
              <a:cs typeface="B Roya" pitchFamily="2" charset="-78"/>
            </a:endParaRPr>
          </a:p>
          <a:p>
            <a:pPr lvl="0" algn="justLow" rtl="1"/>
            <a:r>
              <a:rPr lang="fa-IR" b="1" dirty="0" smtClean="0">
                <a:cs typeface="B Roya" pitchFamily="2" charset="-78"/>
              </a:rPr>
              <a:t>اعزام مناسبتی و توزیع :</a:t>
            </a:r>
            <a:endParaRPr lang="en-US" dirty="0" smtClean="0">
              <a:cs typeface="B Roya" pitchFamily="2" charset="-78"/>
            </a:endParaRPr>
          </a:p>
          <a:p>
            <a:pPr algn="justLow" rtl="1"/>
            <a:r>
              <a:rPr lang="fa-IR" dirty="0" smtClean="0">
                <a:cs typeface="B Roya" pitchFamily="2" charset="-78"/>
              </a:rPr>
              <a:t>این فعالیت  با ثبت مناسبت توسط مرکز شروع شده و زمان برگزاری آن تنظیم می گردد ممکن است طبق صلاحدید مسئولان کلیه مناسبتهای یکسال شمسی در اول هر سال معرفی گردد.</a:t>
            </a:r>
            <a:endParaRPr lang="en-US" dirty="0" smtClean="0">
              <a:cs typeface="B Roya" pitchFamily="2" charset="-78"/>
            </a:endParaRPr>
          </a:p>
          <a:p>
            <a:pPr algn="justLow" rtl="1"/>
            <a:r>
              <a:rPr lang="fa-IR" dirty="0" smtClean="0">
                <a:cs typeface="B Roya" pitchFamily="2" charset="-78"/>
              </a:rPr>
              <a:t>در قدم بعدی هر شهرستان درخواست نیاز خود را به مبلغ و مبلغه به تفکیک در 2 حوزه اعزام و توزیع ثبت میکند ، نیاز توزیعی از مرکز تبلیغی به تفکیک درخواست شده و از طریق کنترل پنل های اختصاصی به تامین کنندگان و متولیان خارج سازمان (اعضاء شبکه تبلیغ) ارسال می گردد.</a:t>
            </a:r>
            <a:endParaRPr lang="en-US" dirty="0" smtClean="0">
              <a:cs typeface="B Roya" pitchFamily="2" charset="-78"/>
            </a:endParaRPr>
          </a:p>
          <a:p>
            <a:pPr algn="justLow" rtl="1"/>
            <a:r>
              <a:rPr lang="fa-IR" dirty="0" smtClean="0">
                <a:cs typeface="B Roya" pitchFamily="2" charset="-78"/>
              </a:rPr>
              <a:t>ظرفیت مورد درخواست شهرستانهای تابعه برای اعزام به استان فرستاده می شود.</a:t>
            </a:r>
            <a:endParaRPr lang="fa-IR" dirty="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1000108"/>
            <a:ext cx="8072494" cy="3970318"/>
          </a:xfrm>
          <a:prstGeom prst="rect">
            <a:avLst/>
          </a:prstGeom>
          <a:noFill/>
        </p:spPr>
        <p:txBody>
          <a:bodyPr wrap="square" rtlCol="1">
            <a:spAutoFit/>
          </a:bodyPr>
          <a:lstStyle/>
          <a:p>
            <a:pPr algn="justLow" rtl="1"/>
            <a:r>
              <a:rPr lang="fa-IR" dirty="0" smtClean="0">
                <a:cs typeface="B Roya" pitchFamily="2" charset="-78"/>
              </a:rPr>
              <a:t>هر استان در قدم سوم نیازهای هر شهرستان تابعه را بررسی تایید و یا اصلاح کرده و به مرکز می فرستد در قدم چهارم مرکز نیازهای کلیه استانها را دریافت و بررسی کرده و پس از تایید به استان می فرستد.</a:t>
            </a:r>
            <a:endParaRPr lang="en-US" dirty="0" smtClean="0">
              <a:cs typeface="B Roya" pitchFamily="2" charset="-78"/>
            </a:endParaRPr>
          </a:p>
          <a:p>
            <a:pPr algn="justLow" rtl="1"/>
            <a:r>
              <a:rPr lang="fa-IR" dirty="0" smtClean="0">
                <a:cs typeface="B Roya" pitchFamily="2" charset="-78"/>
              </a:rPr>
              <a:t>استان در قدم بعدی ظرفیت تایید شده را بین شهرستانهای تابعه به تفکیک مبلغ و مبلغه تقسیم نموده و ابلاغ می نماید.</a:t>
            </a:r>
            <a:endParaRPr lang="en-US" dirty="0" smtClean="0">
              <a:cs typeface="B Roya" pitchFamily="2" charset="-78"/>
            </a:endParaRPr>
          </a:p>
          <a:p>
            <a:pPr algn="justLow" rtl="1"/>
            <a:r>
              <a:rPr lang="fa-IR" dirty="0" smtClean="0">
                <a:cs typeface="B Roya" pitchFamily="2" charset="-78"/>
              </a:rPr>
              <a:t>هر شهرستان در قدم  بعدی پس از دریافت سهمیه قطعی اقدام به ثبت فراخوان نموده و اولویتهای بومی و زمان فراخوان اولویت دار و عمومی را ثبت می نماید.</a:t>
            </a:r>
            <a:endParaRPr lang="en-US" dirty="0" smtClean="0">
              <a:cs typeface="B Roya" pitchFamily="2" charset="-78"/>
            </a:endParaRPr>
          </a:p>
          <a:p>
            <a:pPr algn="justLow" rtl="1"/>
            <a:r>
              <a:rPr lang="fa-IR" dirty="0" smtClean="0">
                <a:cs typeface="B Roya" pitchFamily="2" charset="-78"/>
              </a:rPr>
              <a:t>در زمان برگزاری فراخوان هر مبلغ یا مبلغه که کدتبلیغی داشته باشد و رتبه تبلیغی و تخصصی کافی برای منطقه مورد نظر را داشته باشد در مناسبت ثبت نام نموده و یکی از سهمیه شهرستان کم خواهد شد و در صورت تمام شدن ظرفیت هر شهرستان ، پنل به صورت اتوماتیک بسته خواهد شد.</a:t>
            </a:r>
            <a:endParaRPr lang="en-US" dirty="0" smtClean="0">
              <a:cs typeface="B Roya" pitchFamily="2" charset="-78"/>
            </a:endParaRPr>
          </a:p>
          <a:p>
            <a:pPr algn="justLow" rtl="1"/>
            <a:r>
              <a:rPr lang="fa-IR" dirty="0" smtClean="0">
                <a:cs typeface="B Roya" pitchFamily="2" charset="-78"/>
              </a:rPr>
              <a:t>در زمان هرمناسبت فرمهای مربوط به ساعات برگزاری هر جلسه تبلیغی ثبت و گزارش آن الساق گردیده که قابل گزارش گیری خواهد بود.</a:t>
            </a:r>
            <a:endParaRPr lang="en-US" dirty="0" smtClean="0">
              <a:cs typeface="B Roya" pitchFamily="2" charset="-78"/>
            </a:endParaRPr>
          </a:p>
          <a:p>
            <a:pPr lvl="0" algn="justLow" rtl="1"/>
            <a:r>
              <a:rPr lang="fa-IR" b="1" dirty="0" smtClean="0">
                <a:cs typeface="B Roya" pitchFamily="2" charset="-78"/>
              </a:rPr>
              <a:t>موردی :</a:t>
            </a:r>
            <a:endParaRPr lang="en-US" dirty="0" smtClean="0">
              <a:cs typeface="B Roya" pitchFamily="2" charset="-78"/>
            </a:endParaRPr>
          </a:p>
          <a:p>
            <a:pPr algn="justLow" rtl="1"/>
            <a:r>
              <a:rPr lang="fa-IR" dirty="0" smtClean="0">
                <a:cs typeface="B Roya" pitchFamily="2" charset="-78"/>
              </a:rPr>
              <a:t>عملیات ثبت و فرآیند موردی شبیه به مناسبتی بوده یا این تفاوت که در مقیاس کوچکتر و توسط یک یا چند شهرستان اجرا می گردد.</a:t>
            </a:r>
            <a:endParaRPr lang="en-US" dirty="0" smtClean="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57158" y="1000108"/>
            <a:ext cx="8429684" cy="4524315"/>
          </a:xfrm>
          <a:prstGeom prst="rect">
            <a:avLst/>
          </a:prstGeom>
          <a:noFill/>
        </p:spPr>
        <p:txBody>
          <a:bodyPr wrap="square" rtlCol="1">
            <a:spAutoFit/>
          </a:bodyPr>
          <a:lstStyle/>
          <a:p>
            <a:pPr lvl="0" algn="justLow" rtl="1"/>
            <a:r>
              <a:rPr lang="fa-IR" b="1" dirty="0" smtClean="0">
                <a:cs typeface="B Roya" pitchFamily="2" charset="-78"/>
              </a:rPr>
              <a:t>استقرار</a:t>
            </a:r>
            <a:endParaRPr lang="en-US" dirty="0" smtClean="0">
              <a:cs typeface="B Roya" pitchFamily="2" charset="-78"/>
            </a:endParaRPr>
          </a:p>
          <a:p>
            <a:pPr algn="justLow" rtl="1"/>
            <a:r>
              <a:rPr lang="fa-IR" dirty="0" smtClean="0">
                <a:cs typeface="B Roya" pitchFamily="2" charset="-78"/>
              </a:rPr>
              <a:t>فعالیت استقرار نیز توسط مرکز آغاز می شود در هر سال یک فعالیت استقرار کلی وجود دارد که معمولا برای کل سال باز است . پس از تنظیم زمان فراخوان و استقرار توسط مرکز ، شهرستان ها در خواست نیاز خود را به تفکیک مبلغ و مبلغه برای مدت یکسال شمسی ثبت می کنند . پس از آن هریک از استانها در خواست های ارسال شده از شهرستان های تابعه را جمع بندی کرده و یک درخواست استانی را به مرکز ارسال می کنند مرکز نیز در قدم بعدی پس از بررسی درخواست ها برای هر استانظرفیت تاییده  شده نهایی را ارسال می کند و استان نیز با توجه به الویت ها سهمیه نهایی هر شهرستان را تایید میکند.</a:t>
            </a:r>
            <a:endParaRPr lang="en-US" dirty="0" smtClean="0">
              <a:cs typeface="B Roya" pitchFamily="2" charset="-78"/>
            </a:endParaRPr>
          </a:p>
          <a:p>
            <a:pPr algn="justLow" rtl="1"/>
            <a:r>
              <a:rPr lang="fa-IR" dirty="0" smtClean="0">
                <a:cs typeface="B Roya" pitchFamily="2" charset="-78"/>
              </a:rPr>
              <a:t>در زمان برگزاری فرآخوان هر مبلغ یا مبلغه ای که هیچ فعالیت دیگری حضور ندارد و رتبه تبلیغی و تخصص لازم را برای منطقه مورد نظر دارا باشد می تواند در فالیت استقرار ثبت نام کرده و منتظر پاسخ شهرستان مربوطه بماند.</a:t>
            </a:r>
            <a:endParaRPr lang="en-US" dirty="0" smtClean="0">
              <a:cs typeface="B Roya" pitchFamily="2" charset="-78"/>
            </a:endParaRPr>
          </a:p>
          <a:p>
            <a:pPr algn="justLow" rtl="1"/>
            <a:r>
              <a:rPr lang="fa-IR" dirty="0" smtClean="0">
                <a:cs typeface="B Roya" pitchFamily="2" charset="-78"/>
              </a:rPr>
              <a:t>مبلغ می تواند نوع استقرار مورد نظر خود را نیز پیشنهاد بدهد که انواع دائم و غیر دائم (پاره وقت ، خود استقرار) می باشد.</a:t>
            </a:r>
            <a:endParaRPr lang="en-US" dirty="0" smtClean="0">
              <a:cs typeface="B Roya" pitchFamily="2" charset="-78"/>
            </a:endParaRPr>
          </a:p>
          <a:p>
            <a:pPr algn="justLow" rtl="1"/>
            <a:r>
              <a:rPr lang="fa-IR" dirty="0" smtClean="0">
                <a:cs typeface="B Roya" pitchFamily="2" charset="-78"/>
              </a:rPr>
              <a:t>سپس شهرستان مربوطه پس از بررسی جوانب ، نوع استقرار مبلغ را تایید یا اصلاح می نماید و وضعیت منطقه استقرار را برای وی مشخص می کند وضعیت منطقه از نظر وضعیت برخورداری (برخوردار ، متوسط ، غیر برخوردار) و شرایط منطقه (ویژه و غیر ویژه) قابل بررسی است مبلغ زمانی رابرای مستقر شدن در اختیار دارد و پس از مستقر شدن و شروع فعالیت فرم ها و گزارشات مخصوص استقرار را در اختیار خواهد داشت و این فعالیت ها قابل دسته بندی ، گزارشگیری و جمع بندی خواهد بود.</a:t>
            </a:r>
            <a:endParaRPr lang="en-US" dirty="0" smtClean="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85720" y="1071546"/>
            <a:ext cx="8501122" cy="3139321"/>
          </a:xfrm>
          <a:prstGeom prst="rect">
            <a:avLst/>
          </a:prstGeom>
          <a:noFill/>
        </p:spPr>
        <p:txBody>
          <a:bodyPr wrap="square" rtlCol="1">
            <a:spAutoFit/>
          </a:bodyPr>
          <a:lstStyle/>
          <a:p>
            <a:pPr lvl="0" algn="justLow" rtl="1"/>
            <a:r>
              <a:rPr lang="fa-IR" dirty="0" smtClean="0">
                <a:cs typeface="B Roya" pitchFamily="2" charset="-78"/>
              </a:rPr>
              <a:t>استمرار</a:t>
            </a:r>
            <a:endParaRPr lang="en-US" dirty="0" smtClean="0">
              <a:cs typeface="B Roya" pitchFamily="2" charset="-78"/>
            </a:endParaRPr>
          </a:p>
          <a:p>
            <a:pPr algn="justLow" rtl="1"/>
            <a:r>
              <a:rPr lang="fa-IR" dirty="0" smtClean="0">
                <a:cs typeface="B Roya" pitchFamily="2" charset="-78"/>
              </a:rPr>
              <a:t>فعالیت استمرار نیز مانند استقرار برای یکسال است و مراحل آن مشابه استقرار می باشد البته نوع آن متفاوت است که پس از پیشنهاد توسط مبلغ مورد تایید و یا اصلاح شهرستان قرار می گیرد انواع استمرار شامل (فعالیت مساجد ، آموزش و پرورش دانشگاه ها و ... )می باشد که فرم ها و گزارشاتی متفاوت را در دسترس مبلغ قرار می دهد.</a:t>
            </a:r>
            <a:endParaRPr lang="en-US" dirty="0" smtClean="0">
              <a:cs typeface="B Roya" pitchFamily="2" charset="-78"/>
            </a:endParaRPr>
          </a:p>
          <a:p>
            <a:pPr algn="justLow" rtl="1"/>
            <a:r>
              <a:rPr lang="ar-SA" dirty="0" smtClean="0">
                <a:cs typeface="B Roya" pitchFamily="2" charset="-78"/>
              </a:rPr>
              <a:t> </a:t>
            </a:r>
            <a:endParaRPr lang="en-US" dirty="0" smtClean="0">
              <a:cs typeface="B Roya" pitchFamily="2" charset="-78"/>
            </a:endParaRPr>
          </a:p>
          <a:p>
            <a:pPr algn="justLow" rtl="1"/>
            <a:r>
              <a:rPr lang="ar-SA" b="1" u="sng" dirty="0" smtClean="0">
                <a:cs typeface="B Roya" pitchFamily="2" charset="-78"/>
              </a:rPr>
              <a:t>ب-6-2- نرم افزار تشكل‌هاي ديني:</a:t>
            </a:r>
            <a:endParaRPr lang="en-US" dirty="0" smtClean="0">
              <a:cs typeface="B Roya" pitchFamily="2" charset="-78"/>
            </a:endParaRPr>
          </a:p>
          <a:p>
            <a:pPr algn="justLow" rtl="1"/>
            <a:r>
              <a:rPr lang="fa-IR" dirty="0" smtClean="0">
                <a:cs typeface="B Roya" pitchFamily="2" charset="-78"/>
              </a:rPr>
              <a:t>با توجه به رسالت حوزه انفورماتيك در شناسايي نيازهاي سازماني در جهت مكانيزاسيون و تسهيل امور حوزه هاي مختلف و نيز طي بررسي هاي بعمل آمده در معاونت فرهنگي سازمان و درخواست اداره كل تشكلهاي ديني براي طراحي بانك اطلاعاتي براي ثبت و گزارشگيري هيئات، كانون ها، انجمن ها و مداحان مركز انفورماتيك سازمان در صدد تهيه سامانه تشكلهاي ديني (طوبي) برآمد. پس از انتخاب شركت مجري و برگزاري جلسات متعدد فني و محتوايي پروپزال اجرايي سامانه طوبي تهيه گرديد. </a:t>
            </a:r>
            <a:endParaRPr lang="fa-IR" dirty="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85720" y="1071546"/>
            <a:ext cx="8643966" cy="3139321"/>
          </a:xfrm>
          <a:prstGeom prst="rect">
            <a:avLst/>
          </a:prstGeom>
          <a:noFill/>
        </p:spPr>
        <p:txBody>
          <a:bodyPr wrap="square" rtlCol="1">
            <a:spAutoFit/>
          </a:bodyPr>
          <a:lstStyle/>
          <a:p>
            <a:pPr algn="justLow" rtl="1"/>
            <a:r>
              <a:rPr lang="fa-IR" dirty="0" smtClean="0">
                <a:cs typeface="B Roya" pitchFamily="2" charset="-78"/>
              </a:rPr>
              <a:t>طي مدت زمان اجراي قرارداد نمونه اوليه سامانه طراحي و براي تاييد نظرات گروه هاي هيئات، انجمن ها و كانون ها به كارشناسان مورد نظر ارجاع گرديد. پس از بررسي اوليه توسط گروه هاي مختلف در جلسه اي مشترك ميان مركز انفورماتيك و اداره كل تشكلهاي ديني نظرات مورد بررسي قرار گرفته و از نظرات مديركل تشكلهاي دين نيز بهره گرفته و اصلاحات اساسي انجام شد. </a:t>
            </a:r>
            <a:endParaRPr lang="en-US" dirty="0" smtClean="0">
              <a:cs typeface="B Roya" pitchFamily="2" charset="-78"/>
            </a:endParaRPr>
          </a:p>
          <a:p>
            <a:pPr algn="justLow" rtl="1"/>
            <a:r>
              <a:rPr lang="fa-IR" dirty="0" smtClean="0">
                <a:cs typeface="B Roya" pitchFamily="2" charset="-78"/>
              </a:rPr>
              <a:t>در همين زمان و به شكل موازي بستر استقرار نرم افزار از جمله </a:t>
            </a:r>
            <a:r>
              <a:rPr lang="en-US" dirty="0" smtClean="0">
                <a:cs typeface="B Roya" pitchFamily="2" charset="-78"/>
              </a:rPr>
              <a:t>Database</a:t>
            </a:r>
            <a:r>
              <a:rPr lang="fa-IR" dirty="0" smtClean="0">
                <a:cs typeface="B Roya" pitchFamily="2" charset="-78"/>
              </a:rPr>
              <a:t>، ارتباطات اصلي، </a:t>
            </a:r>
            <a:r>
              <a:rPr lang="en-US" dirty="0" smtClean="0">
                <a:cs typeface="B Roya" pitchFamily="2" charset="-78"/>
              </a:rPr>
              <a:t>Backup</a:t>
            </a:r>
            <a:r>
              <a:rPr lang="fa-IR" dirty="0" smtClean="0">
                <a:cs typeface="B Roya" pitchFamily="2" charset="-78"/>
              </a:rPr>
              <a:t>گيري و .... در سرور اصلي كه در ديتاسنتر تبيان قرار دارد توسط مركز انفورماتيك مهيا گرديد. پس از قرارگرفتن سامانه در بستر اصلي و اجراي آن در محيط اينترانت به شكل زمانبندي شده، از كارشناسان انفورماتيك تشكلهاي ديني استانها در سه گروه دعوت بعمل آمده و نظرات آنها نيز در حوزه محتوايي، فني و عملياتي استفاده شده و به شكل جمع بندي شده در جلسه اي طولاني با حضور شركت مجري قرارداد، مركز انفورماتيك و اداره كل تشكلهاي ديني مورد بحث و بررسي قرار گرفت كه هم اكنون در حال اجراي نظرات تاييد شده استاني و در آستانه تحويل نرم افزار و سامانه مي باشد. شايان ذكر است كه براي ورود به نرم افزار از درگاه سايت خبري </a:t>
            </a:r>
            <a:r>
              <a:rPr lang="en-US" dirty="0" smtClean="0">
                <a:cs typeface="B Roya" pitchFamily="2" charset="-78"/>
              </a:rPr>
              <a:t>TDM</a:t>
            </a:r>
            <a:r>
              <a:rPr lang="fa-IR" dirty="0" smtClean="0">
                <a:cs typeface="B Roya" pitchFamily="2" charset="-78"/>
              </a:rPr>
              <a:t> نيز مي توان استفاده كرد.</a:t>
            </a:r>
            <a:endParaRPr lang="en-US" dirty="0" smtClean="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8596" y="928670"/>
            <a:ext cx="8286744" cy="4524315"/>
          </a:xfrm>
          <a:prstGeom prst="rect">
            <a:avLst/>
          </a:prstGeom>
          <a:noFill/>
        </p:spPr>
        <p:txBody>
          <a:bodyPr wrap="square" rtlCol="1">
            <a:spAutoFit/>
          </a:bodyPr>
          <a:lstStyle/>
          <a:p>
            <a:pPr algn="justLow" rtl="1"/>
            <a:r>
              <a:rPr lang="ar-SA" b="1" u="sng" dirty="0" smtClean="0">
                <a:cs typeface="B Roya" pitchFamily="2" charset="-78"/>
              </a:rPr>
              <a:t>ب-7- آنتي ويروس (نرم افزار امنيتي) :</a:t>
            </a:r>
            <a:endParaRPr lang="en-US" dirty="0" smtClean="0">
              <a:cs typeface="B Roya" pitchFamily="2" charset="-78"/>
            </a:endParaRPr>
          </a:p>
          <a:p>
            <a:pPr algn="justLow" rtl="1"/>
            <a:r>
              <a:rPr lang="ar-SA" dirty="0" smtClean="0">
                <a:cs typeface="B Roya" pitchFamily="2" charset="-78"/>
              </a:rPr>
              <a:t>يكي از مهم‌ترين اقدامات نرم افزاري در شبكه هاي كامپيوتري راه اندازي و استفاده از آنتي ويروس مناسب است كه در اين راستا از ابتداي دهه 80  ، آنتي ويروس‌هاي معروف بصورت قفل شكسته بكار گرفته مي‌شد ليكن با توجه به افزايش روزافزون آسيبهايي كه در اين زمينه متوجه شبكه‌هاي رايانه‌اي مي‌گرديد مركز انفورماتيك تصميم به تهيه و نصب يك آنتي ويروس مناسب و معتبر در سطح كل استانها گرفت ، از اين‌رو پس از بررسي‌هايي كه بر اساس محورهاي ذيل انجام پذيرفت ، اقدامات لازم در خصوص خريد و نصب آنتي ويروس كسپراسكي صورت گرفت.</a:t>
            </a:r>
            <a:endParaRPr lang="en-US" dirty="0" smtClean="0">
              <a:cs typeface="B Roya" pitchFamily="2" charset="-78"/>
            </a:endParaRPr>
          </a:p>
          <a:p>
            <a:pPr algn="justLow" rtl="1"/>
            <a:r>
              <a:rPr lang="ar-SA" b="1" u="sng" dirty="0" smtClean="0">
                <a:cs typeface="B Roya" pitchFamily="2" charset="-78"/>
              </a:rPr>
              <a:t>مراحل و محورهاي اصلي ارزيابي آنتي ويروس</a:t>
            </a:r>
            <a:r>
              <a:rPr lang="ar-SA" dirty="0" smtClean="0">
                <a:cs typeface="B Roya" pitchFamily="2" charset="-78"/>
              </a:rPr>
              <a:t> :</a:t>
            </a:r>
            <a:endParaRPr lang="en-US" dirty="0" smtClean="0">
              <a:cs typeface="B Roya" pitchFamily="2" charset="-78"/>
            </a:endParaRPr>
          </a:p>
          <a:p>
            <a:pPr lvl="0" algn="justLow" rtl="1"/>
            <a:r>
              <a:rPr lang="ar-SA" dirty="0" smtClean="0">
                <a:cs typeface="B Roya" pitchFamily="2" charset="-78"/>
              </a:rPr>
              <a:t>قدرت شناسايي بدافزارها</a:t>
            </a:r>
            <a:endParaRPr lang="en-US" dirty="0" smtClean="0">
              <a:cs typeface="B Roya" pitchFamily="2" charset="-78"/>
            </a:endParaRPr>
          </a:p>
          <a:p>
            <a:pPr lvl="0" algn="justLow" rtl="1"/>
            <a:r>
              <a:rPr lang="ar-SA" dirty="0" smtClean="0">
                <a:cs typeface="B Roya" pitchFamily="2" charset="-78"/>
              </a:rPr>
              <a:t>كنسول مديريتي آنتي ويروس</a:t>
            </a:r>
            <a:endParaRPr lang="en-US" dirty="0" smtClean="0">
              <a:cs typeface="B Roya" pitchFamily="2" charset="-78"/>
            </a:endParaRPr>
          </a:p>
          <a:p>
            <a:pPr lvl="0" algn="justLow" rtl="1"/>
            <a:r>
              <a:rPr lang="ar-SA" dirty="0" smtClean="0">
                <a:cs typeface="B Roya" pitchFamily="2" charset="-78"/>
              </a:rPr>
              <a:t>سرعت مناسب</a:t>
            </a:r>
            <a:endParaRPr lang="en-US" dirty="0" smtClean="0">
              <a:cs typeface="B Roya" pitchFamily="2" charset="-78"/>
            </a:endParaRPr>
          </a:p>
          <a:p>
            <a:pPr lvl="0" algn="justLow" rtl="1"/>
            <a:r>
              <a:rPr lang="ar-SA" dirty="0" smtClean="0">
                <a:cs typeface="B Roya" pitchFamily="2" charset="-78"/>
              </a:rPr>
              <a:t>قابليت بروز رساني سرور و كلاينتها</a:t>
            </a:r>
            <a:endParaRPr lang="en-US" dirty="0" smtClean="0">
              <a:cs typeface="B Roya" pitchFamily="2" charset="-78"/>
            </a:endParaRPr>
          </a:p>
          <a:p>
            <a:pPr lvl="0" algn="justLow" rtl="1"/>
            <a:r>
              <a:rPr lang="ar-SA" dirty="0" smtClean="0">
                <a:cs typeface="B Roya" pitchFamily="2" charset="-78"/>
              </a:rPr>
              <a:t>ارائه خدمات پشتيباني مناسب</a:t>
            </a:r>
            <a:endParaRPr lang="en-US" dirty="0" smtClean="0">
              <a:cs typeface="B Roya" pitchFamily="2" charset="-78"/>
            </a:endParaRPr>
          </a:p>
          <a:p>
            <a:pPr lvl="0" algn="justLow" rtl="1"/>
            <a:r>
              <a:rPr lang="ar-SA" dirty="0" smtClean="0">
                <a:cs typeface="B Roya" pitchFamily="2" charset="-78"/>
              </a:rPr>
              <a:t>راه اندازي ، بررسي و تست روي يك شبكه بصورت آزمايشي</a:t>
            </a:r>
            <a:endParaRPr lang="en-US" dirty="0" smtClean="0">
              <a:cs typeface="B Roya" pitchFamily="2" charset="-78"/>
            </a:endParaRPr>
          </a:p>
          <a:p>
            <a:pPr lvl="0" algn="justLow" rtl="1"/>
            <a:r>
              <a:rPr lang="ar-SA" dirty="0" smtClean="0">
                <a:cs typeface="B Roya" pitchFamily="2" charset="-78"/>
              </a:rPr>
              <a:t>استفاده از ارزيابي سايتهاي معتبر مانند:  </a:t>
            </a:r>
            <a:r>
              <a:rPr lang="ar-SA" u="sng" dirty="0" smtClean="0">
                <a:cs typeface="B Roya" pitchFamily="2" charset="-78"/>
              </a:rPr>
              <a:t>مركز ماهر</a:t>
            </a:r>
            <a:r>
              <a:rPr lang="ar-SA" dirty="0" smtClean="0">
                <a:cs typeface="B Roya" pitchFamily="2" charset="-78"/>
              </a:rPr>
              <a:t>  ( وابسته به وزارت ارتباطات و فناوري اطلاعات )</a:t>
            </a:r>
            <a:endParaRPr lang="en-US" dirty="0" smtClean="0">
              <a:cs typeface="B Roya" pitchFamily="2" charset="-78"/>
            </a:endParaRPr>
          </a:p>
          <a:p>
            <a:pPr algn="justLow" rtl="1"/>
            <a:r>
              <a:rPr lang="ar-SA" dirty="0" smtClean="0">
                <a:cs typeface="B Roya" pitchFamily="2" charset="-78"/>
              </a:rPr>
              <a:t>آينده نگري در خصوص اعمال تحريم عليه ايران</a:t>
            </a:r>
            <a:endParaRPr lang="fa-IR" dirty="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0034" y="928670"/>
            <a:ext cx="8072494" cy="2862322"/>
          </a:xfrm>
          <a:prstGeom prst="rect">
            <a:avLst/>
          </a:prstGeom>
          <a:noFill/>
        </p:spPr>
        <p:txBody>
          <a:bodyPr wrap="square" rtlCol="1">
            <a:spAutoFit/>
          </a:bodyPr>
          <a:lstStyle/>
          <a:p>
            <a:pPr algn="r" rtl="1"/>
            <a:r>
              <a:rPr lang="ar-SA" b="1" u="sng" dirty="0" smtClean="0">
                <a:cs typeface="B Roya" pitchFamily="2" charset="-78"/>
              </a:rPr>
              <a:t>ب-8- نرم افزار اتوماسيون اداري:</a:t>
            </a:r>
            <a:endParaRPr lang="en-US" dirty="0" smtClean="0">
              <a:cs typeface="B Roya" pitchFamily="2" charset="-78"/>
            </a:endParaRPr>
          </a:p>
          <a:p>
            <a:pPr algn="justLow" rtl="1"/>
            <a:r>
              <a:rPr lang="ar-SA" dirty="0" smtClean="0">
                <a:cs typeface="B Roya" pitchFamily="2" charset="-78"/>
              </a:rPr>
              <a:t>در سال 1380 نرم افزاري در مركز انفورماتيك تهيه شده يود كه به‌طور اتوماتيك شماره اندیكاتور صادره كرده و به جاي دفتر انديكاتور مورد استفاده قرار مي گرفت. سپس در سال 1383 باتوجه به لزوم حفظ ثبت ، گردش و بايگاني مكاتبات، سازمان اقدام به خريد نرم افزار اتواسيون اداري همكاران سيستم نمود.‌‌ براي استقرار اين سيستم نياز به فراهم كردن بستر سخت افزاري مناسب بود كه در اين زمينه سازمان اقدام به خريد و به روز رساني تعداد 300 دستگاه كامپيوتر و 15 عدد اسكنر و ملزومات مورد نياز ديگر نمود. سپس ارتباط </a:t>
            </a:r>
            <a:r>
              <a:rPr lang="en-US" dirty="0" smtClean="0">
                <a:cs typeface="B Roya" pitchFamily="2" charset="-78"/>
              </a:rPr>
              <a:t>point to point </a:t>
            </a:r>
            <a:r>
              <a:rPr lang="fa-IR" dirty="0" smtClean="0">
                <a:cs typeface="B Roya" pitchFamily="2" charset="-78"/>
              </a:rPr>
              <a:t>  بين ساختمان دفتر مركزي و ساختمان شماره 2 (شهید نواب) برقرار، تجهيزات شبكه و كابل‌كشي هر دو ساختمان بروز گرديد. پس از تجهيز هر دو ساختمان از نظر سخت‌افزاري آموزش كاربران آغاز و سيستم همكاران سيستم پياده گرديد. پس از گذشت سه سال وتصمیم سازمان در جهت راه اندازي نرم افزار اتوماسيون يكسان در سطح كل كشور چندين نرم افزار طبق جدول ذيل مورد بررسي قرار گرفت :</a:t>
            </a:r>
          </a:p>
        </p:txBody>
      </p:sp>
      <p:graphicFrame>
        <p:nvGraphicFramePr>
          <p:cNvPr id="3" name="Table 2"/>
          <p:cNvGraphicFramePr>
            <a:graphicFrameLocks noGrp="1"/>
          </p:cNvGraphicFramePr>
          <p:nvPr>
            <p:extLst>
              <p:ext uri="{D42A27DB-BD31-4B8C-83A1-F6EECF244321}">
                <p14:modId xmlns:p14="http://schemas.microsoft.com/office/powerpoint/2010/main" xmlns="" val="4048031692"/>
              </p:ext>
            </p:extLst>
          </p:nvPr>
        </p:nvGraphicFramePr>
        <p:xfrm>
          <a:off x="1643042" y="4143380"/>
          <a:ext cx="6096001" cy="598719"/>
        </p:xfrm>
        <a:graphic>
          <a:graphicData uri="http://schemas.openxmlformats.org/drawingml/2006/table">
            <a:tbl>
              <a:tblPr rtl="1"/>
              <a:tblGrid>
                <a:gridCol w="1487349"/>
                <a:gridCol w="1487349"/>
                <a:gridCol w="1487349"/>
                <a:gridCol w="1633954"/>
              </a:tblGrid>
              <a:tr h="242086">
                <a:tc>
                  <a:txBody>
                    <a:bodyPr/>
                    <a:lstStyle/>
                    <a:p>
                      <a:pPr algn="ctr" rtl="1">
                        <a:lnSpc>
                          <a:spcPct val="115000"/>
                        </a:lnSpc>
                        <a:spcAft>
                          <a:spcPts val="1000"/>
                        </a:spcAft>
                      </a:pPr>
                      <a:r>
                        <a:rPr lang="ar-SA" sz="1400" b="1" dirty="0">
                          <a:latin typeface="Calibri"/>
                          <a:ea typeface="Calibri"/>
                          <a:cs typeface="B Roya" pitchFamily="2" charset="-78"/>
                        </a:rPr>
                        <a:t>نام شركت</a:t>
                      </a:r>
                      <a:endParaRPr lang="en-US" sz="1100" b="1" dirty="0">
                        <a:latin typeface="Calibri"/>
                        <a:ea typeface="Calibri"/>
                        <a:cs typeface="B Roya" pitchFamily="2" charset="-78"/>
                      </a:endParaRPr>
                    </a:p>
                  </a:txBody>
                  <a:tcPr marL="67664" marR="676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rtl="1">
                        <a:lnSpc>
                          <a:spcPct val="115000"/>
                        </a:lnSpc>
                        <a:spcAft>
                          <a:spcPts val="1000"/>
                        </a:spcAft>
                      </a:pPr>
                      <a:r>
                        <a:rPr lang="ar-SA" sz="1400" b="1">
                          <a:latin typeface="Calibri"/>
                          <a:ea typeface="Calibri"/>
                          <a:cs typeface="B Roya" pitchFamily="2" charset="-78"/>
                        </a:rPr>
                        <a:t>همكاران سيستم</a:t>
                      </a:r>
                      <a:endParaRPr lang="en-US" sz="1100" b="1">
                        <a:latin typeface="Calibri"/>
                        <a:ea typeface="Calibri"/>
                        <a:cs typeface="B Roya" pitchFamily="2" charset="-78"/>
                      </a:endParaRPr>
                    </a:p>
                  </a:txBody>
                  <a:tcPr marL="67664" marR="676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rtl="1">
                        <a:lnSpc>
                          <a:spcPct val="115000"/>
                        </a:lnSpc>
                        <a:spcAft>
                          <a:spcPts val="1000"/>
                        </a:spcAft>
                      </a:pPr>
                      <a:r>
                        <a:rPr lang="ar-SA" sz="1400" b="1">
                          <a:latin typeface="Calibri"/>
                          <a:ea typeface="Calibri"/>
                          <a:cs typeface="B Roya" pitchFamily="2" charset="-78"/>
                        </a:rPr>
                        <a:t>فايلر پرو</a:t>
                      </a:r>
                      <a:endParaRPr lang="en-US" sz="1100" b="1">
                        <a:latin typeface="Calibri"/>
                        <a:ea typeface="Calibri"/>
                        <a:cs typeface="B Roya" pitchFamily="2" charset="-78"/>
                      </a:endParaRPr>
                    </a:p>
                  </a:txBody>
                  <a:tcPr marL="67664" marR="676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c>
                  <a:txBody>
                    <a:bodyPr/>
                    <a:lstStyle/>
                    <a:p>
                      <a:pPr algn="ctr" rtl="1">
                        <a:lnSpc>
                          <a:spcPct val="115000"/>
                        </a:lnSpc>
                        <a:spcAft>
                          <a:spcPts val="1000"/>
                        </a:spcAft>
                      </a:pPr>
                      <a:r>
                        <a:rPr lang="ar-SA" sz="1400" b="1">
                          <a:latin typeface="Calibri"/>
                          <a:ea typeface="Calibri"/>
                          <a:cs typeface="B Roya" pitchFamily="2" charset="-78"/>
                        </a:rPr>
                        <a:t>آي كن</a:t>
                      </a:r>
                      <a:endParaRPr lang="en-US" sz="1100" b="1">
                        <a:latin typeface="Calibri"/>
                        <a:ea typeface="Calibri"/>
                        <a:cs typeface="B Roya" pitchFamily="2" charset="-78"/>
                      </a:endParaRPr>
                    </a:p>
                  </a:txBody>
                  <a:tcPr marL="67664" marR="676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E6E6E6"/>
                    </a:solidFill>
                  </a:tcPr>
                </a:tc>
              </a:tr>
              <a:tr h="353355">
                <a:tc>
                  <a:txBody>
                    <a:bodyPr/>
                    <a:lstStyle/>
                    <a:p>
                      <a:pPr algn="ctr" rtl="1">
                        <a:lnSpc>
                          <a:spcPct val="115000"/>
                        </a:lnSpc>
                        <a:spcAft>
                          <a:spcPts val="1000"/>
                        </a:spcAft>
                      </a:pPr>
                      <a:r>
                        <a:rPr lang="ar-SA" sz="1400" b="1" dirty="0">
                          <a:latin typeface="Calibri"/>
                          <a:ea typeface="Calibri"/>
                          <a:cs typeface="B Roya" pitchFamily="2" charset="-78"/>
                        </a:rPr>
                        <a:t>امتياز</a:t>
                      </a:r>
                      <a:endParaRPr lang="en-US" sz="1100" b="1" dirty="0">
                        <a:latin typeface="Calibri"/>
                        <a:ea typeface="Calibri"/>
                        <a:cs typeface="B Roya" pitchFamily="2" charset="-78"/>
                      </a:endParaRPr>
                    </a:p>
                  </a:txBody>
                  <a:tcPr marL="67664" marR="676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15000"/>
                        </a:lnSpc>
                        <a:spcAft>
                          <a:spcPts val="1000"/>
                        </a:spcAft>
                      </a:pPr>
                      <a:r>
                        <a:rPr lang="fa-IR" sz="1400" b="1" dirty="0" smtClean="0">
                          <a:latin typeface="Broya"/>
                          <a:ea typeface="Calibri"/>
                          <a:cs typeface="B Roya" pitchFamily="2" charset="-78"/>
                        </a:rPr>
                        <a:t>39.5</a:t>
                      </a:r>
                      <a:endParaRPr lang="en-US" sz="1400" b="1" dirty="0">
                        <a:latin typeface="Broya"/>
                        <a:ea typeface="Calibri"/>
                        <a:cs typeface="B Roya" pitchFamily="2" charset="-78"/>
                      </a:endParaRPr>
                    </a:p>
                  </a:txBody>
                  <a:tcPr marL="67664" marR="676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15000"/>
                        </a:lnSpc>
                        <a:spcAft>
                          <a:spcPts val="1000"/>
                        </a:spcAft>
                      </a:pPr>
                      <a:r>
                        <a:rPr lang="ar-SA" sz="1400" b="1" dirty="0">
                          <a:latin typeface="Calibri"/>
                          <a:ea typeface="Calibri"/>
                          <a:cs typeface="B Roya" pitchFamily="2" charset="-78"/>
                        </a:rPr>
                        <a:t>48</a:t>
                      </a:r>
                      <a:endParaRPr lang="en-US" sz="1100" b="1" dirty="0">
                        <a:latin typeface="Calibri"/>
                        <a:ea typeface="Calibri"/>
                        <a:cs typeface="B Roya" pitchFamily="2" charset="-78"/>
                      </a:endParaRPr>
                    </a:p>
                  </a:txBody>
                  <a:tcPr marL="67664" marR="676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15000"/>
                        </a:lnSpc>
                        <a:spcAft>
                          <a:spcPts val="1000"/>
                        </a:spcAft>
                      </a:pPr>
                      <a:r>
                        <a:rPr lang="ar-SA" sz="1400" b="1" dirty="0">
                          <a:latin typeface="Calibri"/>
                          <a:ea typeface="Calibri"/>
                          <a:cs typeface="B Roya" pitchFamily="2" charset="-78"/>
                        </a:rPr>
                        <a:t>39</a:t>
                      </a:r>
                      <a:endParaRPr lang="en-US" sz="1100" b="1" dirty="0">
                        <a:latin typeface="Calibri"/>
                        <a:ea typeface="Calibri"/>
                        <a:cs typeface="B Roya" pitchFamily="2" charset="-78"/>
                      </a:endParaRPr>
                    </a:p>
                  </a:txBody>
                  <a:tcPr marL="67664" marR="67664"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spd="slow">
    <p:zoom/>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1"/>
          <p:cNvSpPr>
            <a:spLocks noChangeArrowheads="1"/>
          </p:cNvSpPr>
          <p:nvPr/>
        </p:nvSpPr>
        <p:spPr bwMode="auto">
          <a:xfrm>
            <a:off x="428596" y="928670"/>
            <a:ext cx="8072430" cy="230832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در نهايت نرم افزار فايلر پرو شركت ايران رايانه مورد تاييد قرار گرفت و تعداد 34 نسخه با تعداد كاربران نامحدود بهمراه نسخه وب خريداري گرديد.</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باتوجه به تجربيات راه اندازي نرم افزار اتوماسيون اداري همكاران سيستم جهت بهبود روند پياده سازي كميته راهبري اتوماسيون اداري با اعضاء ذيل تشكيل گرديد:</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معاونت اداري ومالي دفتر مركزي به عنوان رييس كميته راهبري اتوماسيون اداري</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مدير كل امور اداري بعنوان دبير كميته راهبري اتوماسيون اداري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مدير اجرايي</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رييس مركز انفور ماتيك بعنوان مدير فني .</a:t>
            </a:r>
            <a:endParaRPr kumimoji="0" lang="fa-IR" b="0" i="0" u="none" strike="noStrike" cap="none" normalizeH="0" baseline="0" dirty="0" smtClean="0">
              <a:ln>
                <a:noFill/>
              </a:ln>
              <a:solidFill>
                <a:schemeClr val="tx1"/>
              </a:solidFill>
              <a:effectLst/>
              <a:latin typeface="Arial" pitchFamily="34" charset="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928662" y="1928802"/>
            <a:ext cx="7215206" cy="369331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0" fontAlgn="base" latinLnBrk="0" hangingPunct="0">
              <a:lnSpc>
                <a:spcPct val="100000"/>
              </a:lnSpc>
              <a:spcBef>
                <a:spcPct val="0"/>
              </a:spcBef>
              <a:spcAft>
                <a:spcPct val="0"/>
              </a:spcAft>
              <a:buClrTx/>
              <a:buSzTx/>
              <a:buFontTx/>
              <a:buChar char="•"/>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آماده سازي بستر سخت افزاري ونرم افزاري وارتباط شبكه سيستم در جهت گسترش خدمات به كليه واحدهاي سازماني برابر مصوبات كميته راهبري</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Char char="•"/>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ارائه گزارشات آماري،تحليلي ومديريتي سيستم به كميته راهبري</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Char char="•"/>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شركت دركليه كلاسهاي آموزشي مربوط به سيستم اتوماسيون</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Char char="•"/>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اجراي ارتباطات عمودي وافقي سطوح دسترسي كاربران برابر مصوبات كميته راهبري</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Char char="•"/>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اجراي كد مكاتباتي واحدهاي متصل به شبكه برابر مصوبات كميته راهبري</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Char char="•"/>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تعيين و ابلاغ نام كاربري و رمز عبور كاربران مجاز در سيستم به مدير اجرايي</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Char char="•"/>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نگهداري رمز عبور مربوط به مدير سيستم</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Char char="•"/>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تامين امنيت كامل شبكه و اطلاعات سازمان از طريق رعايت استانداردهاي امنيتي موجود</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Char char="•"/>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انجام هرگونه تغيير و راه اندازي قابليتهاي سيستم مورد نظر مدير اجرايي كه به تصويب كميته راهبري رسيده باشد.</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Char char="•"/>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ارتباط مستقيم با شركت مربوطه در زمينه بروز رساني سيتم </a:t>
            </a:r>
            <a:endParaRPr kumimoji="0" lang="ar-SA" b="0" i="0" u="none" strike="noStrike" cap="none" normalizeH="0" baseline="0" dirty="0" smtClean="0">
              <a:ln>
                <a:noFill/>
              </a:ln>
              <a:solidFill>
                <a:schemeClr val="tx1"/>
              </a:solidFill>
              <a:effectLst/>
              <a:latin typeface="Calibri" pitchFamily="34" charset="0"/>
              <a:ea typeface="Calibri" pitchFamily="34" charset="0"/>
              <a:cs typeface="B Mitr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b="0" i="0" u="none" strike="noStrike" cap="none" normalizeH="0" baseline="0" dirty="0" smtClean="0">
                <a:ln>
                  <a:noFill/>
                </a:ln>
                <a:solidFill>
                  <a:schemeClr val="tx1"/>
                </a:solidFill>
                <a:effectLst/>
                <a:latin typeface="Calibri" pitchFamily="34" charset="0"/>
                <a:ea typeface="Calibri" pitchFamily="34" charset="0"/>
                <a:cs typeface="B Mitra" pitchFamily="2" charset="-78"/>
              </a:rPr>
              <a:t>پيگيري انجام تعهدات شركت مربوطه مندرج در قرارداد فيمابين و ارائه گزارش به كميته راهبري  </a:t>
            </a:r>
            <a:endParaRPr kumimoji="0" lang="ar-SA" b="0" i="0" u="none" strike="noStrike" cap="none" normalizeH="0" baseline="0" dirty="0" smtClean="0">
              <a:ln>
                <a:noFill/>
              </a:ln>
              <a:solidFill>
                <a:schemeClr val="tx1"/>
              </a:solidFill>
              <a:effectLst/>
              <a:latin typeface="Arial" pitchFamily="34" charset="0"/>
              <a:cs typeface="Arial" pitchFamily="34" charset="0"/>
            </a:endParaRPr>
          </a:p>
        </p:txBody>
      </p:sp>
      <p:sp>
        <p:nvSpPr>
          <p:cNvPr id="6" name="Rectangle 5"/>
          <p:cNvSpPr/>
          <p:nvPr/>
        </p:nvSpPr>
        <p:spPr>
          <a:xfrm>
            <a:off x="785786" y="1142984"/>
            <a:ext cx="7500990" cy="646331"/>
          </a:xfrm>
          <a:prstGeom prst="rect">
            <a:avLst/>
          </a:prstGeom>
        </p:spPr>
        <p:txBody>
          <a:bodyPr wrap="square">
            <a:spAutoFit/>
          </a:bodyPr>
          <a:lstStyle/>
          <a:p>
            <a:pPr lvl="0" algn="r" rtl="1" fontAlgn="base">
              <a:spcBef>
                <a:spcPct val="0"/>
              </a:spcBef>
              <a:spcAft>
                <a:spcPct val="0"/>
              </a:spcAft>
            </a:pPr>
            <a:r>
              <a:rPr lang="fa-IR" b="1" dirty="0" smtClean="0">
                <a:latin typeface="Arial" pitchFamily="34" charset="0"/>
                <a:ea typeface="Calibri" pitchFamily="34" charset="0"/>
                <a:cs typeface="B Mitra" pitchFamily="2" charset="-78"/>
              </a:rPr>
              <a:t>در ادامه شرح وظايف مدير فني سيستم اتوماسيون كه در كميته راهبري تدوين و مصوب گرديده ، آورده شده است:</a:t>
            </a:r>
            <a:endParaRPr lang="en-US" sz="800" b="1" dirty="0" smtClean="0">
              <a:latin typeface="Arial" pitchFamily="34" charset="0"/>
              <a:cs typeface="Arial" pitchFamily="34" charset="0"/>
            </a:endParaRPr>
          </a:p>
        </p:txBody>
      </p:sp>
    </p:spTree>
  </p:cSld>
  <p:clrMapOvr>
    <a:masterClrMapping/>
  </p:clrMapOvr>
  <p:transition spd="slow">
    <p:zoom/>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
          <p:cNvSpPr>
            <a:spLocks noChangeArrowheads="1"/>
          </p:cNvSpPr>
          <p:nvPr/>
        </p:nvSpPr>
        <p:spPr bwMode="auto">
          <a:xfrm>
            <a:off x="500034" y="1071546"/>
            <a:ext cx="8001056" cy="34163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از مهم‌ترين مصوبات كميته راهبري مي‌توان به تعيين جدول سطوح دسترسي و ارجاعات مكاتبات كليه كاربران، راه‌اندازي گروه‌هاي محرمانه (حراست، گزينش و تخلفات اداري)، گروه‌هاي مرخصي و ماموريت در سطح كل كشور اشاره نمود.</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اين كميته در سطح استان نيز باحضور  مدير كل بعنوان رييس ، معاون اداري مالي بعنوان مدير اجرايي و كارشناس انفورماتيك بعنوان مدير فني راه اندازي گرديده است.</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پس از پياده سازي نرم افزار اتوماسيون اداري در دفتر مركزي و استانها و با توجه به وجود بستر ارتباطي امن تبيان و نيز امكانات سيستم اتوماسيون اداري فايلر پرو ، مركز انفور ماتيك اقدام به برقراري بين سرورهاي استانها و دفتر مركزي نمود. با برقراري اين ارتباط، كليه اسناد و مكاتبات از طريق </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XML</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 بين دفتر مركزي و استانها مبادله مي‌گرديد.</a:t>
            </a:r>
            <a:endParaRPr kumimoji="0" lang="ar-SA" b="0" i="0" u="none" strike="noStrike" cap="none" normalizeH="0" baseline="0" dirty="0" smtClean="0">
              <a:ln>
                <a:noFill/>
              </a:ln>
              <a:solidFill>
                <a:schemeClr val="tx1"/>
              </a:solidFill>
              <a:effectLst/>
              <a:latin typeface="Calibri" pitchFamily="34" charset="0"/>
              <a:ea typeface="Calibri"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b="0" i="0" u="none" strike="noStrike" cap="none" normalizeH="0" baseline="0" dirty="0" smtClean="0">
                <a:ln>
                  <a:noFill/>
                </a:ln>
                <a:solidFill>
                  <a:schemeClr val="tx1"/>
                </a:solidFill>
                <a:effectLst/>
                <a:latin typeface="Calibri" pitchFamily="34" charset="0"/>
                <a:ea typeface="Calibri" pitchFamily="34" charset="0"/>
                <a:cs typeface="B Roya" pitchFamily="2" charset="-78"/>
              </a:rPr>
              <a:t>در اواخر سال 1388 با توجه به وجود بستر سخت افزاري مناسب در استان خوزستان نسخه تحت وب در اين استان راه‌اندازي گرديد. با راه اندازي اين سرويس كليه دفاتر شهرستاني اين استان تمامي مكاتبات خود را در نرم افزار ثبت و به گردش مي انداختند. </a:t>
            </a:r>
            <a:r>
              <a:rPr kumimoji="0" lang="fa-IR" b="0" i="0" u="none" strike="noStrike" cap="none" normalizeH="0" baseline="0" dirty="0" smtClean="0">
                <a:ln>
                  <a:noFill/>
                </a:ln>
                <a:solidFill>
                  <a:schemeClr val="tx1"/>
                </a:solidFill>
                <a:effectLst/>
                <a:latin typeface="Calibri" pitchFamily="34" charset="0"/>
                <a:ea typeface="Calibri" pitchFamily="34" charset="0"/>
                <a:cs typeface="B Roya" pitchFamily="2" charset="-78"/>
              </a:rPr>
              <a:t>تا كنون پنج استان از اين امكان استفاده مي‌كنند.</a:t>
            </a:r>
            <a:r>
              <a:rPr kumimoji="0" lang="en-US" b="0" i="0" u="none" strike="noStrike" cap="none" normalizeH="0" baseline="0" dirty="0" smtClean="0">
                <a:ln>
                  <a:noFill/>
                </a:ln>
                <a:solidFill>
                  <a:schemeClr val="tx1"/>
                </a:solidFill>
                <a:effectLst/>
                <a:latin typeface="Arial" pitchFamily="34" charset="0"/>
                <a:cs typeface="B Roya" pitchFamily="2" charset="-78"/>
              </a:rPr>
              <a:t> </a:t>
            </a:r>
          </a:p>
        </p:txBody>
      </p:sp>
    </p:spTree>
  </p:cSld>
  <p:clrMapOvr>
    <a:masterClrMapping/>
  </p:clrMapOvr>
  <p:transition spd="slow">
    <p:zoom/>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1"/>
          <p:cNvSpPr>
            <a:spLocks noChangeArrowheads="1"/>
          </p:cNvSpPr>
          <p:nvPr/>
        </p:nvSpPr>
        <p:spPr bwMode="auto">
          <a:xfrm>
            <a:off x="571472" y="785794"/>
            <a:ext cx="8001056" cy="507831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tab pos="228600"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در اواسط سال 1389 با توجه به ارتقاء نرم افزار و نيازهاي جديد سازمان ، سازمان تبليغات اقدام به خريد نسخه جديد فايلر پرو با نام فايلر پلاس نمود كه در ذيل برخي از مشخصات مهم اين نرم افزار آمده است:</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tab pos="228600" algn="l"/>
              </a:tabLst>
            </a:pP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مديريت كاربران</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228600" algn="l"/>
              </a:tabLst>
            </a:pP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تعريف درخت تشكيلات، پست‌هاي سازماني، واحدها، كميته‌ها و ... و تخصيص كاربران به آنها</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 اعطاي محدوده دسترسي به اسناد طبقه‌بندي شده (عادي، محرمانه و</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 ...</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 كنترل و گزارش‌گيري جزئيات كاركرد كاربران سيستم با ذكر ساعت، </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IP </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و عمليات انجام شده</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امكان تعريف كليد خصوصي و گواهي ديجيتال براي هر كاربراحراز هويت كاربران از طريق گواهي ديجيتال علاوه بر كد و رمز عبور.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tab pos="228600" algn="l"/>
              </a:tabLst>
            </a:pP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مديريت </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داده‌ها / اطلاعات):</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228600" algn="l"/>
              </a:tabLst>
            </a:pP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تعريف انواع گروه‌هاي اسناد با فرم‌هاي مشترك يا اختصاصي</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  (Database Generator) </a:t>
            </a:r>
            <a:br>
              <a:rPr kumimoji="0" lang="en-US"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b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طبقه‌بندي اسناد به صورت عادي، محرمانه، خيلي محرمانه، سري، به كلي سري</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امكان ايجاد الگوي نامه در</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 Word </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براي صدور نامه، تهيه گزارش و يا صورتجلسه بصورت مكانيزه و استفاده از امضاي الكترونيكي (درج امضا) با تعيين اولويت</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tab pos="228600" algn="l"/>
              </a:tabLst>
            </a:pP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گردش اسناد و مكاتبات:</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228600" algn="l"/>
              </a:tabLst>
            </a:pP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امكان ايجاد كارتابل‌هاي مختلف از انواع بايگاني و ياد‌آوري توسط هر كاربر به شكل درختي</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ثبت ارجاع و پاراف به شكل متن، صدا، فيلم و يا با استفاده از قلم نوري</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امكان ارجاع هم‌زمان يك يا چند سند به يك يا چند كاربر</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Roya" pitchFamily="2" charset="-78"/>
              </a:rPr>
              <a:t>امكان دريافت گزارشهاي مديريتي از وضعيت اسناد موجود در كارتابل كاربرانتوليد امضاي ديجيتال براي اسناد مهم توسط كاربران در نسخه امن، امكان وارسي امضاي ديجيتال سند و كنترل صحت آن در نسخه امن، امكان مشاهده امضاهاي ديجيتال هر سند در فرآيند گردش كار در نسخه امن.</a:t>
            </a:r>
          </a:p>
        </p:txBody>
      </p:sp>
    </p:spTree>
  </p:cSld>
  <p:clrMapOvr>
    <a:masterClrMapping/>
  </p:clrMapOvr>
  <p:transition spd="slow">
    <p:zo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ChangeArrowheads="1"/>
          </p:cNvSpPr>
          <p:nvPr/>
        </p:nvSpPr>
        <p:spPr bwMode="auto">
          <a:xfrm>
            <a:off x="785786" y="2714620"/>
            <a:ext cx="7643866" cy="3139321"/>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Char char="•"/>
              <a:tabLst>
                <a:tab pos="228600" algn="l"/>
              </a:tabLst>
            </a:pP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Mitra" pitchFamily="2" charset="-78"/>
              </a:rPr>
              <a:t>حفاظت و امنيت برنامه</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None/>
              <a:tabLst>
                <a:tab pos="228600" algn="l"/>
              </a:tabLst>
            </a:pP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Mitra" pitchFamily="2" charset="-78"/>
              </a:rPr>
              <a:t>تخصيص گروه‌هاي امنيتي (مجوزها) به اسناد</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Mitra" pitchFamily="2" charset="-78"/>
              </a:rPr>
              <a:t>تخصيص مجوزهاي كاري (تعيين محدوده) كاربران تا كوچك‌ترين عمليات سيستم</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Mitra" pitchFamily="2" charset="-78"/>
              </a:rPr>
              <a:t>امكان رمزگذاري بر روي اسناد به هنگام ذخيره يا انتقال اطلاعات توسط كاربر</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Mitra" pitchFamily="2" charset="-78"/>
              </a:rPr>
              <a:t>توليد و كنترل امضاي ديجيتال براي اسناد مهم</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Mitra" pitchFamily="2" charset="-78"/>
              </a:rPr>
              <a:t>جلوگيري از استراق سمع اطلاعات حين انتقال در شبكه‌هاي محلي و راه دور (اينترانت و اينترنت)</a:t>
            </a:r>
            <a:r>
              <a:rPr kumimoji="0" lang="ar-SA" b="1" i="0" u="none" strike="noStrike" cap="none" normalizeH="0" baseline="0" dirty="0" smtClean="0">
                <a:ln>
                  <a:noFill/>
                </a:ln>
                <a:solidFill>
                  <a:schemeClr val="tx1"/>
                </a:solidFill>
                <a:effectLst/>
                <a:latin typeface="Times New Roman" pitchFamily="18" charset="0"/>
                <a:ea typeface="Calibri" pitchFamily="34" charset="0"/>
                <a:cs typeface="B Mitra" pitchFamily="2" charset="-78"/>
              </a:rPr>
              <a:t>.</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Char char="•"/>
              <a:tabLst>
                <a:tab pos="228600" algn="l"/>
              </a:tabLst>
            </a:pP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Mitra" pitchFamily="2" charset="-78"/>
              </a:rPr>
              <a:t>تسهيلات</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Mitra" pitchFamily="2" charset="-78"/>
              </a:rPr>
              <a:t>امكان دريافت مستقيم اطلاعات از فايل‌هاي</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DB</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Mitra" pitchFamily="2" charset="-78"/>
              </a:rPr>
              <a:t>، </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MDB</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Mitra" pitchFamily="2" charset="-78"/>
              </a:rPr>
              <a:t>، </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DBF </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Mitra" pitchFamily="2" charset="-78"/>
              </a:rPr>
              <a:t>و انتقال به گروه‌هاي اسناد در سيستم</a:t>
            </a:r>
            <a:r>
              <a:rPr kumimoji="0" lang="fa-IR" b="0" i="0" u="none" strike="noStrike" cap="none" normalizeH="0" baseline="0" dirty="0" smtClean="0">
                <a:ln>
                  <a:noFill/>
                </a:ln>
                <a:solidFill>
                  <a:schemeClr val="tx1"/>
                </a:solidFill>
                <a:effectLst/>
                <a:latin typeface="Times New Roman" pitchFamily="18" charset="0"/>
                <a:ea typeface="Calibri" pitchFamily="34" charset="0"/>
                <a:cs typeface="B Mitra" pitchFamily="2" charset="-78"/>
              </a:rPr>
              <a:t> </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Mitra" pitchFamily="2" charset="-78"/>
              </a:rPr>
              <a:t>فايلرپرو</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Mitra" pitchFamily="2" charset="-78"/>
              </a:rPr>
              <a:t>امكان ارسال اسناد براي نسخه ديگري از فايلرپلاس به صورت رمز شده</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Mitra" pitchFamily="2" charset="-78"/>
              </a:rPr>
              <a:t>امكان ارتباط با ساير سيستم‌هاي اتوماسيون اداري و تبادل اطلاعات بين آنها. (با رعايت استاندارد</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ECE</a:t>
            </a:r>
            <a:r>
              <a:rPr kumimoji="0" lang="ar-SA" b="0" i="0" u="none" strike="noStrike" cap="none" normalizeH="0" baseline="0" dirty="0" smtClean="0">
                <a:ln>
                  <a:noFill/>
                </a:ln>
                <a:solidFill>
                  <a:schemeClr val="tx1"/>
                </a:solidFill>
                <a:effectLst/>
                <a:latin typeface="Times New Roman" pitchFamily="18" charset="0"/>
                <a:ea typeface="Calibri" pitchFamily="34" charset="0"/>
                <a:cs typeface="B Mitra" pitchFamily="2" charset="-78"/>
              </a:rPr>
              <a:t>). امكان استفاده از نمايشگر اختصاصي فايلرپلاس براي مشاهده اسناد و نامه‌ها بصورت</a:t>
            </a:r>
            <a:r>
              <a:rPr kumimoji="0" lang="en-US" b="0" i="0" u="none" strike="noStrike" cap="none" normalizeH="0" baseline="0" dirty="0" smtClean="0">
                <a:ln>
                  <a:noFill/>
                </a:ln>
                <a:solidFill>
                  <a:schemeClr val="tx1"/>
                </a:solidFill>
                <a:effectLst/>
                <a:latin typeface="Times New Roman" pitchFamily="18" charset="0"/>
                <a:ea typeface="Calibri" pitchFamily="34" charset="0"/>
                <a:cs typeface="Times New Roman" pitchFamily="18" charset="0"/>
              </a:rPr>
              <a:t> offline</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None/>
              <a:tabLst>
                <a:tab pos="228600"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سازمان تبليغات اسلامي قصد دارد تا پايان سال 1390 كليه مكاتبات سازمان در كل كشور را تا سطح دفاتر شهرستاني از طريق اين نرم افزار ثبت و به گردش در آورد.</a:t>
            </a:r>
            <a:endParaRPr kumimoji="0" lang="fa-IR" b="0" i="0" u="none" strike="noStrike" cap="none" normalizeH="0" baseline="0" dirty="0" smtClean="0">
              <a:ln>
                <a:noFill/>
              </a:ln>
              <a:solidFill>
                <a:schemeClr val="tx1"/>
              </a:solidFill>
              <a:effectLst/>
              <a:latin typeface="Arial" pitchFamily="34" charset="0"/>
              <a:cs typeface="Arial" pitchFamily="34" charset="0"/>
            </a:endParaRPr>
          </a:p>
        </p:txBody>
      </p:sp>
      <p:sp>
        <p:nvSpPr>
          <p:cNvPr id="6" name="Rectangle 5"/>
          <p:cNvSpPr/>
          <p:nvPr/>
        </p:nvSpPr>
        <p:spPr>
          <a:xfrm>
            <a:off x="714348" y="857232"/>
            <a:ext cx="7572428" cy="1477328"/>
          </a:xfrm>
          <a:prstGeom prst="rect">
            <a:avLst/>
          </a:prstGeom>
        </p:spPr>
        <p:txBody>
          <a:bodyPr wrap="square">
            <a:spAutoFit/>
          </a:bodyPr>
          <a:lstStyle/>
          <a:p>
            <a:pPr lvl="0" algn="justLow" rtl="1" eaLnBrk="0" fontAlgn="base" hangingPunct="0">
              <a:spcBef>
                <a:spcPct val="0"/>
              </a:spcBef>
              <a:spcAft>
                <a:spcPct val="0"/>
              </a:spcAft>
              <a:buFontTx/>
              <a:buChar char="•"/>
              <a:tabLst>
                <a:tab pos="228600" algn="l"/>
              </a:tabLst>
            </a:pPr>
            <a:r>
              <a:rPr lang="ar-SA" dirty="0" smtClean="0">
                <a:latin typeface="Times New Roman" pitchFamily="18" charset="0"/>
                <a:ea typeface="Calibri" pitchFamily="34" charset="0"/>
                <a:cs typeface="B Roya" pitchFamily="2" charset="-78"/>
              </a:rPr>
              <a:t>جستجو و گزارشات</a:t>
            </a:r>
            <a:r>
              <a:rPr lang="en-US" dirty="0" smtClean="0">
                <a:latin typeface="Times New Roman" pitchFamily="18" charset="0"/>
                <a:ea typeface="Calibri" pitchFamily="34" charset="0"/>
                <a:cs typeface="B Roya" pitchFamily="2" charset="-78"/>
              </a:rPr>
              <a:t>:</a:t>
            </a:r>
            <a:endParaRPr lang="en-US" dirty="0" smtClean="0">
              <a:latin typeface="Arial" pitchFamily="34" charset="0"/>
              <a:cs typeface="B Roya" pitchFamily="2" charset="-78"/>
            </a:endParaRPr>
          </a:p>
          <a:p>
            <a:pPr lvl="0" algn="justLow" rtl="1" eaLnBrk="0" fontAlgn="base" hangingPunct="0">
              <a:spcBef>
                <a:spcPct val="0"/>
              </a:spcBef>
              <a:spcAft>
                <a:spcPct val="0"/>
              </a:spcAft>
              <a:tabLst>
                <a:tab pos="228600" algn="l"/>
              </a:tabLst>
            </a:pPr>
            <a:r>
              <a:rPr lang="ar-SA" dirty="0" smtClean="0">
                <a:latin typeface="Times New Roman" pitchFamily="18" charset="0"/>
                <a:ea typeface="Calibri" pitchFamily="34" charset="0"/>
                <a:cs typeface="B Roya" pitchFamily="2" charset="-78"/>
              </a:rPr>
              <a:t>جستجو براساس كليه عمليات انجام شده روي سند (ثبت، تغيير، ...) در محدوده تاريخي مشخص</a:t>
            </a:r>
            <a:r>
              <a:rPr lang="en-US" dirty="0" smtClean="0">
                <a:latin typeface="Times New Roman" pitchFamily="18" charset="0"/>
                <a:ea typeface="Calibri" pitchFamily="34" charset="0"/>
                <a:cs typeface="B Roya" pitchFamily="2" charset="-78"/>
              </a:rPr>
              <a:t>.</a:t>
            </a:r>
            <a:r>
              <a:rPr lang="ar-SA" dirty="0" smtClean="0">
                <a:latin typeface="Times New Roman" pitchFamily="18" charset="0"/>
                <a:ea typeface="Calibri" pitchFamily="34" charset="0"/>
                <a:cs typeface="B Roya" pitchFamily="2" charset="-78"/>
              </a:rPr>
              <a:t>جستجو براساس كليه عمليات ارجاع (گيرنده، فرستنده، تاريخ و ...) امكان تهيه گزارش‌هاي مختلف از عملكرد كاربران</a:t>
            </a:r>
            <a:r>
              <a:rPr lang="fa-IR" dirty="0" smtClean="0">
                <a:latin typeface="Times New Roman" pitchFamily="18" charset="0"/>
                <a:ea typeface="Calibri" pitchFamily="34" charset="0"/>
                <a:cs typeface="B Roya" pitchFamily="2" charset="-78"/>
              </a:rPr>
              <a:t>ا</a:t>
            </a:r>
            <a:r>
              <a:rPr lang="ar-SA" dirty="0" smtClean="0">
                <a:latin typeface="Times New Roman" pitchFamily="18" charset="0"/>
                <a:ea typeface="Calibri" pitchFamily="34" charset="0"/>
                <a:cs typeface="B Roya" pitchFamily="2" charset="-78"/>
              </a:rPr>
              <a:t>مكان طراحي انواع گزارش‌هاي مديريتي با استفاده از ابزار ويژه گزارش‌ساز فايلرپلاس</a:t>
            </a:r>
            <a:r>
              <a:rPr lang="en-US" dirty="0" smtClean="0">
                <a:latin typeface="Times New Roman" pitchFamily="18" charset="0"/>
                <a:ea typeface="Calibri" pitchFamily="34" charset="0"/>
                <a:cs typeface="B Roya" pitchFamily="2" charset="-78"/>
              </a:rPr>
              <a:t> (Report Builder)</a:t>
            </a:r>
            <a:endParaRPr lang="en-US" dirty="0" smtClean="0">
              <a:latin typeface="Arial" pitchFamily="34" charset="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
          <p:cNvSpPr>
            <a:spLocks noChangeArrowheads="1"/>
          </p:cNvSpPr>
          <p:nvPr/>
        </p:nvSpPr>
        <p:spPr bwMode="auto">
          <a:xfrm>
            <a:off x="571472" y="2714620"/>
            <a:ext cx="8143932" cy="33239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Char char="•"/>
              <a:tabLst>
                <a:tab pos="457200" algn="l"/>
              </a:tabLst>
            </a:pPr>
            <a:r>
              <a:rPr kumimoji="0" lang="ar-SA" sz="1400" b="1" i="0" u="none" strike="noStrike" cap="none" normalizeH="0" baseline="0" dirty="0" smtClean="0">
                <a:ln>
                  <a:noFill/>
                </a:ln>
                <a:solidFill>
                  <a:schemeClr val="tx1"/>
                </a:solidFill>
                <a:effectLst/>
                <a:latin typeface="Arial" pitchFamily="34" charset="0"/>
                <a:ea typeface="Calibri" pitchFamily="34" charset="0"/>
                <a:cs typeface="B Roya" pitchFamily="2" charset="-78"/>
              </a:rPr>
              <a:t>امكان معرفي و ثبت استانها، شهرستانها، بخش‌ها، دهستانها و روستاهاي مربوط به هر استان به تفكيك</a:t>
            </a:r>
            <a:endParaRPr kumimoji="0" lang="en-US" sz="1400" b="1"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tab pos="457200" algn="l"/>
              </a:tabLst>
            </a:pPr>
            <a:r>
              <a:rPr kumimoji="0" lang="ar-SA" sz="1400" b="1" i="0" u="none" strike="noStrike" cap="none" normalizeH="0" baseline="0" dirty="0" smtClean="0">
                <a:ln>
                  <a:noFill/>
                </a:ln>
                <a:solidFill>
                  <a:schemeClr val="tx1"/>
                </a:solidFill>
                <a:effectLst/>
                <a:latin typeface="Arial" pitchFamily="34" charset="0"/>
                <a:ea typeface="Calibri" pitchFamily="34" charset="0"/>
                <a:cs typeface="B Roya" pitchFamily="2" charset="-78"/>
              </a:rPr>
              <a:t>امكان تعريف نوع املاك و نوع طرح‌ها</a:t>
            </a:r>
            <a:endParaRPr kumimoji="0" lang="en-US" sz="1400" b="1"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tab pos="457200" algn="l"/>
              </a:tabLst>
            </a:pPr>
            <a:r>
              <a:rPr kumimoji="0" lang="ar-SA" sz="1400" b="1" i="0" u="none" strike="noStrike" cap="none" normalizeH="0" baseline="0" dirty="0" smtClean="0">
                <a:ln>
                  <a:noFill/>
                </a:ln>
                <a:solidFill>
                  <a:schemeClr val="tx1"/>
                </a:solidFill>
                <a:effectLst/>
                <a:latin typeface="Arial" pitchFamily="34" charset="0"/>
                <a:ea typeface="Calibri" pitchFamily="34" charset="0"/>
                <a:cs typeface="B Roya" pitchFamily="2" charset="-78"/>
              </a:rPr>
              <a:t>ثبت اطلاعات خريداران و فروشندگان و مشاورين املاك </a:t>
            </a:r>
            <a:endParaRPr kumimoji="0" lang="en-US" sz="1400" b="1"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tab pos="457200" algn="l"/>
              </a:tabLst>
            </a:pPr>
            <a:r>
              <a:rPr kumimoji="0" lang="ar-SA" sz="1400" b="1" i="0" u="none" strike="noStrike" cap="none" normalizeH="0" baseline="0" dirty="0" smtClean="0">
                <a:ln>
                  <a:noFill/>
                </a:ln>
                <a:solidFill>
                  <a:schemeClr val="tx1"/>
                </a:solidFill>
                <a:effectLst/>
                <a:latin typeface="Arial" pitchFamily="34" charset="0"/>
                <a:ea typeface="Calibri" pitchFamily="34" charset="0"/>
                <a:cs typeface="B Roya" pitchFamily="2" charset="-78"/>
              </a:rPr>
              <a:t>امكان ثبت اطلاعات مربوط به بانكها و شعبات مربوطه و اطلاعات مربوط به حساب آنها</a:t>
            </a:r>
            <a:endParaRPr kumimoji="0" lang="en-US" sz="1400" b="1"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tab pos="457200" algn="l"/>
              </a:tabLst>
            </a:pPr>
            <a:r>
              <a:rPr kumimoji="0" lang="ar-SA" sz="1400" b="1" i="0" u="none" strike="noStrike" cap="none" normalizeH="0" baseline="0" dirty="0" smtClean="0">
                <a:ln>
                  <a:noFill/>
                </a:ln>
                <a:solidFill>
                  <a:schemeClr val="tx1"/>
                </a:solidFill>
                <a:effectLst/>
                <a:latin typeface="Arial" pitchFamily="34" charset="0"/>
                <a:ea typeface="Calibri" pitchFamily="34" charset="0"/>
                <a:cs typeface="B Roya" pitchFamily="2" charset="-78"/>
              </a:rPr>
              <a:t>امكان ثبت اطلاعات شناسنامه املاك، اسكن اسناد مر بوط به پرونده ملك مورد نظر، نوع كاربري، بهره‌وري، تأسيسات مكانيكي ، امكانات شهري موجود، ‌اوصاف ملك و نوع مالكيت املاك و وضعيت سند مالكيت و چاپ شناسنامه ملك در صورت تائيد نهايي اطلاعات و امكان مشاهده تصاوير ثبت شده و اسكن شده در سيستم</a:t>
            </a:r>
            <a:endParaRPr kumimoji="0" lang="en-US" sz="1400" b="1"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tab pos="457200" algn="l"/>
              </a:tabLst>
            </a:pPr>
            <a:r>
              <a:rPr kumimoji="0" lang="ar-SA" sz="1400" b="1" i="0" u="none" strike="noStrike" cap="none" normalizeH="0" baseline="0" dirty="0" smtClean="0">
                <a:ln>
                  <a:noFill/>
                </a:ln>
                <a:solidFill>
                  <a:schemeClr val="tx1"/>
                </a:solidFill>
                <a:effectLst/>
                <a:latin typeface="Arial" pitchFamily="34" charset="0"/>
                <a:ea typeface="Calibri" pitchFamily="34" charset="0"/>
                <a:cs typeface="B Roya" pitchFamily="2" charset="-78"/>
              </a:rPr>
              <a:t>امكان مشاهده خلاصه‌اي از اطلاعات املاك </a:t>
            </a:r>
            <a:endParaRPr kumimoji="0" lang="en-US" sz="1400" b="1"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tab pos="457200" algn="l"/>
              </a:tabLst>
            </a:pPr>
            <a:r>
              <a:rPr kumimoji="0" lang="ar-SA" sz="1400" b="1" i="0" u="none" strike="noStrike" cap="none" normalizeH="0" baseline="0" dirty="0" smtClean="0">
                <a:ln>
                  <a:noFill/>
                </a:ln>
                <a:solidFill>
                  <a:schemeClr val="tx1"/>
                </a:solidFill>
                <a:effectLst/>
                <a:latin typeface="Arial" pitchFamily="34" charset="0"/>
                <a:ea typeface="Calibri" pitchFamily="34" charset="0"/>
                <a:cs typeface="B Roya" pitchFamily="2" charset="-78"/>
              </a:rPr>
              <a:t>امكان ثبت اطلاعات املاك استيجاري</a:t>
            </a:r>
            <a:endParaRPr kumimoji="0" lang="en-US" sz="1400" b="1"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tab pos="457200" algn="l"/>
              </a:tabLst>
            </a:pPr>
            <a:r>
              <a:rPr kumimoji="0" lang="ar-SA" sz="1400" b="1" i="0" u="none" strike="noStrike" cap="none" normalizeH="0" baseline="0" dirty="0" smtClean="0">
                <a:ln>
                  <a:noFill/>
                </a:ln>
                <a:solidFill>
                  <a:schemeClr val="tx1"/>
                </a:solidFill>
                <a:effectLst/>
                <a:latin typeface="Arial" pitchFamily="34" charset="0"/>
                <a:ea typeface="Calibri" pitchFamily="34" charset="0"/>
                <a:cs typeface="B Roya" pitchFamily="2" charset="-78"/>
              </a:rPr>
              <a:t>گزارش ارزيابي قيمت به دو صورت استعلام رسمي و غير رسمي</a:t>
            </a:r>
            <a:endParaRPr kumimoji="0" lang="en-US" sz="1400" b="1"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tab pos="457200" algn="l"/>
              </a:tabLst>
            </a:pPr>
            <a:r>
              <a:rPr kumimoji="0" lang="ar-SA" sz="1400" b="1" i="0" u="none" strike="noStrike" cap="none" normalizeH="0" baseline="0" dirty="0" smtClean="0">
                <a:ln>
                  <a:noFill/>
                </a:ln>
                <a:solidFill>
                  <a:schemeClr val="tx1"/>
                </a:solidFill>
                <a:effectLst/>
                <a:latin typeface="Arial" pitchFamily="34" charset="0"/>
                <a:ea typeface="Calibri" pitchFamily="34" charset="0"/>
                <a:cs typeface="B Roya" pitchFamily="2" charset="-78"/>
              </a:rPr>
              <a:t>امكان ثبت مصوبه و صورت جلسه كميسيون املاك و اسكن اسناد مربوطه</a:t>
            </a:r>
            <a:endParaRPr kumimoji="0" lang="en-US" sz="1400" b="1"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tab pos="457200" algn="l"/>
              </a:tabLst>
            </a:pPr>
            <a:r>
              <a:rPr kumimoji="0" lang="ar-SA" sz="1400" b="1" i="0" u="none" strike="noStrike" cap="none" normalizeH="0" baseline="0" dirty="0" smtClean="0">
                <a:ln>
                  <a:noFill/>
                </a:ln>
                <a:solidFill>
                  <a:schemeClr val="tx1"/>
                </a:solidFill>
                <a:effectLst/>
                <a:latin typeface="Arial" pitchFamily="34" charset="0"/>
                <a:ea typeface="Calibri" pitchFamily="34" charset="0"/>
                <a:cs typeface="B Roya" pitchFamily="2" charset="-78"/>
              </a:rPr>
              <a:t>امكان ثبت اطلاعات خريد و فروش املاك</a:t>
            </a:r>
            <a:endParaRPr kumimoji="0" lang="en-US" sz="1400" b="1"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tab pos="457200" algn="l"/>
              </a:tabLst>
            </a:pPr>
            <a:r>
              <a:rPr kumimoji="0" lang="ar-SA" sz="1400" b="1" i="0" u="none" strike="noStrike" cap="none" normalizeH="0" baseline="0" dirty="0" smtClean="0">
                <a:ln>
                  <a:noFill/>
                </a:ln>
                <a:solidFill>
                  <a:schemeClr val="tx1"/>
                </a:solidFill>
                <a:effectLst/>
                <a:latin typeface="Arial" pitchFamily="34" charset="0"/>
                <a:ea typeface="Calibri" pitchFamily="34" charset="0"/>
                <a:cs typeface="B Roya" pitchFamily="2" charset="-78"/>
              </a:rPr>
              <a:t>امكان ابطال شناسنامه املاك</a:t>
            </a:r>
            <a:endParaRPr kumimoji="0" lang="en-US" sz="1400" b="1"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tab pos="457200" algn="l"/>
              </a:tabLst>
            </a:pPr>
            <a:r>
              <a:rPr kumimoji="0" lang="ar-SA" sz="1400" b="1" i="0" u="none" strike="noStrike" cap="none" normalizeH="0" baseline="0" dirty="0" smtClean="0">
                <a:ln>
                  <a:noFill/>
                </a:ln>
                <a:solidFill>
                  <a:schemeClr val="tx1"/>
                </a:solidFill>
                <a:effectLst/>
                <a:latin typeface="Arial" pitchFamily="34" charset="0"/>
                <a:ea typeface="Calibri" pitchFamily="34" charset="0"/>
                <a:cs typeface="B Roya" pitchFamily="2" charset="-78"/>
              </a:rPr>
              <a:t>گزارش‌گيري بر اساس پارامترهاي انتخابي كاربر شامل : گزارشات ليست املاك، ليست املاك استيجاري، ليست املاك باطل شده، ليست املاك خريد و فروش رفته، گزارش ليست املاك به تفكيك و ...</a:t>
            </a:r>
            <a:endParaRPr kumimoji="0" lang="ar-SA" sz="1400" b="1" i="0" u="none" strike="noStrike" cap="none" normalizeH="0" baseline="0" dirty="0" smtClean="0">
              <a:ln>
                <a:noFill/>
              </a:ln>
              <a:solidFill>
                <a:schemeClr val="tx1"/>
              </a:solidFill>
              <a:effectLst/>
              <a:latin typeface="Arial" pitchFamily="34" charset="0"/>
              <a:cs typeface="B Roya" pitchFamily="2" charset="-78"/>
            </a:endParaRPr>
          </a:p>
        </p:txBody>
      </p:sp>
      <p:sp>
        <p:nvSpPr>
          <p:cNvPr id="5" name="Rectangle 2"/>
          <p:cNvSpPr>
            <a:spLocks noChangeArrowheads="1"/>
          </p:cNvSpPr>
          <p:nvPr/>
        </p:nvSpPr>
        <p:spPr bwMode="auto">
          <a:xfrm>
            <a:off x="500034" y="857232"/>
            <a:ext cx="8215370" cy="190821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pPr>
            <a:r>
              <a:rPr kumimoji="0" lang="ar-SA" sz="1400" b="1" i="0" u="sng" strike="noStrike" cap="none" normalizeH="0" baseline="0" dirty="0" smtClean="0">
                <a:ln>
                  <a:noFill/>
                </a:ln>
                <a:solidFill>
                  <a:schemeClr val="tx1"/>
                </a:solidFill>
                <a:effectLst/>
                <a:latin typeface="Arial" pitchFamily="34" charset="0"/>
                <a:ea typeface="Calibri" pitchFamily="34" charset="0"/>
                <a:cs typeface="B Roya" pitchFamily="2" charset="-78"/>
              </a:rPr>
              <a:t>2-9- بايگاني اسناد مالي سازمان:</a:t>
            </a:r>
            <a:endParaRPr kumimoji="0" lang="en-US" sz="1400" b="1"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sz="1400" b="1" i="0" u="none" strike="noStrike" cap="none" normalizeH="0" baseline="0" dirty="0" smtClean="0">
                <a:ln>
                  <a:noFill/>
                </a:ln>
                <a:solidFill>
                  <a:schemeClr val="tx1"/>
                </a:solidFill>
                <a:effectLst/>
                <a:latin typeface="Arial" pitchFamily="34" charset="0"/>
                <a:ea typeface="Calibri" pitchFamily="34" charset="0"/>
                <a:cs typeface="B Roya" pitchFamily="2" charset="-78"/>
              </a:rPr>
              <a:t>باتوجه به خصوصيات بايگاني پيشرفته نرم افزار فايلر پرو سازمان تبليغات در سال1388  اقدام به ايجاد گروهي با نام بايگاني اسناد مالي با سطوح دسترسي و ارجاع مناسب كرد تا هم مانع از بين رفتن اسناد مالي شده و هم بتوان اسناد را همزمان در اختيار چندين كاربر قرار داد و پس از اتمام آرشيو اسناد آنها را به ميكروفيلم تبديل كرد. </a:t>
            </a:r>
            <a:endParaRPr kumimoji="0" lang="fa-IR" sz="1400" b="1" i="0" u="none" strike="noStrike" cap="none" normalizeH="0" baseline="0" dirty="0" smtClean="0">
              <a:ln>
                <a:noFill/>
              </a:ln>
              <a:solidFill>
                <a:schemeClr val="tx1"/>
              </a:solidFill>
              <a:effectLst/>
              <a:latin typeface="Arial" pitchFamily="34" charset="0"/>
              <a:ea typeface="Calibri"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endParaRPr kumimoji="0" lang="en-US" sz="1400" b="1"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sz="1400" b="1" i="0" u="sng" strike="noStrike" cap="none" normalizeH="0" baseline="0" dirty="0" smtClean="0">
                <a:ln>
                  <a:noFill/>
                </a:ln>
                <a:solidFill>
                  <a:schemeClr val="tx1"/>
                </a:solidFill>
                <a:effectLst/>
                <a:latin typeface="Arial" pitchFamily="34" charset="0"/>
                <a:ea typeface="Calibri" pitchFamily="34" charset="0"/>
                <a:cs typeface="B Roya" pitchFamily="2" charset="-78"/>
              </a:rPr>
              <a:t>2- 10- </a:t>
            </a:r>
            <a:r>
              <a:rPr kumimoji="0" lang="ar-SA" sz="2000" b="1" i="0" u="sng" strike="noStrike" cap="none" normalizeH="0" baseline="0" dirty="0" smtClean="0">
                <a:ln>
                  <a:noFill/>
                </a:ln>
                <a:solidFill>
                  <a:schemeClr val="tx1"/>
                </a:solidFill>
                <a:effectLst/>
                <a:latin typeface="Arial" pitchFamily="34" charset="0"/>
                <a:ea typeface="Calibri" pitchFamily="34" charset="0"/>
                <a:cs typeface="B Roya" pitchFamily="2" charset="-78"/>
              </a:rPr>
              <a:t>نرم افزار املاك</a:t>
            </a:r>
            <a:r>
              <a:rPr kumimoji="0" lang="ar-SA" sz="1400" b="1" i="0" u="sng" strike="noStrike" cap="none" normalizeH="0" baseline="0" dirty="0" smtClean="0">
                <a:ln>
                  <a:noFill/>
                </a:ln>
                <a:solidFill>
                  <a:schemeClr val="tx1"/>
                </a:solidFill>
                <a:effectLst/>
                <a:latin typeface="Arial" pitchFamily="34" charset="0"/>
                <a:ea typeface="Calibri" pitchFamily="34" charset="0"/>
                <a:cs typeface="B Roya" pitchFamily="2" charset="-78"/>
              </a:rPr>
              <a:t>:</a:t>
            </a:r>
            <a:endParaRPr kumimoji="0" lang="en-US" sz="1400" b="1"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sz="1400" b="1" i="0" u="none" strike="noStrike" cap="none" normalizeH="0" baseline="0" dirty="0" smtClean="0">
                <a:ln>
                  <a:noFill/>
                </a:ln>
                <a:solidFill>
                  <a:schemeClr val="tx1"/>
                </a:solidFill>
                <a:effectLst/>
                <a:latin typeface="Arial" pitchFamily="34" charset="0"/>
                <a:ea typeface="Calibri" pitchFamily="34" charset="0"/>
                <a:cs typeface="B Roya" pitchFamily="2" charset="-78"/>
              </a:rPr>
              <a:t>اين نرم افزار در سال 1385 در واحد انفورماتيك تهيه گرديد و تا كنون نيز بنا به درخواست دفتر املاك مواردي كه در سيستم نياز مي باشد اعمال گرديده است كه در ادامه خلاصه اي از امكانات اين نرم افزار به اختصار توضيح داده مي‌شود:</a:t>
            </a:r>
            <a:endParaRPr kumimoji="0" lang="ar-SA" sz="1400" b="1" i="0" u="none" strike="noStrike" cap="none" normalizeH="0" baseline="0" dirty="0" smtClean="0">
              <a:ln>
                <a:noFill/>
              </a:ln>
              <a:solidFill>
                <a:schemeClr val="tx1"/>
              </a:solidFill>
              <a:effectLst/>
              <a:latin typeface="Arial" pitchFamily="34" charset="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ChangeArrowheads="1"/>
          </p:cNvSpPr>
          <p:nvPr/>
        </p:nvSpPr>
        <p:spPr bwMode="auto">
          <a:xfrm>
            <a:off x="1214414" y="857232"/>
            <a:ext cx="6858016"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pPr>
            <a:r>
              <a:rPr kumimoji="0" lang="ar-SA" b="1" i="0" u="none" strike="noStrike" cap="none" normalizeH="0" baseline="0" dirty="0" smtClean="0">
                <a:ln>
                  <a:noFill/>
                </a:ln>
                <a:solidFill>
                  <a:schemeClr val="tx1"/>
                </a:solidFill>
                <a:effectLst/>
                <a:latin typeface="Arial" pitchFamily="34" charset="0"/>
                <a:ea typeface="Calibri" pitchFamily="34" charset="0"/>
                <a:cs typeface="B Roya" pitchFamily="2" charset="-78"/>
              </a:rPr>
              <a:t>نمودار و جدول زير نشان دهنده وضعيت رشد نرم افزارهاي سازماني </a:t>
            </a:r>
            <a:r>
              <a:rPr kumimoji="0" lang="fa-IR" b="1" i="0" u="none" strike="noStrike" cap="none" normalizeH="0" baseline="0" dirty="0" smtClean="0">
                <a:ln>
                  <a:noFill/>
                </a:ln>
                <a:solidFill>
                  <a:schemeClr val="tx1"/>
                </a:solidFill>
                <a:effectLst/>
                <a:latin typeface="Arial" pitchFamily="34" charset="0"/>
                <a:ea typeface="Calibri" pitchFamily="34" charset="0"/>
                <a:cs typeface="B Roya" pitchFamily="2" charset="-78"/>
              </a:rPr>
              <a:t>از</a:t>
            </a:r>
            <a:r>
              <a:rPr kumimoji="0" lang="ar-SA" b="1" i="0" u="none" strike="noStrike" cap="none" normalizeH="0" baseline="0" dirty="0" smtClean="0">
                <a:ln>
                  <a:noFill/>
                </a:ln>
                <a:solidFill>
                  <a:schemeClr val="tx1"/>
                </a:solidFill>
                <a:effectLst/>
                <a:latin typeface="Arial" pitchFamily="34" charset="0"/>
                <a:ea typeface="Calibri" pitchFamily="34" charset="0"/>
                <a:cs typeface="B Roya" pitchFamily="2" charset="-78"/>
              </a:rPr>
              <a:t>دهه 80 ميباشد:</a:t>
            </a:r>
            <a:endParaRPr kumimoji="0" lang="ar-SA" b="1" i="0" u="none" strike="noStrike" cap="none" normalizeH="0" baseline="0" dirty="0" smtClean="0">
              <a:ln>
                <a:noFill/>
              </a:ln>
              <a:solidFill>
                <a:schemeClr val="tx1"/>
              </a:solidFill>
              <a:effectLst/>
              <a:latin typeface="Arial" pitchFamily="34" charset="0"/>
              <a:cs typeface="B Roya" pitchFamily="2" charset="-78"/>
            </a:endParaRPr>
          </a:p>
        </p:txBody>
      </p:sp>
      <p:graphicFrame>
        <p:nvGraphicFramePr>
          <p:cNvPr id="5" name="Table 4"/>
          <p:cNvGraphicFramePr>
            <a:graphicFrameLocks noGrp="1"/>
          </p:cNvGraphicFramePr>
          <p:nvPr/>
        </p:nvGraphicFramePr>
        <p:xfrm>
          <a:off x="1000101" y="1500174"/>
          <a:ext cx="6954527" cy="548640"/>
        </p:xfrm>
        <a:graphic>
          <a:graphicData uri="http://schemas.openxmlformats.org/drawingml/2006/table">
            <a:tbl>
              <a:tblPr rtl="1"/>
              <a:tblGrid>
                <a:gridCol w="1771298"/>
                <a:gridCol w="1047299"/>
                <a:gridCol w="1321062"/>
                <a:gridCol w="1407434"/>
                <a:gridCol w="1407434"/>
              </a:tblGrid>
              <a:tr h="0">
                <a:tc>
                  <a:txBody>
                    <a:bodyPr/>
                    <a:lstStyle/>
                    <a:p>
                      <a:pPr algn="r" rtl="1">
                        <a:lnSpc>
                          <a:spcPct val="150000"/>
                        </a:lnSpc>
                        <a:spcAft>
                          <a:spcPts val="1000"/>
                        </a:spcAft>
                      </a:pPr>
                      <a:r>
                        <a:rPr lang="ar-SA" sz="1200" dirty="0">
                          <a:latin typeface="Calibri"/>
                          <a:ea typeface="Calibri"/>
                          <a:cs typeface="B Titr"/>
                        </a:rPr>
                        <a:t>بازه زماني</a:t>
                      </a:r>
                      <a:endParaRPr lang="en-US" sz="12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200" dirty="0">
                          <a:latin typeface="Calibri"/>
                          <a:ea typeface="Calibri"/>
                          <a:cs typeface="B Titr"/>
                        </a:rPr>
                        <a:t>1380</a:t>
                      </a:r>
                      <a:endParaRPr lang="en-US" sz="1200" dirty="0">
                        <a:latin typeface="Calibri"/>
                        <a:ea typeface="Calibri"/>
                        <a:cs typeface="Arial"/>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200">
                          <a:latin typeface="Calibri"/>
                          <a:ea typeface="Calibri"/>
                          <a:cs typeface="B Titr"/>
                        </a:rPr>
                        <a:t>1385</a:t>
                      </a:r>
                      <a:endParaRPr lang="en-US" sz="1200">
                        <a:latin typeface="Calibri"/>
                        <a:ea typeface="Calibri"/>
                        <a:cs typeface="Arial"/>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200" dirty="0">
                          <a:latin typeface="Calibri"/>
                          <a:ea typeface="Calibri"/>
                          <a:cs typeface="B Titr"/>
                        </a:rPr>
                        <a:t>1390</a:t>
                      </a:r>
                      <a:endParaRPr lang="en-US" sz="1200" dirty="0">
                        <a:latin typeface="Calibri"/>
                        <a:ea typeface="Calibri"/>
                        <a:cs typeface="Arial"/>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fa-IR" sz="1200" dirty="0" smtClean="0">
                          <a:latin typeface="Calibri"/>
                          <a:ea typeface="Calibri"/>
                          <a:cs typeface="B Titr" pitchFamily="2" charset="-78"/>
                        </a:rPr>
                        <a:t>1394</a:t>
                      </a:r>
                      <a:endParaRPr lang="en-US" sz="1200" dirty="0">
                        <a:latin typeface="Calibri"/>
                        <a:ea typeface="Calibri"/>
                        <a:cs typeface="B Titr" pitchFamily="2" charset="-78"/>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r" rtl="1">
                        <a:lnSpc>
                          <a:spcPct val="150000"/>
                        </a:lnSpc>
                        <a:spcAft>
                          <a:spcPts val="1000"/>
                        </a:spcAft>
                      </a:pPr>
                      <a:r>
                        <a:rPr lang="ar-SA" sz="1200" dirty="0">
                          <a:latin typeface="Calibri"/>
                          <a:ea typeface="Calibri"/>
                          <a:cs typeface="B Titr"/>
                        </a:rPr>
                        <a:t>تعداد نرم افزارهاي سازماني</a:t>
                      </a:r>
                      <a:endParaRPr lang="en-US" sz="12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200" dirty="0">
                          <a:latin typeface="Calibri"/>
                          <a:ea typeface="Calibri"/>
                          <a:cs typeface="B Titr"/>
                        </a:rPr>
                        <a:t>3</a:t>
                      </a:r>
                      <a:endParaRPr lang="en-US" sz="12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fa-IR" sz="1200" dirty="0">
                          <a:latin typeface="Calibri"/>
                          <a:ea typeface="Calibri"/>
                          <a:cs typeface="B Titr"/>
                        </a:rPr>
                        <a:t>10</a:t>
                      </a:r>
                      <a:endParaRPr lang="en-US" sz="1200" dirty="0">
                        <a:latin typeface="Calibri"/>
                        <a:ea typeface="Calibri"/>
                        <a:cs typeface="Arial"/>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200" dirty="0">
                          <a:latin typeface="Calibri"/>
                          <a:ea typeface="Calibri"/>
                          <a:cs typeface="B Titr"/>
                        </a:rPr>
                        <a:t>23</a:t>
                      </a:r>
                      <a:endParaRPr lang="en-US" sz="1200" dirty="0">
                        <a:latin typeface="Calibri"/>
                        <a:ea typeface="Calibri"/>
                        <a:cs typeface="Arial"/>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fa-IR" sz="1200" dirty="0" smtClean="0">
                          <a:latin typeface="Calibri"/>
                          <a:ea typeface="Calibri"/>
                          <a:cs typeface="B Titr" pitchFamily="2" charset="-78"/>
                        </a:rPr>
                        <a:t>30</a:t>
                      </a:r>
                      <a:endParaRPr lang="en-US" sz="1200" dirty="0">
                        <a:latin typeface="Calibri"/>
                        <a:ea typeface="Calibri"/>
                        <a:cs typeface="B Titr" pitchFamily="2" charset="-78"/>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1026" name="Picture 2" descr="C:\Users\Administrator\Desktop\Book_files\image001.pn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021773" y="2189018"/>
            <a:ext cx="6934200" cy="3831192"/>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ransition spd="slow">
    <p:zo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p:cNvSpPr>
            <a:spLocks noChangeArrowheads="1"/>
          </p:cNvSpPr>
          <p:nvPr/>
        </p:nvSpPr>
        <p:spPr bwMode="auto">
          <a:xfrm>
            <a:off x="228600" y="609600"/>
            <a:ext cx="8653490" cy="53553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1" eaLnBrk="1" fontAlgn="base" latinLnBrk="0" hangingPunct="1">
              <a:lnSpc>
                <a:spcPct val="100000"/>
              </a:lnSpc>
              <a:spcBef>
                <a:spcPct val="0"/>
              </a:spcBef>
              <a:spcAft>
                <a:spcPct val="0"/>
              </a:spcAft>
              <a:buClrTx/>
              <a:buSzTx/>
              <a:buFontTx/>
              <a:buNone/>
              <a:tabLst/>
            </a:pPr>
            <a:r>
              <a:rPr kumimoji="0" lang="ar-SA" b="1" i="0" u="none" strike="noStrike" cap="none" normalizeH="0" baseline="0" dirty="0" smtClean="0">
                <a:ln>
                  <a:noFill/>
                </a:ln>
                <a:effectLst/>
                <a:latin typeface="Arial" pitchFamily="34" charset="0"/>
                <a:ea typeface="Calibri" pitchFamily="34" charset="0"/>
                <a:cs typeface="B Titr" pitchFamily="2" charset="-78"/>
              </a:rPr>
              <a:t>ج- حوزه سخت افزار :</a:t>
            </a:r>
            <a:endParaRPr kumimoji="0" lang="fa-IR" b="1" i="0" u="none" strike="noStrike" cap="none" normalizeH="0" baseline="0" dirty="0" smtClean="0">
              <a:ln>
                <a:noFill/>
              </a:ln>
              <a:effectLst/>
              <a:latin typeface="Arial" pitchFamily="34" charset="0"/>
              <a:ea typeface="Calibri" pitchFamily="34" charset="0"/>
              <a:cs typeface="B Titr"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b="1" i="0" u="sng" strike="noStrike" cap="none" normalizeH="0" baseline="0" dirty="0" smtClean="0">
                <a:ln>
                  <a:noFill/>
                </a:ln>
                <a:solidFill>
                  <a:schemeClr val="tx1"/>
                </a:solidFill>
                <a:effectLst/>
                <a:latin typeface="Arial" pitchFamily="34" charset="0"/>
                <a:ea typeface="Calibri" pitchFamily="34" charset="0"/>
                <a:cs typeface="B Roya" pitchFamily="2" charset="-78"/>
              </a:rPr>
              <a:t>ج-1- اتاق سرور:</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در سال 1383 با راه‌اندازي اتاق سرور تعداد 2 دستگاه سرور </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HP</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مدل </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ML370</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 خريداري و راه اندازي گرديد .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با توجه به نياز يك عدد رك سرور نيز جهت تجهيز اتاق سرور و امنيت فيزيكي سرورها در اتاق سرور نصب و بكارگيري شده است. دفتر مركزي سازمان و كليه شهرستان‌ها داراي اتاق سرور مي‌باشند كه در آنها سرورها و تجهيزات اصلي شبكه سازمان نگهداري مي‌شوند. اين اتاقها داراي سيستم </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UPS</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 با توان مناسب بوده كه كليه تجهيزات سخت‌افزاري اعم از سرورها، سوييچ‌هاي اصلي و... به آن متصل هستند. ضمناً اين اتاقها داراي تهويه مناسب مي باشند.</a:t>
            </a:r>
            <a:endPar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endParaRPr>
          </a:p>
          <a:p>
            <a:pPr lvl="0" algn="justLow" rtl="1" eaLnBrk="0" fontAlgn="base" hangingPunct="0">
              <a:spcBef>
                <a:spcPct val="0"/>
              </a:spcBef>
              <a:spcAft>
                <a:spcPct val="0"/>
              </a:spcAft>
            </a:pPr>
            <a:r>
              <a:rPr lang="ar-SA" dirty="0">
                <a:latin typeface="Arial" pitchFamily="34" charset="0"/>
                <a:ea typeface="Calibri" pitchFamily="34" charset="0"/>
                <a:cs typeface="B Roya" pitchFamily="2" charset="-78"/>
              </a:rPr>
              <a:t>تهيه و راه اندازي سرورها : </a:t>
            </a:r>
            <a:endParaRPr lang="en-US" dirty="0">
              <a:latin typeface="Arial" pitchFamily="34" charset="0"/>
              <a:cs typeface="B Roya" pitchFamily="2" charset="-78"/>
            </a:endParaRPr>
          </a:p>
          <a:p>
            <a:pPr lvl="0" algn="justLow" rtl="1" eaLnBrk="0" fontAlgn="base" hangingPunct="0">
              <a:spcBef>
                <a:spcPct val="0"/>
              </a:spcBef>
              <a:spcAft>
                <a:spcPct val="0"/>
              </a:spcAft>
            </a:pPr>
            <a:r>
              <a:rPr lang="ar-SA" dirty="0">
                <a:latin typeface="Arial" pitchFamily="34" charset="0"/>
                <a:ea typeface="Calibri" pitchFamily="34" charset="0"/>
                <a:cs typeface="B Roya" pitchFamily="2" charset="-78"/>
              </a:rPr>
              <a:t>روند خريد و بارگذاري سرورها تا كنون با توجه به پيشرفت نرم افزاري سازمان ادامه داشته است كه در حال حاضر تعداد 6 دستگاه سرور و 5 دستگاه كيس با كاربري سرور در مركز </a:t>
            </a:r>
            <a:r>
              <a:rPr lang="en-US" dirty="0">
                <a:latin typeface="Arial" pitchFamily="34" charset="0"/>
                <a:ea typeface="Calibri" pitchFamily="34" charset="0"/>
                <a:cs typeface="B Roya" pitchFamily="2" charset="-78"/>
              </a:rPr>
              <a:t>IT</a:t>
            </a:r>
            <a:r>
              <a:rPr lang="ar-SA" dirty="0">
                <a:latin typeface="Arial" pitchFamily="34" charset="0"/>
                <a:ea typeface="Calibri" pitchFamily="34" charset="0"/>
                <a:cs typeface="B Roya" pitchFamily="2" charset="-78"/>
              </a:rPr>
              <a:t> و 2 دستگاه نيز در ساختمان شهيد نواب در حال سرويس‌دهي مي باشند .</a:t>
            </a:r>
            <a:endParaRPr lang="ar-SA" dirty="0">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b="1" i="0" u="sng" strike="noStrike" cap="none" normalizeH="0" baseline="0" dirty="0" smtClean="0">
                <a:ln>
                  <a:noFill/>
                </a:ln>
                <a:solidFill>
                  <a:schemeClr val="tx1"/>
                </a:solidFill>
                <a:effectLst/>
                <a:latin typeface="Arial" pitchFamily="34" charset="0"/>
                <a:ea typeface="Calibri" pitchFamily="34" charset="0"/>
                <a:cs typeface="B Roya" pitchFamily="2" charset="-78"/>
              </a:rPr>
              <a:t>ج-2- كامپيوتر هاي كاربران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در ابتداي سال 1383 در فاز اول، خرید سخت افزار تعداد 100 دستگاه رايانه جهت بكارگيري در ساختمان مركزي ابتیاع گرديد. كه بر اساس اولويت بندي به كاربران تحويل شد . در فاز 2 تعداد 70 دستگاه جهت كاربران ساختمان شهيد نواب تهيه و توزيع گرديد. در نوبت بعدي خريد ، تجهيزات براي كليه كاربراني كه ملزم به استفاده از نرم افزار هاي سازماني بودند ، مجهز به رايانه شدند كه در حال حاضر بيش از 600 دستگاه درساختمانهاي دفتر مركزي به كارگيري شده اند . </a:t>
            </a:r>
            <a:endParaRPr kumimoji="0" lang="ar-SA" b="0" i="0" u="none" strike="noStrike" cap="none" normalizeH="0" baseline="0" dirty="0" smtClean="0">
              <a:ln>
                <a:noFill/>
              </a:ln>
              <a:solidFill>
                <a:schemeClr val="tx1"/>
              </a:solidFill>
              <a:effectLst/>
              <a:latin typeface="Calibri" pitchFamily="34" charset="0"/>
              <a:ea typeface="Calibri"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b="0" i="0" u="none" strike="noStrike" cap="none" normalizeH="0" baseline="0" dirty="0" smtClean="0">
                <a:ln>
                  <a:noFill/>
                </a:ln>
                <a:solidFill>
                  <a:schemeClr val="tx1"/>
                </a:solidFill>
                <a:effectLst/>
                <a:latin typeface="Calibri" pitchFamily="34" charset="0"/>
                <a:ea typeface="Calibri" pitchFamily="34" charset="0"/>
                <a:cs typeface="B Roya" pitchFamily="2" charset="-78"/>
              </a:rPr>
              <a:t>همچنين با توجه به لزوم جايگزيني نمايشگر هاي </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LCD</a:t>
            </a:r>
            <a:r>
              <a:rPr kumimoji="0" lang="ar-SA" b="0" i="0" u="none" strike="noStrike" cap="none" normalizeH="0" baseline="0" dirty="0" smtClean="0">
                <a:ln>
                  <a:noFill/>
                </a:ln>
                <a:solidFill>
                  <a:schemeClr val="tx1"/>
                </a:solidFill>
                <a:effectLst/>
                <a:latin typeface="Calibri" pitchFamily="34" charset="0"/>
                <a:ea typeface="Calibri" pitchFamily="34" charset="0"/>
                <a:cs typeface="B Roya" pitchFamily="2" charset="-78"/>
              </a:rPr>
              <a:t> به جاي </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CRT</a:t>
            </a:r>
            <a:r>
              <a:rPr kumimoji="0" lang="ar-SA" b="0" i="0" u="none" strike="noStrike" cap="none" normalizeH="0" baseline="0" dirty="0" smtClean="0">
                <a:ln>
                  <a:noFill/>
                </a:ln>
                <a:solidFill>
                  <a:schemeClr val="tx1"/>
                </a:solidFill>
                <a:effectLst/>
                <a:latin typeface="Calibri" pitchFamily="34" charset="0"/>
                <a:ea typeface="Calibri" pitchFamily="34" charset="0"/>
                <a:cs typeface="B Roya" pitchFamily="2" charset="-78"/>
              </a:rPr>
              <a:t> به مرور در هر فاز خريد سخت افزاري اين جايگزيني صورت گرفته است.</a:t>
            </a:r>
            <a:r>
              <a:rPr kumimoji="0" lang="en-US" b="0" i="0" u="none" strike="noStrike" cap="none" normalizeH="0" baseline="0" dirty="0" smtClean="0">
                <a:ln>
                  <a:noFill/>
                </a:ln>
                <a:solidFill>
                  <a:schemeClr val="tx1"/>
                </a:solidFill>
                <a:effectLst/>
                <a:latin typeface="Arial" pitchFamily="34" charset="0"/>
                <a:cs typeface="B Roya" pitchFamily="2" charset="-78"/>
              </a:rPr>
              <a:t> </a:t>
            </a:r>
          </a:p>
        </p:txBody>
      </p:sp>
    </p:spTree>
  </p:cSld>
  <p:clrMapOvr>
    <a:masterClrMapping/>
  </p:clrMapOvr>
  <p:transition spd="slow">
    <p:zoom/>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xmlns="" val="196775188"/>
              </p:ext>
            </p:extLst>
          </p:nvPr>
        </p:nvGraphicFramePr>
        <p:xfrm>
          <a:off x="1142999" y="990600"/>
          <a:ext cx="6878327" cy="960120"/>
        </p:xfrm>
        <a:graphic>
          <a:graphicData uri="http://schemas.openxmlformats.org/drawingml/2006/table">
            <a:tbl>
              <a:tblPr rtl="1"/>
              <a:tblGrid>
                <a:gridCol w="1300199"/>
                <a:gridCol w="1513053"/>
                <a:gridCol w="1322526"/>
                <a:gridCol w="1396951"/>
                <a:gridCol w="1345598"/>
              </a:tblGrid>
              <a:tr h="267970">
                <a:tc>
                  <a:txBody>
                    <a:bodyPr/>
                    <a:lstStyle/>
                    <a:p>
                      <a:pPr algn="ctr" rtl="1">
                        <a:lnSpc>
                          <a:spcPct val="150000"/>
                        </a:lnSpc>
                        <a:spcAft>
                          <a:spcPts val="1000"/>
                        </a:spcAft>
                      </a:pPr>
                      <a:r>
                        <a:rPr lang="ar-SA" sz="1400" dirty="0">
                          <a:latin typeface="Calibri"/>
                          <a:ea typeface="Calibri"/>
                          <a:cs typeface="B Titr"/>
                        </a:rPr>
                        <a:t>بازه زماني</a:t>
                      </a:r>
                      <a:endParaRPr lang="en-US" sz="14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400">
                          <a:latin typeface="Calibri"/>
                          <a:ea typeface="Calibri"/>
                          <a:cs typeface="B Titr"/>
                        </a:rPr>
                        <a:t>1380</a:t>
                      </a:r>
                      <a:endParaRPr lang="en-US" sz="14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400" dirty="0">
                          <a:latin typeface="Calibri"/>
                          <a:ea typeface="Calibri"/>
                          <a:cs typeface="B Titr"/>
                        </a:rPr>
                        <a:t>1385</a:t>
                      </a:r>
                      <a:endParaRPr lang="en-US" sz="14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400">
                          <a:latin typeface="Calibri"/>
                          <a:ea typeface="Calibri"/>
                          <a:cs typeface="B Titr"/>
                        </a:rPr>
                        <a:t>1390</a:t>
                      </a:r>
                      <a:endParaRPr lang="en-US" sz="14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400">
                          <a:latin typeface="Calibri"/>
                          <a:ea typeface="Calibri"/>
                          <a:cs typeface="B Titr"/>
                        </a:rPr>
                        <a:t>1394</a:t>
                      </a:r>
                      <a:endParaRPr lang="en-US" sz="140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05105">
                <a:tc>
                  <a:txBody>
                    <a:bodyPr/>
                    <a:lstStyle/>
                    <a:p>
                      <a:pPr algn="ctr" rtl="1">
                        <a:lnSpc>
                          <a:spcPct val="150000"/>
                        </a:lnSpc>
                        <a:spcAft>
                          <a:spcPts val="1000"/>
                        </a:spcAft>
                      </a:pPr>
                      <a:r>
                        <a:rPr lang="ar-SA" sz="1400" dirty="0">
                          <a:latin typeface="Calibri"/>
                          <a:ea typeface="Calibri"/>
                          <a:cs typeface="B Titr"/>
                        </a:rPr>
                        <a:t>تعداد كلاينتها</a:t>
                      </a:r>
                      <a:endParaRPr lang="en-US" sz="14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400" dirty="0">
                          <a:latin typeface="Calibri"/>
                          <a:ea typeface="Calibri"/>
                          <a:cs typeface="B Titr"/>
                        </a:rPr>
                        <a:t>40</a:t>
                      </a:r>
                      <a:endParaRPr lang="en-US" sz="14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fa-IR" sz="1400" dirty="0">
                          <a:latin typeface="Calibri"/>
                          <a:ea typeface="Calibri"/>
                          <a:cs typeface="B Titr"/>
                        </a:rPr>
                        <a:t>200</a:t>
                      </a:r>
                      <a:endParaRPr lang="en-US" sz="14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400" dirty="0">
                          <a:latin typeface="Calibri"/>
                          <a:ea typeface="Calibri"/>
                          <a:cs typeface="B Titr"/>
                        </a:rPr>
                        <a:t>500</a:t>
                      </a:r>
                      <a:endParaRPr lang="en-US" sz="14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400" dirty="0">
                          <a:latin typeface="Calibri"/>
                          <a:ea typeface="Calibri"/>
                          <a:cs typeface="B Titr"/>
                        </a:rPr>
                        <a:t>700</a:t>
                      </a:r>
                      <a:endParaRPr lang="en-US"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96520">
                <a:tc>
                  <a:txBody>
                    <a:bodyPr/>
                    <a:lstStyle/>
                    <a:p>
                      <a:pPr algn="ctr" rtl="1">
                        <a:lnSpc>
                          <a:spcPct val="150000"/>
                        </a:lnSpc>
                        <a:spcAft>
                          <a:spcPts val="1000"/>
                        </a:spcAft>
                      </a:pPr>
                      <a:r>
                        <a:rPr lang="ar-SA" sz="1400" dirty="0">
                          <a:latin typeface="Calibri"/>
                          <a:ea typeface="Calibri"/>
                          <a:cs typeface="B Titr"/>
                        </a:rPr>
                        <a:t>تعداد سرورها</a:t>
                      </a:r>
                      <a:endParaRPr lang="en-US" sz="14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400" dirty="0">
                          <a:latin typeface="Calibri"/>
                          <a:ea typeface="Calibri"/>
                          <a:cs typeface="B Titr"/>
                        </a:rPr>
                        <a:t>2</a:t>
                      </a:r>
                      <a:endParaRPr lang="en-US" sz="14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fa-IR" sz="1400" dirty="0">
                          <a:latin typeface="Calibri"/>
                          <a:ea typeface="Calibri"/>
                          <a:cs typeface="B Titr"/>
                        </a:rPr>
                        <a:t>5</a:t>
                      </a:r>
                      <a:endParaRPr lang="en-US" sz="1400" dirty="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400">
                          <a:latin typeface="Calibri"/>
                          <a:ea typeface="Calibri"/>
                          <a:cs typeface="B Titr"/>
                        </a:rPr>
                        <a:t>13</a:t>
                      </a:r>
                      <a:endParaRPr lang="en-US" sz="1400">
                        <a:latin typeface="Calibri"/>
                        <a:ea typeface="Calibri"/>
                        <a:cs typeface="Arial"/>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fa-IR" sz="1400" dirty="0" smtClean="0">
                          <a:latin typeface="Calibri"/>
                          <a:ea typeface="Calibri"/>
                          <a:cs typeface="B Titr"/>
                        </a:rPr>
                        <a:t>10</a:t>
                      </a:r>
                      <a:endParaRPr lang="en-US" sz="1400" dirty="0">
                        <a:latin typeface="Calibri"/>
                        <a:ea typeface="Calibri"/>
                        <a:cs typeface="Ari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pic>
        <p:nvPicPr>
          <p:cNvPr id="2050" name="Picture 2" descr="C:\Users\Administrator\Desktop\Book_files\image003.pn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201881" y="2012373"/>
            <a:ext cx="6781800" cy="4085492"/>
          </a:xfrm>
          <a:prstGeom prst="rect">
            <a:avLst/>
          </a:prstGeom>
          <a:noFill/>
          <a:extLst>
            <a:ext uri="{909E8E84-426E-40DD-AFC4-6F175D3DCCD1}">
              <a14:hiddenFill xmlns:a14="http://schemas.microsoft.com/office/drawing/2010/main" xmlns="">
                <a:solidFill>
                  <a:srgbClr val="FFFFFF"/>
                </a:solidFill>
              </a14:hiddenFill>
            </a:ext>
          </a:extLst>
        </p:spPr>
      </p:pic>
    </p:spTree>
  </p:cSld>
  <p:clrMapOvr>
    <a:masterClrMapping/>
  </p:clrMapOvr>
  <p:transition spd="slow">
    <p:zo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3" name="Rectangle 1"/>
          <p:cNvSpPr>
            <a:spLocks noChangeArrowheads="1"/>
          </p:cNvSpPr>
          <p:nvPr/>
        </p:nvSpPr>
        <p:spPr bwMode="auto">
          <a:xfrm>
            <a:off x="609600" y="2895600"/>
            <a:ext cx="7715304" cy="147732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pPr>
            <a:r>
              <a:rPr kumimoji="0" lang="ar-SA" b="1" i="0" u="sng" strike="noStrike" cap="none" normalizeH="0" baseline="0" dirty="0" smtClean="0">
                <a:ln>
                  <a:noFill/>
                </a:ln>
                <a:solidFill>
                  <a:schemeClr val="tx1"/>
                </a:solidFill>
                <a:effectLst/>
                <a:latin typeface="Arial" pitchFamily="34" charset="0"/>
                <a:ea typeface="Calibri" pitchFamily="34" charset="0"/>
                <a:cs typeface="B Roya" pitchFamily="2" charset="-78"/>
              </a:rPr>
              <a:t>ج-4- </a:t>
            </a:r>
            <a:r>
              <a:rPr kumimoji="0" lang="en-US" b="1" i="0" u="sng" strike="noStrike" cap="none" normalizeH="0" baseline="0" dirty="0" smtClean="0">
                <a:ln>
                  <a:noFill/>
                </a:ln>
                <a:solidFill>
                  <a:schemeClr val="tx1"/>
                </a:solidFill>
                <a:effectLst/>
                <a:latin typeface="Arial" pitchFamily="34" charset="0"/>
                <a:ea typeface="Calibri" pitchFamily="34" charset="0"/>
                <a:cs typeface="B Roya" pitchFamily="2" charset="-78"/>
              </a:rPr>
              <a:t>UPS</a:t>
            </a:r>
            <a:r>
              <a:rPr kumimoji="0" lang="ar-SA" b="1" i="0" u="sng" strike="noStrike" cap="none" normalizeH="0" baseline="0" dirty="0" smtClean="0">
                <a:ln>
                  <a:noFill/>
                </a:ln>
                <a:solidFill>
                  <a:schemeClr val="tx1"/>
                </a:solidFill>
                <a:effectLst/>
                <a:latin typeface="Arial" pitchFamily="34" charset="0"/>
                <a:ea typeface="Calibri" pitchFamily="34" charset="0"/>
                <a:cs typeface="B Roya" pitchFamily="2" charset="-78"/>
              </a:rPr>
              <a:t>(برق اضطراري)</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با توجه به نوسانات برق و احتمال ايجاد خرابي سخت افزاري و از بين رفتن اطلاعات ذخيره نشده، دو دستگاه </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UPS</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 در مركز </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IT</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واقع در ساختمان مركزي و نواب بكار گرفته شده است. همچنين با توجه به حساسيت امور اداره كل امور مالي يك دستگاه </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UPS</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 با توان </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6KV</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نيز در اين اداره نصب شده است . جدول و نمودار زير نشان دهنده رشد وضعيت سخت افزاراي در دهه 80  ميباشد:</a:t>
            </a:r>
            <a:endParaRPr kumimoji="0" lang="ar-SA" b="0" i="0" u="none" strike="noStrike" cap="none" normalizeH="0" baseline="0" dirty="0" smtClean="0">
              <a:ln>
                <a:noFill/>
              </a:ln>
              <a:solidFill>
                <a:schemeClr val="tx1"/>
              </a:solidFill>
              <a:effectLst/>
              <a:latin typeface="Arial" pitchFamily="34" charset="0"/>
              <a:cs typeface="B Roya" pitchFamily="2" charset="-78"/>
            </a:endParaRPr>
          </a:p>
        </p:txBody>
      </p:sp>
      <p:sp>
        <p:nvSpPr>
          <p:cNvPr id="4" name="Rectangle 1"/>
          <p:cNvSpPr>
            <a:spLocks noChangeArrowheads="1"/>
          </p:cNvSpPr>
          <p:nvPr/>
        </p:nvSpPr>
        <p:spPr bwMode="auto">
          <a:xfrm>
            <a:off x="2971800" y="914400"/>
            <a:ext cx="5500694"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pPr>
            <a:r>
              <a:rPr kumimoji="0" lang="ar-SA" b="1" i="0" u="sng" strike="noStrike" cap="none" normalizeH="0" baseline="0" dirty="0" smtClean="0">
                <a:ln>
                  <a:noFill/>
                </a:ln>
                <a:solidFill>
                  <a:schemeClr val="tx1"/>
                </a:solidFill>
                <a:effectLst/>
                <a:latin typeface="Arial" pitchFamily="34" charset="0"/>
                <a:ea typeface="Calibri" pitchFamily="34" charset="0"/>
                <a:cs typeface="B Roya" pitchFamily="2" charset="-78"/>
              </a:rPr>
              <a:t>ج-3- لوازم جانبي : </a:t>
            </a:r>
            <a:endParaRPr kumimoji="0" lang="ar-SA" b="0" i="0" u="none" strike="noStrike" cap="none" normalizeH="0" baseline="0" dirty="0" smtClean="0">
              <a:ln>
                <a:noFill/>
              </a:ln>
              <a:solidFill>
                <a:schemeClr val="tx1"/>
              </a:solidFill>
              <a:effectLst/>
              <a:latin typeface="Arial" pitchFamily="34" charset="0"/>
              <a:cs typeface="B Roya" pitchFamily="2" charset="-78"/>
            </a:endParaRPr>
          </a:p>
        </p:txBody>
      </p:sp>
      <p:sp>
        <p:nvSpPr>
          <p:cNvPr id="6" name="Rectangle 2"/>
          <p:cNvSpPr>
            <a:spLocks noChangeArrowheads="1"/>
          </p:cNvSpPr>
          <p:nvPr/>
        </p:nvSpPr>
        <p:spPr bwMode="auto">
          <a:xfrm>
            <a:off x="762000" y="1447800"/>
            <a:ext cx="7572428" cy="92333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pPr>
            <a:r>
              <a:rPr kumimoji="0" lang="ar-SA" i="0" u="none" strike="noStrike" cap="none" normalizeH="0" baseline="0" dirty="0" smtClean="0">
                <a:ln>
                  <a:noFill/>
                </a:ln>
                <a:solidFill>
                  <a:schemeClr val="tx1"/>
                </a:solidFill>
                <a:effectLst/>
                <a:latin typeface="Arial" pitchFamily="34" charset="0"/>
                <a:ea typeface="Calibri" pitchFamily="34" charset="0"/>
                <a:cs typeface="B Roya" pitchFamily="2" charset="-78"/>
              </a:rPr>
              <a:t>با عنايت به راه‌اندازي سيستم مكانيزه نياز به بكارگيري تجهيزات جانبي از قبيل چاپگر،‌اسكنر و قلم نوري بيش از گذشته محسوس  مي‌گرديد. با تثبيت جايگاه كاربران در سيستم هاي نرم افزاري، تجهيزات مذكور بسته به ظرفيت و حجم كاري كارشناسي ،‌نياز سنجي و خريداري گرديد .</a:t>
            </a:r>
            <a:endParaRPr kumimoji="0" lang="en-US" i="0" u="none" strike="noStrike" cap="none" normalizeH="0" baseline="0" dirty="0" smtClean="0">
              <a:ln>
                <a:noFill/>
              </a:ln>
              <a:solidFill>
                <a:schemeClr val="tx1"/>
              </a:solidFill>
              <a:effectLst/>
              <a:latin typeface="Arial" pitchFamily="34" charset="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9" name="Rectangle 1"/>
          <p:cNvSpPr>
            <a:spLocks noChangeArrowheads="1"/>
          </p:cNvSpPr>
          <p:nvPr/>
        </p:nvSpPr>
        <p:spPr bwMode="auto">
          <a:xfrm>
            <a:off x="714348" y="1071546"/>
            <a:ext cx="7572428" cy="452431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pPr>
            <a:r>
              <a:rPr kumimoji="0" lang="ar-SA" b="1" i="0" u="none" strike="noStrike" cap="none" normalizeH="0" baseline="0" dirty="0" smtClean="0">
                <a:ln>
                  <a:noFill/>
                </a:ln>
                <a:solidFill>
                  <a:schemeClr val="tx1"/>
                </a:solidFill>
                <a:effectLst/>
                <a:latin typeface="Arial" pitchFamily="34" charset="0"/>
                <a:ea typeface="Calibri" pitchFamily="34" charset="0"/>
                <a:cs typeface="B Roya" pitchFamily="2" charset="-78"/>
              </a:rPr>
              <a:t>د- حوزه خدمات و اطلاع رساني :</a:t>
            </a:r>
            <a:endParaRPr kumimoji="0" lang="ar-SA" b="0" i="0" u="none" strike="noStrike" cap="none" normalizeH="0" baseline="0" dirty="0" smtClean="0">
              <a:ln>
                <a:noFill/>
              </a:ln>
              <a:solidFill>
                <a:schemeClr val="tx1"/>
              </a:solidFill>
              <a:effectLst/>
              <a:latin typeface="Calibri" pitchFamily="34" charset="0"/>
              <a:ea typeface="Calibri"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b="0" i="0" u="none" strike="noStrike" cap="none" normalizeH="0" baseline="0" dirty="0" smtClean="0">
                <a:ln>
                  <a:noFill/>
                </a:ln>
                <a:solidFill>
                  <a:schemeClr val="tx1"/>
                </a:solidFill>
                <a:effectLst/>
                <a:latin typeface="Calibri" pitchFamily="34" charset="0"/>
                <a:ea typeface="Calibri" pitchFamily="34" charset="0"/>
                <a:cs typeface="B Roya" pitchFamily="2" charset="-78"/>
              </a:rPr>
              <a:t>دلايل بهره‌گيري از سايت‌هاي اطلاع رساني: امروزه اطلاع رساني به يك ضرورت انكار ناپذير در عرصة ارتباطات انساني مبدل شده است و گسترش روزافزون ابزارهاي ارتباطي، مسابقة دستيابي سريع به اطلاعات را به نقطة اوج خود رسانده است به‌نحوي كه عقب ماندن از قافلة پرجنب و جوش دنياي ارتباطات سرنوشت هر مجموعه را با دنياي نيستي رقم خواهد زد. اكنون دور تا دور ما را انواع رسانه هاي تصويري، شنيداري، الكترونيكي و مكتوب فرا گرفته است كه بسته به موقعيت، رسانه اي گوي سبقت را از ديگري مي‌ربايد و جاي خود را در ارتباطات انساني مستحكم مي‌كند. اما در بين ابزارهاي ارتباطي، رسانه‌هاي الكترونيكي در ساليان اخير جايگاه ويژه اي را در جوامع انساني پيدا كرده اند و به‌دليل سرعت پردازش اطلاعات و ارائه آنها در حداقل زمان ممكن، پيشتاز دنياي جذاب ارتباطات شده اند و همچنان به منظور فتح قله‌هاي رفيع آن پيش مي‌روند. در سال‌هاي نه چندان دور رسانه‌هاي تصويري و شنيداري اين جايگاه ويژه را بدليل سرعت تبادل اطلاعات از آن خود كرده بودند ليكن به‌دليل محدوديت زماني و عدم امكان ارايه مطالب متناسب با سليقة همة مخاطبان، رسانه‌هاي مكتوب نيز عرصه را به رقيب واگذار نكردند و هم‌چنان پابه پاي ديگر رسانه‌ها پيش رفتند اما در چند سال اخير رسانه‌هاي الكترونيكي بدليل دارا بودن هر دو ويژگي عدم محدويت زماني و فضاي مناسب اطلاع رساني، جاي خود را به‌عنوان برترين رسانة دنياي ارتباطات تثبيت كرده‌اند و همچنان با گسترش امكانات سخت افزاري در جوامع انساني  پيش بيني مي شود اين رسانه‌ها قلة پيشتازي نشر اطلاعات را فتح نمايند. </a:t>
            </a:r>
            <a:endParaRPr kumimoji="0" lang="ar-SA" b="0" i="0" u="none" strike="noStrike" cap="none" normalizeH="0" baseline="0" dirty="0" smtClean="0">
              <a:ln>
                <a:noFill/>
              </a:ln>
              <a:solidFill>
                <a:schemeClr val="tx1"/>
              </a:solidFill>
              <a:effectLst/>
              <a:latin typeface="Arial" pitchFamily="34" charset="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8600" y="762000"/>
            <a:ext cx="8610600" cy="5078313"/>
          </a:xfrm>
          <a:prstGeom prst="rect">
            <a:avLst/>
          </a:prstGeom>
        </p:spPr>
        <p:txBody>
          <a:bodyPr wrap="square">
            <a:spAutoFit/>
          </a:bodyPr>
          <a:lstStyle/>
          <a:p>
            <a:pPr algn="justLow" rtl="1">
              <a:lnSpc>
                <a:spcPct val="150000"/>
              </a:lnSpc>
            </a:pPr>
            <a:r>
              <a:rPr lang="ar-SA" dirty="0" smtClean="0">
                <a:cs typeface="B Roya" pitchFamily="2" charset="-78"/>
              </a:rPr>
              <a:t>. شبكه هاي خبري در اينترنت چندي است فضاي مجازي سايت هاي ايراني را به‌شكلي گسترده اشغال كرده اند به‌نحوي كه خبرگزاري‌</a:t>
            </a:r>
            <a:r>
              <a:rPr lang="fa-IR" dirty="0" smtClean="0">
                <a:cs typeface="B Roya" pitchFamily="2" charset="-78"/>
              </a:rPr>
              <a:t> </a:t>
            </a:r>
            <a:r>
              <a:rPr lang="ar-SA" dirty="0" smtClean="0">
                <a:cs typeface="B Roya" pitchFamily="2" charset="-78"/>
              </a:rPr>
              <a:t>های رسمي جديدي از جمله فارس(</a:t>
            </a:r>
            <a:r>
              <a:rPr lang="en-US" b="1" u="sng" dirty="0" smtClean="0">
                <a:cs typeface="B Roya" pitchFamily="2" charset="-78"/>
                <a:hlinkClick r:id="rId2"/>
              </a:rPr>
              <a:t>www.farsnews.com</a:t>
            </a:r>
            <a:r>
              <a:rPr lang="ar-SA" dirty="0" smtClean="0">
                <a:cs typeface="B Roya" pitchFamily="2" charset="-78"/>
              </a:rPr>
              <a:t>)</a:t>
            </a:r>
            <a:r>
              <a:rPr lang="en-US" dirty="0" smtClean="0">
                <a:cs typeface="B Roya" pitchFamily="2" charset="-78"/>
              </a:rPr>
              <a:t> </a:t>
            </a:r>
            <a:r>
              <a:rPr lang="ar-SA" dirty="0" smtClean="0">
                <a:cs typeface="B Roya" pitchFamily="2" charset="-78"/>
              </a:rPr>
              <a:t>مهر(</a:t>
            </a:r>
            <a:r>
              <a:rPr lang="en-US" dirty="0" smtClean="0">
                <a:cs typeface="B Roya" pitchFamily="2" charset="-78"/>
              </a:rPr>
              <a:t>www.mehrnews.com</a:t>
            </a:r>
            <a:r>
              <a:rPr lang="ar-SA" dirty="0" smtClean="0">
                <a:cs typeface="B Roya" pitchFamily="2" charset="-78"/>
              </a:rPr>
              <a:t>)،دانشجويان ايران(</a:t>
            </a:r>
            <a:r>
              <a:rPr lang="en-US" dirty="0" smtClean="0">
                <a:cs typeface="B Roya" pitchFamily="2" charset="-78"/>
              </a:rPr>
              <a:t>www.isna.ir</a:t>
            </a:r>
            <a:r>
              <a:rPr lang="ar-SA" dirty="0" smtClean="0">
                <a:cs typeface="B Roya" pitchFamily="2" charset="-78"/>
              </a:rPr>
              <a:t>)،باشگاه خبرنگاران جوان(</a:t>
            </a:r>
            <a:r>
              <a:rPr lang="en-US" b="1" u="sng" dirty="0" smtClean="0">
                <a:cs typeface="B Roya" pitchFamily="2" charset="-78"/>
                <a:hlinkClick r:id="rId3"/>
              </a:rPr>
              <a:t>www.yjc</a:t>
            </a:r>
            <a:r>
              <a:rPr lang="ar-SA" dirty="0" smtClean="0">
                <a:cs typeface="B Roya" pitchFamily="2" charset="-78"/>
              </a:rPr>
              <a:t>) و...افتتاح شد و خبرگزاري جمهوري اسلامي بعنوان بزرگترين خبرگزاري كشور از سال گذشته توليدات خودرا به منظور عقب نماندن از قافله كاروان اخبار واطلاعات بر روي شبكه جهاني اينترنت قرار داد و فصلي نوين درتكنيك خبررساني ايجاد شد. البته در كنار اين شبكه‌هاي خبري، سايت‌هاي خبري غير رسمي زيادي بوجود آمده است كه آمار رسمي و قابل اتكايي در اين زمينه وجود ندارد ولي جالب است كه برخي از اهل فن و به‌خصوص دانشجويان در هر شهر خبرگزاري‌هاي محلي تأسيس كرده اند كه خبرهاي منطقه خود را پوشش مي دهند و با كمك موتورهاي جستجوگر به‌راحتي مي‌توان به آنها دسترسي پيدا كرد. در اين راستا وزارتخانه‌ها و سازمان‌هاي دولتي و غير دولتي هم دست بكار شده‌اند و هر كدام سايت‌هاي اطلاع‌رساني و خبري ايجاد كرده‌اند، با توجه به آنچه گفته شد سازمان تبليغات اسلامي نيز در راستاي تبليغ دين كه جزء وظايف ذاتي بوده است اقدام به ايجاد محيط‌هاي الكترونيكي جهت اطلاع‌رساني نموده است كه در ادامه به آنها اشاره مي‌گردد.</a:t>
            </a:r>
            <a:endParaRPr lang="fa-IR" dirty="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00034" y="914400"/>
            <a:ext cx="8001024" cy="646331"/>
          </a:xfrm>
          <a:prstGeom prst="rect">
            <a:avLst/>
          </a:prstGeom>
        </p:spPr>
        <p:txBody>
          <a:bodyPr wrap="square">
            <a:spAutoFit/>
          </a:bodyPr>
          <a:lstStyle/>
          <a:p>
            <a:pPr algn="justLow" rtl="1"/>
            <a:r>
              <a:rPr lang="ar-SA" b="1" u="sng" dirty="0" smtClean="0">
                <a:cs typeface="B Roya" pitchFamily="2" charset="-78"/>
              </a:rPr>
              <a:t>د-1- سايت‌هاي سازماني :</a:t>
            </a:r>
            <a:r>
              <a:rPr lang="ar-SA" dirty="0" smtClean="0">
                <a:cs typeface="B Roya" pitchFamily="2" charset="-78"/>
              </a:rPr>
              <a:t> يكي از اقدامات مهم سازمان در دهه 80 ، طراحي و ايجاد بيش از يكصد وب سايت اينترنتي در حوزه هاي مختلف سازماني مي‌باشد. در زير فهرستي از اين وب سايت‌ها از نظرتان می‌گذرد:</a:t>
            </a:r>
            <a:endParaRPr lang="fa-IR" dirty="0">
              <a:cs typeface="B Roya" pitchFamily="2" charset="-78"/>
            </a:endParaRPr>
          </a:p>
        </p:txBody>
      </p:sp>
      <p:graphicFrame>
        <p:nvGraphicFramePr>
          <p:cNvPr id="5" name="Table 4"/>
          <p:cNvGraphicFramePr>
            <a:graphicFrameLocks noGrp="1"/>
          </p:cNvGraphicFramePr>
          <p:nvPr/>
        </p:nvGraphicFramePr>
        <p:xfrm>
          <a:off x="428596" y="1857328"/>
          <a:ext cx="8143932" cy="15955140"/>
        </p:xfrm>
        <a:graphic>
          <a:graphicData uri="http://schemas.openxmlformats.org/drawingml/2006/table">
            <a:tbl>
              <a:tblPr rtl="1"/>
              <a:tblGrid>
                <a:gridCol w="2714644"/>
                <a:gridCol w="2714644"/>
                <a:gridCol w="2714644"/>
              </a:tblGrid>
              <a:tr h="40569">
                <a:tc>
                  <a:txBody>
                    <a:bodyPr/>
                    <a:lstStyle/>
                    <a:p>
                      <a:pPr algn="just" rtl="1">
                        <a:lnSpc>
                          <a:spcPct val="115000"/>
                        </a:lnSpc>
                        <a:spcAft>
                          <a:spcPts val="1000"/>
                        </a:spcAft>
                      </a:pPr>
                      <a:r>
                        <a:rPr lang="ar-SA" sz="800" b="1" dirty="0">
                          <a:latin typeface="Calibri"/>
                          <a:ea typeface="Calibri"/>
                          <a:cs typeface="B Roya" pitchFamily="2" charset="-78"/>
                        </a:rPr>
                        <a:t>رديف</a:t>
                      </a:r>
                      <a:endParaRPr lang="en-US" sz="800" b="1" dirty="0">
                        <a:latin typeface="Calibri"/>
                        <a:ea typeface="Calibri"/>
                        <a:cs typeface="B Roya" pitchFamily="2" charset="-78"/>
                      </a:endParaRPr>
                    </a:p>
                  </a:txBody>
                  <a:tcPr marL="1766" marR="1766" marT="1766" marB="1766" anchor="ctr">
                    <a:lnL>
                      <a:noFill/>
                    </a:lnL>
                    <a:lnR>
                      <a:noFill/>
                    </a:lnR>
                    <a:lnT w="28575" cap="flat" cmpd="sng" algn="ctr">
                      <a:solidFill>
                        <a:srgbClr val="000000"/>
                      </a:solidFill>
                      <a:prstDash val="solid"/>
                      <a:round/>
                      <a:headEnd type="none" w="med" len="med"/>
                      <a:tailEnd type="none" w="med" len="med"/>
                    </a:lnT>
                    <a:lnB>
                      <a:noFill/>
                    </a:lnB>
                    <a:solidFill>
                      <a:srgbClr val="999999"/>
                    </a:solidFill>
                  </a:tcPr>
                </a:tc>
                <a:tc>
                  <a:txBody>
                    <a:bodyPr/>
                    <a:lstStyle/>
                    <a:p>
                      <a:pPr algn="just" rtl="1">
                        <a:lnSpc>
                          <a:spcPct val="115000"/>
                        </a:lnSpc>
                        <a:spcAft>
                          <a:spcPts val="1000"/>
                        </a:spcAft>
                      </a:pPr>
                      <a:r>
                        <a:rPr lang="ar-SA" sz="800" b="1" dirty="0">
                          <a:latin typeface="Calibri"/>
                          <a:ea typeface="Calibri"/>
                          <a:cs typeface="B Roya" pitchFamily="2" charset="-78"/>
                        </a:rPr>
                        <a:t>نام وب سايت</a:t>
                      </a:r>
                      <a:endParaRPr lang="en-US" sz="800" b="1" dirty="0">
                        <a:latin typeface="Calibri"/>
                        <a:ea typeface="Calibri"/>
                        <a:cs typeface="B Roya" pitchFamily="2" charset="-78"/>
                      </a:endParaRPr>
                    </a:p>
                  </a:txBody>
                  <a:tcPr marL="1766" marR="1766" marT="1766" marB="1766" anchor="ctr">
                    <a:lnL>
                      <a:noFill/>
                    </a:lnL>
                    <a:lnR>
                      <a:noFill/>
                    </a:lnR>
                    <a:lnT w="28575" cap="flat" cmpd="sng" algn="ctr">
                      <a:solidFill>
                        <a:srgbClr val="000000"/>
                      </a:solidFill>
                      <a:prstDash val="solid"/>
                      <a:round/>
                      <a:headEnd type="none" w="med" len="med"/>
                      <a:tailEnd type="none" w="med" len="med"/>
                    </a:lnT>
                    <a:lnB>
                      <a:noFill/>
                    </a:lnB>
                    <a:solidFill>
                      <a:srgbClr val="999999"/>
                    </a:solidFill>
                  </a:tcPr>
                </a:tc>
                <a:tc>
                  <a:txBody>
                    <a:bodyPr/>
                    <a:lstStyle/>
                    <a:p>
                      <a:pPr algn="just" rtl="1">
                        <a:lnSpc>
                          <a:spcPct val="115000"/>
                        </a:lnSpc>
                        <a:spcAft>
                          <a:spcPts val="1000"/>
                        </a:spcAft>
                      </a:pPr>
                      <a:r>
                        <a:rPr lang="ar-SA" sz="800" b="1">
                          <a:latin typeface="Calibri"/>
                          <a:ea typeface="Calibri"/>
                          <a:cs typeface="B Roya" pitchFamily="2" charset="-78"/>
                        </a:rPr>
                        <a:t>آدرس وب سايت</a:t>
                      </a:r>
                      <a:endParaRPr lang="en-US" sz="800" b="1">
                        <a:latin typeface="Calibri"/>
                        <a:ea typeface="Calibri"/>
                        <a:cs typeface="B Roya" pitchFamily="2" charset="-78"/>
                      </a:endParaRPr>
                    </a:p>
                  </a:txBody>
                  <a:tcPr marL="1766" marR="1766" marT="1766" marB="1766" anchor="ctr">
                    <a:lnL>
                      <a:noFill/>
                    </a:lnL>
                    <a:lnR>
                      <a:noFill/>
                    </a:lnR>
                    <a:lnT w="28575" cap="flat" cmpd="sng" algn="ctr">
                      <a:solidFill>
                        <a:srgbClr val="000000"/>
                      </a:solidFill>
                      <a:prstDash val="solid"/>
                      <a:round/>
                      <a:headEnd type="none" w="med" len="med"/>
                      <a:tailEnd type="none" w="med" len="med"/>
                    </a:lnT>
                    <a:lnB>
                      <a:noFill/>
                    </a:lnB>
                    <a:solidFill>
                      <a:srgbClr val="999999"/>
                    </a:solidFill>
                  </a:tcPr>
                </a:tc>
              </a:tr>
              <a:tr h="40569">
                <a:tc gridSpan="3">
                  <a:txBody>
                    <a:bodyPr/>
                    <a:lstStyle/>
                    <a:p>
                      <a:pPr algn="just" rtl="1">
                        <a:lnSpc>
                          <a:spcPct val="115000"/>
                        </a:lnSpc>
                        <a:spcAft>
                          <a:spcPts val="1000"/>
                        </a:spcAft>
                      </a:pPr>
                      <a:r>
                        <a:rPr lang="ar-SA" sz="800" b="1">
                          <a:latin typeface="Calibri"/>
                          <a:ea typeface="Calibri"/>
                          <a:cs typeface="B Roya" pitchFamily="2" charset="-78"/>
                        </a:rPr>
                        <a:t>وب سايت‌هايمستقل</a:t>
                      </a:r>
                      <a:endParaRPr lang="en-US" sz="800" b="1">
                        <a:latin typeface="Calibri"/>
                        <a:ea typeface="Calibri"/>
                        <a:cs typeface="B Roya" pitchFamily="2" charset="-78"/>
                      </a:endParaRPr>
                    </a:p>
                  </a:txBody>
                  <a:tcPr marL="1766" marR="1766" marT="1766" marB="1766" anchor="ctr">
                    <a:lnL>
                      <a:noFill/>
                    </a:lnL>
                    <a:lnT>
                      <a:noFill/>
                    </a:lnT>
                    <a:lnB>
                      <a:noFill/>
                    </a:lnB>
                    <a:solidFill>
                      <a:srgbClr val="C0C0C0"/>
                    </a:solidFill>
                  </a:tcPr>
                </a:tc>
                <a:tc hMerge="1">
                  <a:txBody>
                    <a:bodyPr/>
                    <a:lstStyle/>
                    <a:p>
                      <a:pPr rtl="1"/>
                      <a:endParaRPr lang="fa-IR"/>
                    </a:p>
                  </a:txBody>
                  <a:tcPr/>
                </a:tc>
                <a:tc hMerge="1">
                  <a:txBody>
                    <a:bodyPr/>
                    <a:lstStyle/>
                    <a:p>
                      <a:pPr rtl="1"/>
                      <a:endParaRPr lang="fa-IR"/>
                    </a:p>
                  </a:txBody>
                  <a:tcPr/>
                </a:tc>
              </a:tr>
              <a:tr h="40926">
                <a:tc>
                  <a:txBody>
                    <a:bodyPr/>
                    <a:lstStyle/>
                    <a:p>
                      <a:pPr algn="just" rtl="1">
                        <a:lnSpc>
                          <a:spcPct val="115000"/>
                        </a:lnSpc>
                        <a:spcAft>
                          <a:spcPts val="1000"/>
                        </a:spcAft>
                      </a:pPr>
                      <a:r>
                        <a:rPr lang="fa-IR" sz="800" b="1">
                          <a:latin typeface="Calibri"/>
                          <a:ea typeface="Calibri"/>
                          <a:cs typeface="B Roya" pitchFamily="2" charset="-78"/>
                        </a:rPr>
                        <a:t>1</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2"/>
                        </a:rPr>
                        <a:t>آژانس عكسسوره</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2"/>
                        </a:rPr>
                        <a:t>www.sourehphoto.com</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2</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3"/>
                        </a:rPr>
                        <a:t>ارتباطشيعي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3"/>
                        </a:rPr>
                        <a:t>www.eshia.ir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3</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4"/>
                        </a:rPr>
                        <a:t>امور مساجدسازمان تبليغات اسلامي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4"/>
                        </a:rPr>
                        <a:t>www.manareh.ir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4</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5"/>
                        </a:rPr>
                        <a:t>پايگاه دادههاي فرهنگي - ديني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5"/>
                        </a:rPr>
                        <a:t>www.crds.ir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5</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6"/>
                        </a:rPr>
                        <a:t>پژوهشكده باقرالعلوم</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6"/>
                        </a:rPr>
                        <a:t>www.pajoohe.com</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6</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7"/>
                        </a:rPr>
                        <a:t>پورتال جامعاطلاع رساني تبيان مساجد خراسان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7"/>
                        </a:rPr>
                        <a:t>www.mashhadmasajed.ir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7</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8"/>
                        </a:rPr>
                        <a:t>پورتال مليمساجد كشور</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8"/>
                        </a:rPr>
                        <a:t>www.tebyan-masajed.ir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76854">
                <a:tc>
                  <a:txBody>
                    <a:bodyPr/>
                    <a:lstStyle/>
                    <a:p>
                      <a:pPr algn="just" rtl="1">
                        <a:lnSpc>
                          <a:spcPct val="115000"/>
                        </a:lnSpc>
                        <a:spcAft>
                          <a:spcPts val="1000"/>
                        </a:spcAft>
                      </a:pPr>
                      <a:r>
                        <a:rPr lang="fa-IR" sz="800" b="1">
                          <a:latin typeface="Calibri"/>
                          <a:ea typeface="Calibri"/>
                          <a:cs typeface="B Roya" pitchFamily="2" charset="-78"/>
                        </a:rPr>
                        <a:t>8</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9"/>
                        </a:rPr>
                        <a:t>تشكل‌هاي دينيو مراكزفرهنگي سازمان تبليغات اسلامي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9"/>
                        </a:rPr>
                        <a:t>tdm.ido.ir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9</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10"/>
                        </a:rPr>
                        <a:t>حوزههنري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10"/>
                        </a:rPr>
                        <a:t>www.hozehonari.com</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10</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11"/>
                        </a:rPr>
                        <a:t>خانه عكاسانايران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11"/>
                        </a:rPr>
                        <a:t>www.iranipc.ir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11</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12"/>
                        </a:rPr>
                        <a:t>خبرگزاريمهر</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dirty="0">
                          <a:solidFill>
                            <a:srgbClr val="0000FF"/>
                          </a:solidFill>
                          <a:latin typeface="Calibri"/>
                          <a:ea typeface="Calibri"/>
                          <a:cs typeface="B Roya" pitchFamily="2" charset="-78"/>
                          <a:hlinkClick r:id="rId12"/>
                        </a:rPr>
                        <a:t>www.mehrnews.com</a:t>
                      </a:r>
                      <a:endParaRPr lang="en-US" sz="800" b="1" dirty="0">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12</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13"/>
                        </a:rPr>
                        <a:t>سازماندارالقرآن كريم</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13"/>
                        </a:rPr>
                        <a:t>www.telavat.com</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13</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14"/>
                        </a:rPr>
                        <a:t>سينمافردا</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14"/>
                        </a:rPr>
                        <a:t>www.cinemafarda.com</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14</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15"/>
                        </a:rPr>
                        <a:t>شركت انتشاراتسوره مهر</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15"/>
                        </a:rPr>
                        <a:t>www.iricap.com</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15</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16"/>
                        </a:rPr>
                        <a:t>كتابفروشیالكترونيكی كتابشهر</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16"/>
                        </a:rPr>
                        <a:t>www.ketabshahr.com</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16</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17"/>
                        </a:rPr>
                        <a:t>مجتمع آموزشعلوم اسلامي كوثر</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17"/>
                        </a:rPr>
                        <a:t>www.kosar.ac.ir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17</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18"/>
                        </a:rPr>
                        <a:t>مركز علميكاربردي سازمان تبليغات اسلامي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18"/>
                        </a:rPr>
                        <a:t>uast.ido.ir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18</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19"/>
                        </a:rPr>
                        <a:t>معاونت پژوهشيو آموزشي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19"/>
                        </a:rPr>
                        <a:t>www.pajohe.ir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19</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20"/>
                        </a:rPr>
                        <a:t>موجنور</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20"/>
                        </a:rPr>
                        <a:t>www.mojenoor.com</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20</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21"/>
                        </a:rPr>
                        <a:t>موسسه آموزشعالي سوره</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21"/>
                        </a:rPr>
                        <a:t>www.soore.ac.ir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21</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22"/>
                        </a:rPr>
                        <a:t>موسسهانتشارات امير كبير</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22"/>
                        </a:rPr>
                        <a:t>www.amirkabir.net</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22</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23"/>
                        </a:rPr>
                        <a:t>موسسه تهرانتايمز</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23"/>
                        </a:rPr>
                        <a:t>www.tehrantimes.com</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23</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24"/>
                        </a:rPr>
                        <a:t>موسسه فرهنگيتسنيم نور</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24"/>
                        </a:rPr>
                        <a:t>www.tnci.ir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24</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25"/>
                        </a:rPr>
                        <a:t>موسسه فرهنگیو اطلاع رسانی تبيان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25"/>
                        </a:rPr>
                        <a:t>www.tebyan.net</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25</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26"/>
                        </a:rPr>
                        <a:t>هيئات مذهبياستان اصفهان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26"/>
                        </a:rPr>
                        <a:t>www.esfahanheiat.ir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569">
                <a:tc gridSpan="3">
                  <a:txBody>
                    <a:bodyPr/>
                    <a:lstStyle/>
                    <a:p>
                      <a:pPr marR="134620" algn="just" rtl="1">
                        <a:lnSpc>
                          <a:spcPct val="115000"/>
                        </a:lnSpc>
                        <a:spcAft>
                          <a:spcPts val="1000"/>
                        </a:spcAft>
                      </a:pPr>
                      <a:r>
                        <a:rPr lang="ar-SA" sz="800" b="1">
                          <a:latin typeface="Calibri"/>
                          <a:ea typeface="Calibri"/>
                          <a:cs typeface="B Roya" pitchFamily="2" charset="-78"/>
                        </a:rPr>
                        <a:t>وب سايت‌هايتبيان استانها</a:t>
                      </a:r>
                      <a:endParaRPr lang="en-US" sz="800" b="1">
                        <a:latin typeface="Calibri"/>
                        <a:ea typeface="Calibri"/>
                        <a:cs typeface="B Roya" pitchFamily="2" charset="-78"/>
                      </a:endParaRPr>
                    </a:p>
                  </a:txBody>
                  <a:tcPr marL="1766" marR="1766" marT="1766" marB="1766" anchor="ctr">
                    <a:lnL>
                      <a:noFill/>
                    </a:lnL>
                    <a:lnT>
                      <a:noFill/>
                    </a:lnT>
                    <a:lnB>
                      <a:noFill/>
                    </a:lnB>
                    <a:solidFill>
                      <a:srgbClr val="C0C0C0"/>
                    </a:solidFill>
                  </a:tcPr>
                </a:tc>
                <a:tc hMerge="1">
                  <a:txBody>
                    <a:bodyPr/>
                    <a:lstStyle/>
                    <a:p>
                      <a:pPr rtl="1"/>
                      <a:endParaRPr lang="fa-IR"/>
                    </a:p>
                  </a:txBody>
                  <a:tcPr/>
                </a:tc>
                <a:tc hMerge="1">
                  <a:txBody>
                    <a:bodyPr/>
                    <a:lstStyle/>
                    <a:p>
                      <a:pPr rtl="1"/>
                      <a:endParaRPr lang="fa-IR"/>
                    </a:p>
                  </a:txBody>
                  <a:tcPr/>
                </a:tc>
              </a:tr>
              <a:tr h="40926">
                <a:tc>
                  <a:txBody>
                    <a:bodyPr/>
                    <a:lstStyle/>
                    <a:p>
                      <a:pPr algn="just" rtl="1">
                        <a:lnSpc>
                          <a:spcPct val="115000"/>
                        </a:lnSpc>
                        <a:spcAft>
                          <a:spcPts val="1000"/>
                        </a:spcAft>
                      </a:pPr>
                      <a:r>
                        <a:rPr lang="fa-IR" sz="800" b="1">
                          <a:latin typeface="Calibri"/>
                          <a:ea typeface="Calibri"/>
                          <a:cs typeface="B Roya" pitchFamily="2" charset="-78"/>
                        </a:rPr>
                        <a:t>26</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27"/>
                        </a:rPr>
                        <a:t>تبيان استانآذربايجان شرقي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27"/>
                        </a:rPr>
                        <a:t>www.tebyan-tabriz.ir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27</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28"/>
                        </a:rPr>
                        <a:t>تبيان استانآذربايجان غربي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28"/>
                        </a:rPr>
                        <a:t>www.urmia-tebyan.ir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28</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29"/>
                        </a:rPr>
                        <a:t>تبيان استاناردبيل</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29"/>
                        </a:rPr>
                        <a:t>www.tebyan-ardebil.ir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29</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30"/>
                        </a:rPr>
                        <a:t>تبيان استاناصفهان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30"/>
                        </a:rPr>
                        <a:t>www.esfahan-tebyan.ir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30</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31"/>
                        </a:rPr>
                        <a:t>تبيان استانايلام</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31"/>
                        </a:rPr>
                        <a:t>www.tebyan-ilam.ir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31</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32"/>
                        </a:rPr>
                        <a:t>تبيان استانبوشهر</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32"/>
                        </a:rPr>
                        <a:t>www.bushehr-tebyan.ir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32</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33"/>
                        </a:rPr>
                        <a:t>تبيان استانتهران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33"/>
                        </a:rPr>
                        <a:t>www.tebyan-tehran.ir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33</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34"/>
                        </a:rPr>
                        <a:t>تبيان استانچهارمحال و بختياري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34"/>
                        </a:rPr>
                        <a:t>www.tebyan-shahrekord.ir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34</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35"/>
                        </a:rPr>
                        <a:t>تبيان استانخراسان جنوبي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35"/>
                        </a:rPr>
                        <a:t>www.tebyan-birjand.ir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35</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36"/>
                        </a:rPr>
                        <a:t>تبيان استانخراسان رضوي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36"/>
                        </a:rPr>
                        <a:t>www.tebyan-khorasan.ir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36</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37"/>
                        </a:rPr>
                        <a:t>تبيان استانخراسان شمالي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37"/>
                        </a:rPr>
                        <a:t>www.tebyan-bojnurd.ir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37</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38"/>
                        </a:rPr>
                        <a:t>تبيان استانخوزستان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38"/>
                        </a:rPr>
                        <a:t>www.tebyan-kz.ir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38</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39"/>
                        </a:rPr>
                        <a:t>تبيان استانزنجان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39"/>
                        </a:rPr>
                        <a:t>www.tebyan-zanjan.ir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39</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40"/>
                        </a:rPr>
                        <a:t>تبيان استانسمنان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40"/>
                        </a:rPr>
                        <a:t>www.tebyan-sm.ir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40</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41"/>
                        </a:rPr>
                        <a:t>تبيان استانسيستان و بلوچستان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41"/>
                        </a:rPr>
                        <a:t>www.zahedan-tebyan.ir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41</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42"/>
                        </a:rPr>
                        <a:t>تبيان استانفارس</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42"/>
                        </a:rPr>
                        <a:t>www.tebyan-fars.ir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42</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43"/>
                        </a:rPr>
                        <a:t>تبيان استانقزوين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43"/>
                        </a:rPr>
                        <a:t>www.tebyan-qazvin.ir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43</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44"/>
                        </a:rPr>
                        <a:t>تبيان استانقم</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44"/>
                        </a:rPr>
                        <a:t>www.tebyan-qom.ir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44</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45"/>
                        </a:rPr>
                        <a:t>تبيان استانكردستان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45"/>
                        </a:rPr>
                        <a:t>www.tebyan-kd.ir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45</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46"/>
                        </a:rPr>
                        <a:t>تبيان استانكرمان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46"/>
                        </a:rPr>
                        <a:t>www.tebyan-kerman.ir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46</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47"/>
                        </a:rPr>
                        <a:t>تبيان استانكرمانشاه</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47"/>
                        </a:rPr>
                        <a:t>www.tebyan-kermanshah.ir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47</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48"/>
                        </a:rPr>
                        <a:t>تبيان استانكهگيلويه و بويراحمد</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48"/>
                        </a:rPr>
                        <a:t>www.tebyan-yasuj.ir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48</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49"/>
                        </a:rPr>
                        <a:t>تبيان استانگلستان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49"/>
                        </a:rPr>
                        <a:t>www.tebyan-golestan.ir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49</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50"/>
                        </a:rPr>
                        <a:t>تبيان استانگيلان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50"/>
                        </a:rPr>
                        <a:t>www.tebyan-gilan.ir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50</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51"/>
                        </a:rPr>
                        <a:t>تبيان استانلرستان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51"/>
                        </a:rPr>
                        <a:t>www.tebyan-lorestan.ir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51</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52"/>
                        </a:rPr>
                        <a:t>تبيان استانمازندران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52"/>
                        </a:rPr>
                        <a:t>www.tebyan-babol.ir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52</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53"/>
                        </a:rPr>
                        <a:t>تبيان استانمركزي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53"/>
                        </a:rPr>
                        <a:t>www.tebyan-markazi.ir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53</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54"/>
                        </a:rPr>
                        <a:t>تبيان استانهرمزگان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54"/>
                        </a:rPr>
                        <a:t>www.tebyan-hormozgan.ir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54</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55"/>
                        </a:rPr>
                        <a:t>تبيان استانهمدان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55"/>
                        </a:rPr>
                        <a:t>www.tebyan-hamedan.ir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55</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56"/>
                        </a:rPr>
                        <a:t>تبيان استانيزد</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56"/>
                        </a:rPr>
                        <a:t>www.tebyan-yazd.ir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569">
                <a:tc gridSpan="3">
                  <a:txBody>
                    <a:bodyPr/>
                    <a:lstStyle/>
                    <a:p>
                      <a:pPr marR="134620" algn="just" rtl="1">
                        <a:lnSpc>
                          <a:spcPct val="115000"/>
                        </a:lnSpc>
                        <a:spcAft>
                          <a:spcPts val="1000"/>
                        </a:spcAft>
                      </a:pPr>
                      <a:r>
                        <a:rPr lang="ar-SA" sz="800" b="1">
                          <a:latin typeface="Calibri"/>
                          <a:ea typeface="Calibri"/>
                          <a:cs typeface="B Roya" pitchFamily="2" charset="-78"/>
                        </a:rPr>
                        <a:t>وب سايت‌هاي حوزههنري</a:t>
                      </a:r>
                      <a:endParaRPr lang="en-US" sz="800" b="1">
                        <a:latin typeface="Calibri"/>
                        <a:ea typeface="Calibri"/>
                        <a:cs typeface="B Roya" pitchFamily="2" charset="-78"/>
                      </a:endParaRPr>
                    </a:p>
                  </a:txBody>
                  <a:tcPr marL="1766" marR="1766" marT="1766" marB="1766" anchor="ctr">
                    <a:lnL>
                      <a:noFill/>
                    </a:lnL>
                    <a:lnT>
                      <a:noFill/>
                    </a:lnT>
                    <a:lnB>
                      <a:noFill/>
                    </a:lnB>
                    <a:solidFill>
                      <a:srgbClr val="C0C0C0"/>
                    </a:solidFill>
                  </a:tcPr>
                </a:tc>
                <a:tc hMerge="1">
                  <a:txBody>
                    <a:bodyPr/>
                    <a:lstStyle/>
                    <a:p>
                      <a:pPr rtl="1"/>
                      <a:endParaRPr lang="fa-IR"/>
                    </a:p>
                  </a:txBody>
                  <a:tcPr/>
                </a:tc>
                <a:tc hMerge="1">
                  <a:txBody>
                    <a:bodyPr/>
                    <a:lstStyle/>
                    <a:p>
                      <a:pPr rtl="1"/>
                      <a:endParaRPr lang="fa-IR"/>
                    </a:p>
                  </a:txBody>
                  <a:tcPr/>
                </a:tc>
              </a:tr>
              <a:tr h="40926">
                <a:tc>
                  <a:txBody>
                    <a:bodyPr/>
                    <a:lstStyle/>
                    <a:p>
                      <a:pPr algn="just" rtl="1">
                        <a:lnSpc>
                          <a:spcPct val="115000"/>
                        </a:lnSpc>
                        <a:spcAft>
                          <a:spcPts val="1000"/>
                        </a:spcAft>
                      </a:pPr>
                      <a:r>
                        <a:rPr lang="fa-IR" sz="800" b="1">
                          <a:latin typeface="Calibri"/>
                          <a:ea typeface="Calibri"/>
                          <a:cs typeface="B Roya" pitchFamily="2" charset="-78"/>
                        </a:rPr>
                        <a:t>56</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57"/>
                        </a:rPr>
                        <a:t>اداره كل اموراستانها و مجلس حوزه هنري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57"/>
                        </a:rPr>
                        <a:t>www.artostanha.ir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57</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58"/>
                        </a:rPr>
                        <a:t>باشگاههنرمندان جوان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58"/>
                        </a:rPr>
                        <a:t>www.bashgahonar.ir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58</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59"/>
                        </a:rPr>
                        <a:t>پژوهشگاهفرهنگ و هنر اسلامي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59"/>
                        </a:rPr>
                        <a:t>www.icari.ir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59</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60"/>
                        </a:rPr>
                        <a:t>جشنوارهتوليدات استاني حوزه هنري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60"/>
                        </a:rPr>
                        <a:t>www.artfestival.ir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60</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61"/>
                        </a:rPr>
                        <a:t>جشنوارهسوره</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61"/>
                        </a:rPr>
                        <a:t>www.soure.ir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61</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62"/>
                        </a:rPr>
                        <a:t>جشنواره فيلمرويش</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62"/>
                        </a:rPr>
                        <a:t>www.ruyeshfilm.ir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62</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63"/>
                        </a:rPr>
                        <a:t>خطمعلي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63"/>
                        </a:rPr>
                        <a:t>www.moala.net</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63</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64"/>
                        </a:rPr>
                        <a:t>دفتر طرح وبرنامه حوزه هنري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64"/>
                        </a:rPr>
                        <a:t>www.apap.ir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64</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65"/>
                        </a:rPr>
                        <a:t>دفتر طنز حوزههنري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65"/>
                        </a:rPr>
                        <a:t>www.daftaretanz.com</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65</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66"/>
                        </a:rPr>
                        <a:t>سازمان آموزشو پژوهش حوزه هنري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66"/>
                        </a:rPr>
                        <a:t>www.artedu.ir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66</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67"/>
                        </a:rPr>
                        <a:t>سايت خبريروابط عمومي حوزه هنري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67"/>
                        </a:rPr>
                        <a:t>www.hhnews.ir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67</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68"/>
                        </a:rPr>
                        <a:t>صندوق برگ سبزهنرمندان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68"/>
                        </a:rPr>
                        <a:t>www.artsandogh.ir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68</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69"/>
                        </a:rPr>
                        <a:t>مركزآفرينشهاي ادبي حوزه هنري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69"/>
                        </a:rPr>
                        <a:t>www.adabefarsi.ir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76854">
                <a:tc>
                  <a:txBody>
                    <a:bodyPr/>
                    <a:lstStyle/>
                    <a:p>
                      <a:pPr algn="just" rtl="1">
                        <a:lnSpc>
                          <a:spcPct val="115000"/>
                        </a:lnSpc>
                        <a:spcAft>
                          <a:spcPts val="1000"/>
                        </a:spcAft>
                      </a:pPr>
                      <a:r>
                        <a:rPr lang="fa-IR" sz="800" b="1">
                          <a:latin typeface="Calibri"/>
                          <a:ea typeface="Calibri"/>
                          <a:cs typeface="B Roya" pitchFamily="2" charset="-78"/>
                        </a:rPr>
                        <a:t>69</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70"/>
                        </a:rPr>
                        <a:t>مركز ادبياتمقاومت و فرهنگ پايداري حوزه هنري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70"/>
                        </a:rPr>
                        <a:t>www.markazpaydari.ir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70</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71"/>
                        </a:rPr>
                        <a:t>مركز موسيقيحوزه هنري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71"/>
                        </a:rPr>
                        <a:t>www.musicenter.ir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71</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72"/>
                        </a:rPr>
                        <a:t>مركز هنرهايتجسمي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72"/>
                        </a:rPr>
                        <a:t>www.tajasomi.ir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72</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73"/>
                        </a:rPr>
                        <a:t>موسسه سينماييسوره</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73"/>
                        </a:rPr>
                        <a:t>www.sourehcinema.com</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73</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74"/>
                        </a:rPr>
                        <a:t>موسسه هنرهايتصويري سوره</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74"/>
                        </a:rPr>
                        <a:t>www.vacsoureh.com</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74</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75"/>
                        </a:rPr>
                        <a:t>هنرجوان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75"/>
                        </a:rPr>
                        <a:t>www.honarejavan.com</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75</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76"/>
                        </a:rPr>
                        <a:t>واحدآفرينشهاي ادبي حوزه هنری</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76"/>
                        </a:rPr>
                        <a:t>www.louh.com</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76</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77"/>
                        </a:rPr>
                        <a:t>واحد هنرهاينمايشي حوزه هنري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77"/>
                        </a:rPr>
                        <a:t>www.dramatic.ir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569">
                <a:tc gridSpan="3">
                  <a:txBody>
                    <a:bodyPr/>
                    <a:lstStyle/>
                    <a:p>
                      <a:pPr marR="134620" algn="just" rtl="1">
                        <a:lnSpc>
                          <a:spcPct val="115000"/>
                        </a:lnSpc>
                        <a:spcAft>
                          <a:spcPts val="1000"/>
                        </a:spcAft>
                      </a:pPr>
                      <a:r>
                        <a:rPr lang="ar-SA" sz="800" b="1">
                          <a:latin typeface="Calibri"/>
                          <a:ea typeface="Calibri"/>
                          <a:cs typeface="B Roya" pitchFamily="2" charset="-78"/>
                        </a:rPr>
                        <a:t>وب سايت‌هاي حوزههنري استانها</a:t>
                      </a:r>
                      <a:endParaRPr lang="en-US" sz="800" b="1">
                        <a:latin typeface="Calibri"/>
                        <a:ea typeface="Calibri"/>
                        <a:cs typeface="B Roya" pitchFamily="2" charset="-78"/>
                      </a:endParaRPr>
                    </a:p>
                  </a:txBody>
                  <a:tcPr marL="1766" marR="1766" marT="1766" marB="1766" anchor="ctr">
                    <a:lnL>
                      <a:noFill/>
                    </a:lnL>
                    <a:lnT>
                      <a:noFill/>
                    </a:lnT>
                    <a:lnB>
                      <a:noFill/>
                    </a:lnB>
                    <a:solidFill>
                      <a:srgbClr val="C0C0C0"/>
                    </a:solidFill>
                  </a:tcPr>
                </a:tc>
                <a:tc hMerge="1">
                  <a:txBody>
                    <a:bodyPr/>
                    <a:lstStyle/>
                    <a:p>
                      <a:pPr rtl="1"/>
                      <a:endParaRPr lang="fa-IR"/>
                    </a:p>
                  </a:txBody>
                  <a:tcPr/>
                </a:tc>
                <a:tc hMerge="1">
                  <a:txBody>
                    <a:bodyPr/>
                    <a:lstStyle/>
                    <a:p>
                      <a:pPr rtl="1"/>
                      <a:endParaRPr lang="fa-IR"/>
                    </a:p>
                  </a:txBody>
                  <a:tcPr/>
                </a:tc>
              </a:tr>
              <a:tr h="40926">
                <a:tc>
                  <a:txBody>
                    <a:bodyPr/>
                    <a:lstStyle/>
                    <a:p>
                      <a:pPr algn="just" rtl="1">
                        <a:lnSpc>
                          <a:spcPct val="115000"/>
                        </a:lnSpc>
                        <a:spcAft>
                          <a:spcPts val="1000"/>
                        </a:spcAft>
                      </a:pPr>
                      <a:r>
                        <a:rPr lang="fa-IR" sz="800" b="1">
                          <a:latin typeface="Calibri"/>
                          <a:ea typeface="Calibri"/>
                          <a:cs typeface="B Roya" pitchFamily="2" charset="-78"/>
                        </a:rPr>
                        <a:t>77</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78"/>
                        </a:rPr>
                        <a:t>حوزه هنرياستان آذربايجان شرقي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78"/>
                        </a:rPr>
                        <a:t>www.artabriz.ir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78</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79"/>
                        </a:rPr>
                        <a:t>حوزه هنرياستان آذربايجان غربي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79"/>
                        </a:rPr>
                        <a:t>www.arturmia.ir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79</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80"/>
                        </a:rPr>
                        <a:t>حوزه هنرياستان اردبيل</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80"/>
                        </a:rPr>
                        <a:t>www.artart.ir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80</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81"/>
                        </a:rPr>
                        <a:t>حوزه هنرياستان اصفهان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81"/>
                        </a:rPr>
                        <a:t>www.artesfahan.ir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81</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82"/>
                        </a:rPr>
                        <a:t>حوزه هنرياستان بوشهر</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82"/>
                        </a:rPr>
                        <a:t>www.artbushehr.ir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82</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83"/>
                        </a:rPr>
                        <a:t>حوزه هنرياستان تهران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83"/>
                        </a:rPr>
                        <a:t>www.artehran.com</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83</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84"/>
                        </a:rPr>
                        <a:t>حوزه هنرياستان چهارمحال و بختياري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84"/>
                        </a:rPr>
                        <a:t>www.artshahrekord.ir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84</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85"/>
                        </a:rPr>
                        <a:t>حوزه هنرياستان خراسان جنوبي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85"/>
                        </a:rPr>
                        <a:t>www.artbirjand.ir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85</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86"/>
                        </a:rPr>
                        <a:t>حوزه هنرياستان خراسان رضوي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86"/>
                        </a:rPr>
                        <a:t>www.artmashad.ir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86</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dirty="0">
                          <a:solidFill>
                            <a:srgbClr val="0000FF"/>
                          </a:solidFill>
                          <a:latin typeface="Calibri"/>
                          <a:ea typeface="Calibri"/>
                          <a:cs typeface="B Roya" pitchFamily="2" charset="-78"/>
                          <a:hlinkClick r:id="rId87"/>
                        </a:rPr>
                        <a:t>حوزه هنرياستان خراسان شمالي</a:t>
                      </a:r>
                      <a:endParaRPr lang="en-US" sz="800" b="1" dirty="0">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87"/>
                        </a:rPr>
                        <a:t>www.artbojnourd.ir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87</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88"/>
                        </a:rPr>
                        <a:t>حوزه هنرياستان خوزستان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88"/>
                        </a:rPr>
                        <a:t>www.artkhuzestan.ir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88</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89"/>
                        </a:rPr>
                        <a:t>حوزه هنرياستان زنجان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89"/>
                        </a:rPr>
                        <a:t>www.art-zn.ir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89</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90"/>
                        </a:rPr>
                        <a:t>حوزه هنرياستان سمنان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90"/>
                        </a:rPr>
                        <a:t>www.artsemnan.ir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90</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91"/>
                        </a:rPr>
                        <a:t>حوزه هنرياستان سيستان و بلوچستان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91"/>
                        </a:rPr>
                        <a:t>www.artzahedan.ir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91</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92"/>
                        </a:rPr>
                        <a:t>حوزه هنرياستان فارس</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92"/>
                        </a:rPr>
                        <a:t>www.artfars.ir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92</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93"/>
                        </a:rPr>
                        <a:t>حوزه هنرياستان قزوين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93"/>
                        </a:rPr>
                        <a:t>www.artqazvin.com</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93</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94"/>
                        </a:rPr>
                        <a:t>حوزه هنرياستان قم</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94"/>
                        </a:rPr>
                        <a:t>www.qomart.org</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94</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95"/>
                        </a:rPr>
                        <a:t>حوزه هنرياستان كردستان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95"/>
                        </a:rPr>
                        <a:t>www.artsanandaj.ir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95</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96"/>
                        </a:rPr>
                        <a:t>حوزه هنرياستان كرمان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96"/>
                        </a:rPr>
                        <a:t>www.artkariman.ir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96</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97"/>
                        </a:rPr>
                        <a:t>حوزه هنرياستان كرمانشاه</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97"/>
                        </a:rPr>
                        <a:t>www.artkermanshah.ir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97</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98"/>
                        </a:rPr>
                        <a:t>حوزه هنرياستان كهگيلويه و بويراحمد</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98"/>
                        </a:rPr>
                        <a:t>www.artyasuj.ir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98</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99"/>
                        </a:rPr>
                        <a:t>حوزه هنرياستان گلستان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99"/>
                        </a:rPr>
                        <a:t>www.artgolestan.ir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99</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100"/>
                        </a:rPr>
                        <a:t>حوزه هنرياستان گيلان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100"/>
                        </a:rPr>
                        <a:t>www.artguilan.ir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100</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101"/>
                        </a:rPr>
                        <a:t>حوزه هنرياستان لرستان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101"/>
                        </a:rPr>
                        <a:t>www.hanalor.com</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101</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102"/>
                        </a:rPr>
                        <a:t>حوزه هنرياستان مازندران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102"/>
                        </a:rPr>
                        <a:t>www.artmazandaran.ir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102</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103"/>
                        </a:rPr>
                        <a:t>حوزه هنرياستان مركزي</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103"/>
                        </a:rPr>
                        <a:t>www.markaziart.ir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103</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104"/>
                        </a:rPr>
                        <a:t>حوزه هنرياستان هرمزگان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104"/>
                        </a:rPr>
                        <a:t>www.arthormozgan.ir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104</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105"/>
                        </a:rPr>
                        <a:t>حوزه هنرياستان همدان</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105"/>
                        </a:rPr>
                        <a:t>www.arthamadan.ir</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105</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106"/>
                        </a:rPr>
                        <a:t>حوزه هنرياستان يزد</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a:solidFill>
                            <a:srgbClr val="0000FF"/>
                          </a:solidFill>
                          <a:latin typeface="Calibri"/>
                          <a:ea typeface="Calibri"/>
                          <a:cs typeface="B Roya" pitchFamily="2" charset="-78"/>
                          <a:hlinkClick r:id="rId106"/>
                        </a:rPr>
                        <a:t>www.artyazd.com</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r>
              <a:tr h="40926">
                <a:tc>
                  <a:txBody>
                    <a:bodyPr/>
                    <a:lstStyle/>
                    <a:p>
                      <a:pPr algn="just" rtl="1">
                        <a:lnSpc>
                          <a:spcPct val="115000"/>
                        </a:lnSpc>
                        <a:spcAft>
                          <a:spcPts val="1000"/>
                        </a:spcAft>
                      </a:pPr>
                      <a:r>
                        <a:rPr lang="fa-IR" sz="800" b="1">
                          <a:latin typeface="Calibri"/>
                          <a:ea typeface="Calibri"/>
                          <a:cs typeface="B Roya" pitchFamily="2" charset="-78"/>
                        </a:rPr>
                        <a:t>106</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algn="just" rtl="1">
                        <a:lnSpc>
                          <a:spcPct val="115000"/>
                        </a:lnSpc>
                        <a:spcAft>
                          <a:spcPts val="1000"/>
                        </a:spcAft>
                      </a:pPr>
                      <a:r>
                        <a:rPr lang="ar-SA" sz="800" b="1" u="sng">
                          <a:solidFill>
                            <a:srgbClr val="0000FF"/>
                          </a:solidFill>
                          <a:latin typeface="Calibri"/>
                          <a:ea typeface="Calibri"/>
                          <a:cs typeface="B Roya" pitchFamily="2" charset="-78"/>
                          <a:hlinkClick r:id="rId107"/>
                        </a:rPr>
                        <a:t>حوزه هنریاستان ايلام</a:t>
                      </a:r>
                      <a:endParaRPr lang="en-US" sz="800" b="1">
                        <a:latin typeface="Calibri"/>
                        <a:ea typeface="Calibri"/>
                        <a:cs typeface="B Roya" pitchFamily="2" charset="-78"/>
                      </a:endParaRPr>
                    </a:p>
                  </a:txBody>
                  <a:tcPr marL="1766" marR="1766" marT="1766" marB="1766" anchor="ctr">
                    <a:lnL>
                      <a:noFill/>
                    </a:lnL>
                    <a:lnR>
                      <a:noFill/>
                    </a:lnR>
                    <a:lnT>
                      <a:noFill/>
                    </a:lnT>
                    <a:lnB>
                      <a:noFill/>
                    </a:lnB>
                  </a:tcPr>
                </a:tc>
                <a:tc>
                  <a:txBody>
                    <a:bodyPr/>
                    <a:lstStyle/>
                    <a:p>
                      <a:pPr marR="134620" algn="just" rtl="1">
                        <a:lnSpc>
                          <a:spcPct val="115000"/>
                        </a:lnSpc>
                        <a:spcAft>
                          <a:spcPts val="1000"/>
                        </a:spcAft>
                      </a:pPr>
                      <a:r>
                        <a:rPr lang="en-US" sz="800" b="1" u="sng" dirty="0">
                          <a:solidFill>
                            <a:srgbClr val="0000FF"/>
                          </a:solidFill>
                          <a:latin typeface="Calibri"/>
                          <a:ea typeface="Calibri"/>
                          <a:cs typeface="B Roya" pitchFamily="2" charset="-78"/>
                          <a:hlinkClick r:id="rId107"/>
                        </a:rPr>
                        <a:t>www.artilam.ir</a:t>
                      </a:r>
                      <a:endParaRPr lang="en-US" sz="800" b="1" dirty="0">
                        <a:latin typeface="Calibri"/>
                        <a:ea typeface="Calibri"/>
                        <a:cs typeface="B Roya" pitchFamily="2" charset="-78"/>
                      </a:endParaRPr>
                    </a:p>
                  </a:txBody>
                  <a:tcPr marL="1766" marR="1766" marT="1766" marB="1766" anchor="ctr">
                    <a:lnL>
                      <a:noFill/>
                    </a:lnL>
                    <a:lnR>
                      <a:noFill/>
                    </a:lnR>
                    <a:lnT>
                      <a:noFill/>
                    </a:lnT>
                    <a:lnB>
                      <a:noFill/>
                    </a:lnB>
                  </a:tcPr>
                </a:tc>
              </a:tr>
            </a:tbl>
          </a:graphicData>
        </a:graphic>
      </p:graphicFrame>
    </p:spTree>
  </p:cSld>
  <p:clrMapOvr>
    <a:masterClrMapping/>
  </p:clrMapOvr>
  <p:transition spd="slow">
    <p:zo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1"/>
          <p:cNvSpPr>
            <a:spLocks noChangeArrowheads="1"/>
          </p:cNvSpPr>
          <p:nvPr/>
        </p:nvSpPr>
        <p:spPr bwMode="auto">
          <a:xfrm>
            <a:off x="304800" y="914400"/>
            <a:ext cx="8448732" cy="452431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spcBef>
                <a:spcPct val="0"/>
              </a:spcBef>
              <a:spcAft>
                <a:spcPct val="0"/>
              </a:spcAft>
              <a:buClrTx/>
              <a:buSzTx/>
              <a:buFontTx/>
              <a:buNone/>
              <a:tabLst/>
            </a:pPr>
            <a:r>
              <a:rPr kumimoji="0" lang="ar-SA" b="1" i="0" u="sng" strike="noStrike" cap="none" normalizeH="0" baseline="0" dirty="0" smtClean="0">
                <a:ln>
                  <a:noFill/>
                </a:ln>
                <a:solidFill>
                  <a:schemeClr val="tx1"/>
                </a:solidFill>
                <a:effectLst/>
                <a:latin typeface="Arial" pitchFamily="34" charset="0"/>
                <a:ea typeface="Calibri" pitchFamily="34" charset="0"/>
                <a:cs typeface="B Roya" pitchFamily="2" charset="-78"/>
              </a:rPr>
              <a:t>د-2- سامانه پاسخ‌گويی به</a:t>
            </a:r>
            <a:r>
              <a:rPr kumimoji="0" lang="fa-IR" b="1" i="0" u="sng" strike="noStrike" cap="none" normalizeH="0" baseline="0" dirty="0" smtClean="0">
                <a:ln>
                  <a:noFill/>
                </a:ln>
                <a:solidFill>
                  <a:schemeClr val="tx1"/>
                </a:solidFill>
                <a:effectLst/>
                <a:latin typeface="Arial" pitchFamily="34" charset="0"/>
                <a:ea typeface="Calibri" pitchFamily="34" charset="0"/>
                <a:cs typeface="B Roya" pitchFamily="2" charset="-78"/>
              </a:rPr>
              <a:t> </a:t>
            </a:r>
            <a:r>
              <a:rPr kumimoji="0" lang="ar-SA" b="1" i="0" u="sng" strike="noStrike" cap="none" normalizeH="0" baseline="0" dirty="0" smtClean="0">
                <a:ln>
                  <a:noFill/>
                </a:ln>
                <a:solidFill>
                  <a:schemeClr val="tx1"/>
                </a:solidFill>
                <a:effectLst/>
                <a:latin typeface="Arial" pitchFamily="34" charset="0"/>
                <a:ea typeface="Calibri" pitchFamily="34" charset="0"/>
                <a:cs typeface="B Roya" pitchFamily="2" charset="-78"/>
              </a:rPr>
              <a:t>سؤالات و شبهات دينی :</a:t>
            </a:r>
            <a:endParaRPr kumimoji="0" lang="fa-IR" b="0" i="0" u="none" strike="noStrike" cap="none" normalizeH="0" baseline="0" dirty="0" smtClean="0">
              <a:ln>
                <a:noFill/>
              </a:ln>
              <a:solidFill>
                <a:schemeClr val="tx1"/>
              </a:solidFill>
              <a:effectLst/>
              <a:latin typeface="Calibri" pitchFamily="34" charset="0"/>
              <a:ea typeface="Calibri" pitchFamily="34" charset="0"/>
              <a:cs typeface="B Roya" pitchFamily="2" charset="-78"/>
            </a:endParaRPr>
          </a:p>
          <a:p>
            <a:pPr marL="0" marR="0" lvl="0" indent="0" algn="justLow" defTabSz="914400" rtl="1" eaLnBrk="0" fontAlgn="base" latinLnBrk="0" hangingPunct="0">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Calibri" pitchFamily="34" charset="0"/>
                <a:ea typeface="Calibri" pitchFamily="34" charset="0"/>
                <a:cs typeface="B Roya" pitchFamily="2" charset="-78"/>
              </a:rPr>
              <a:t>مركز مشاوره و پاسخ‌گويی به سؤالات دينی وابسته به معاونت پژوهشی و آموزشی سازمان تبليغات اسلامی در سال 1383 تأسيس شد. تلفن گويای اين مركز با شماره تلفن 09650 كه هم‌زمان 60 خط ديجيتال </a:t>
            </a:r>
            <a:r>
              <a:rPr kumimoji="0" lang="en-US" b="0" i="0" u="none" strike="noStrike" cap="none" normalizeH="0" baseline="0" dirty="0" err="1" smtClean="0">
                <a:ln>
                  <a:noFill/>
                </a:ln>
                <a:solidFill>
                  <a:schemeClr val="tx1"/>
                </a:solidFill>
                <a:effectLst/>
                <a:latin typeface="Arial" pitchFamily="34" charset="0"/>
                <a:ea typeface="Calibri" pitchFamily="34" charset="0"/>
                <a:cs typeface="B Roya" pitchFamily="2" charset="-78"/>
              </a:rPr>
              <a:t>pri</a:t>
            </a:r>
            <a:r>
              <a:rPr kumimoji="0" lang="fa-IR" b="0" i="0" u="none" strike="noStrike" cap="none" normalizeH="0" baseline="0" dirty="0" smtClean="0">
                <a:ln>
                  <a:noFill/>
                </a:ln>
                <a:solidFill>
                  <a:schemeClr val="tx1"/>
                </a:solidFill>
                <a:effectLst/>
                <a:latin typeface="Calibri" pitchFamily="34" charset="0"/>
                <a:ea typeface="Calibri" pitchFamily="34" charset="0"/>
                <a:cs typeface="B Roya" pitchFamily="2" charset="-78"/>
              </a:rPr>
              <a:t> را پشتيبانی می‌كند با بهره بردن از بيش از 200 كارشناس در حوزه‌های مشاوره، احكام و اعتقادات و معارف اسلامی، توان پاسخ‌گويی به 2000 سؤال را در روز دارد. معاونت پژوهشی و آموزشی سازمان در سال 1383 درصدد راه‌اندازی سامانه تلفنی برای پاسخ‌گويی به سؤالات و شبهات دينی برآمد و طرحی را در 3 مرحله اجرا كرد. مرحله نخست اين طرح بين سال‌های 83 تا 85 به صورت آزمايشی با شماره تلفن 4ـ8891212 در سطح استان تهران به اجرا درآمد. كادر اجرايی سامانه چند نفر كارشناس بودند كه سؤال‌های مربوط به احكام را پاسخ می‌دادند. سپس با توجه به گسترش خدمات مخابرات در كشور، اجرای اين طرح در سطح كشوری برنامه‌ريزی شد. مرحله دوم طرح نيز در گستره كشوری آغاز و در سال 1386 به بهره‌برداری رسيد. شماره 09650 كه هم‌زمان 60 خط ديجيتال </a:t>
            </a:r>
            <a:r>
              <a:rPr kumimoji="0" lang="en-US" b="0" i="0" u="none" strike="noStrike" cap="none" normalizeH="0" baseline="0" dirty="0" err="1" smtClean="0">
                <a:ln>
                  <a:noFill/>
                </a:ln>
                <a:solidFill>
                  <a:schemeClr val="tx1"/>
                </a:solidFill>
                <a:effectLst/>
                <a:latin typeface="Arial" pitchFamily="34" charset="0"/>
                <a:ea typeface="Calibri" pitchFamily="34" charset="0"/>
                <a:cs typeface="B Roya" pitchFamily="2" charset="-78"/>
              </a:rPr>
              <a:t>pri</a:t>
            </a:r>
            <a:r>
              <a:rPr kumimoji="0" lang="fa-IR" b="0" i="0" u="none" strike="noStrike" cap="none" normalizeH="0" baseline="0" dirty="0" smtClean="0">
                <a:ln>
                  <a:noFill/>
                </a:ln>
                <a:solidFill>
                  <a:schemeClr val="tx1"/>
                </a:solidFill>
                <a:effectLst/>
                <a:latin typeface="Calibri" pitchFamily="34" charset="0"/>
                <a:ea typeface="Calibri" pitchFamily="34" charset="0"/>
                <a:cs typeface="B Roya" pitchFamily="2" charset="-78"/>
              </a:rPr>
              <a:t> را پشتيبانی می‌كند و قابليت افزايش به 120 خط را دارد پل ارتباطی اين سامانه با مردم ايران زمين است. مخاطبان در هر كجای ايران كه باشند می‌توانند سؤالات دينی خود را به صورت شبانه‌روزی مطرح كنند و اين مركز، تعهد دارد، ظرف مدت 48 ساعت پاسخ سؤالات را بدهد. نحوه پاسخ گفتن به سؤالات به اين شكل است: «پرسشگر سؤال خود را می‌پرسد»؛ «سيستم تلفن گويا سؤال را ضبط، كد پيگيری صادر و به پرسشگر می‌دهد»؛ «كارشناس مربوط با سامانه تماس می‌گيرد و سؤال را پاسخ می‌دهد»؛ «پرسشگر، كد پيگيری را وارد کرده سؤال را می‌پرسد و پاسخ سئوال خود را می‌شنود». </a:t>
            </a:r>
            <a:endParaRPr kumimoji="0" lang="fa-IR" b="0" i="0" u="none" strike="noStrike" cap="none" normalizeH="0" baseline="0" dirty="0" smtClean="0">
              <a:ln>
                <a:noFill/>
              </a:ln>
              <a:solidFill>
                <a:schemeClr val="tx1"/>
              </a:solidFill>
              <a:effectLst/>
              <a:latin typeface="Arial" pitchFamily="34" charset="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1"/>
          <p:cNvSpPr>
            <a:spLocks noChangeArrowheads="1"/>
          </p:cNvSpPr>
          <p:nvPr/>
        </p:nvSpPr>
        <p:spPr bwMode="auto">
          <a:xfrm>
            <a:off x="428596" y="714356"/>
            <a:ext cx="8358246" cy="575542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pPr>
            <a:r>
              <a:rPr kumimoji="0" lang="fa-IR" sz="16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پيشرفت كنونی بشر در علم و فن‌آوری مرهون سؤالاتی است كه در ذهن بشر بوده و در پی پاسخ‌گويی به آن‌ها به دانش‌اندوزی، روی آورده است. بنابراين پيشرفت‌های امروزی در واقع جواب سؤالات ديروز است. </a:t>
            </a:r>
            <a:endParaRPr kumimoji="0" lang="fa-IR" sz="1600" b="0" i="0" u="none" strike="noStrike" cap="none" normalizeH="0" baseline="0" dirty="0" smtClean="0">
              <a:ln>
                <a:noFill/>
              </a:ln>
              <a:solidFill>
                <a:schemeClr val="tx1"/>
              </a:solidFill>
              <a:effectLst/>
              <a:latin typeface="Calibri" pitchFamily="34" charset="0"/>
              <a:ea typeface="Calibri"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sz="1600" b="0" i="0" u="none" strike="noStrike" cap="none" normalizeH="0" baseline="0" dirty="0" smtClean="0">
                <a:ln>
                  <a:noFill/>
                </a:ln>
                <a:solidFill>
                  <a:schemeClr val="tx1"/>
                </a:solidFill>
                <a:effectLst/>
                <a:latin typeface="Calibri" pitchFamily="34" charset="0"/>
                <a:ea typeface="Calibri" pitchFamily="34" charset="0"/>
                <a:cs typeface="B Roya" pitchFamily="2" charset="-78"/>
              </a:rPr>
              <a:t>همان‌گونه كه در حوزه صنعت و تكنولوژی، سؤالات موجب پيشرفت است، در علوم انسانی نيز سؤالات موجب پيشرفت و تعالی انسان می‌شود با اين تفاوت كه اگر كسی در صنعت و تكنولوژی پاسخی نيافت، عدم دستيابی او به سؤال موجب عقب‌نشينی او نمی‌شود بلكه او را در به دست آوردن پاسخ تشويق كرده و فعاليتش را می‌ا‌فزايد. در حالی كه وضع در حوزه علوم انسانی متفاوت است؛ به اين معنا كه اگر شخص نتواند سؤال خود را به دست آورد ممكن است او را تا سرحد نابودی و ارتداد پيش برد. علاوه بر آن كه در علوم انسانی و مخصوصاً در مسائل دينی هر كس به خود اجازه اظهار نظر می‌دهد و وضع، هنگامی بحرانی می‌شود كه عده‌ای مغرض با اغراض سياسی و مادی، قدم در اين عرصه گذاشته و شروع به مغلطه و القای شبهه در محيط‌های غيرعلمی می‌كنند. اين امر به‌ويژه در عصر حاضر كه وسايل ارتباطی و اطلاع‌رسانی، گسترده و سهل‌الوصول شده ولی اطلاعات دينی و مذهبی غالب مردم در حد متوسط و پايين‌تر است، مشكل را مضاعف كرده است. همچنين از صدر اسلام تاكنون گاه به سبب تعاليم دينی در مدارس علميه و بحث و مناظره در آن‌ها و گاه به سبب لجاجت و دشمنی مخالفان، سؤالات و شبهات بی‌شماری در زمينه‌های مختلف از قيامت و معاد گرفته تا علت بعضی از احكام اسلامی در ذهن مسلمانان به وجود آمده است‌. يكی از بزرگ‌ترين دغدغه‌های بزرگان دين و علما نيز پاسخ‌دهی مناسب به اين سؤالات بوده است. البته حجم سؤالات و شبهات اعتقادی در سال‌های اخير به دلايل متعدد، با گذشته به هيچ وجه قابل مقايسه نيست. در اين خصوص گروه‌های مختلفی برای پاسخ‌گويی علمی به اين شبهات تشكيل شده‌اند اما غالب اين آثار كه به صورت مكتوب و علمی منتشر شده، دارای مخاطبان خاص است و بيش‌تر افراد عادی كه به علت مشغله روزانه، كمتر فرصت مطالعه دارند از آن‌ها بی‌بهره‌اند. به همين دليل تشكيل سامانه تلفنی كه در آن مسائل و مشكلات از نوشتار به گفتار تبديل شود و زبان خشك علمی آن به مقتضای فهم مخاطب در آيد، امری ضروری به نظر می‌رسيد. جامع و كشوری بودن طرح، البته با مركزيت تهران؛ شماره تلفنی پنج‌رقمی و يكسان برای سراسر كشور بدون نياز به كد؛ بدون نياز به پرداخت هزينۀ تلفنی بين شهری برای مخاطب؛ استفاده از تلفن گويا كه مزايای خاص خود را دارد از جمله اين كه در اين سيستم، محدوديت‌های زمانی و مكانی وجود ندارد؛ شرم و حيا مانع طرح سؤالات نيست؛ احتمال ابهام يا اشتباه در پاسخ كاهش می‌يابد؛ نياز به حضور فيزيكی كارشناس و ... و صرف وقت و انرژی زايد نيست؛ دسترسی آسان به كارشناسان سراسر كشور وجود دارد؛ مخاطب از جهت عواقب احتمالی طرح سؤال، احساس امنيت می‌كند؛ و امكان تكرار، ضبط و نوشتن پاسخ توسط مخاطب وجود دارد از ويژگی‌های اين سامانه است. </a:t>
            </a:r>
            <a:endParaRPr kumimoji="0" lang="fa-IR" sz="1600" b="0" i="0" u="none" strike="noStrike" cap="none" normalizeH="0" baseline="0" dirty="0" smtClean="0">
              <a:ln>
                <a:noFill/>
              </a:ln>
              <a:solidFill>
                <a:schemeClr val="tx1"/>
              </a:solidFill>
              <a:effectLst/>
              <a:latin typeface="Arial" pitchFamily="34" charset="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1"/>
          <p:cNvSpPr>
            <a:spLocks noChangeArrowheads="1"/>
          </p:cNvSpPr>
          <p:nvPr/>
        </p:nvSpPr>
        <p:spPr bwMode="auto">
          <a:xfrm>
            <a:off x="571472" y="1071546"/>
            <a:ext cx="8143900" cy="452431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tab pos="457200"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همچنين، تنها مركز جامع پاسخ گويی است كه به صورت تلفن گويا، طراحی شده است؛ فراگير بودن مخاطبان (سنين مختلف و همۀ سطوح فهم و علم ) مورد نظر است، مضبوط شدن سؤال و جواب‌ها و تشكيل بانك صوتی پرسش و پاسخ، امكان‌پذير است، به تحرير درآمدن آرشيو صوتی و تهيه كتب و جزواتی از آن و راه‌اندازی سايتی به همين نام، قابل حصول است؛ امكان نمودار‌سازی، تجزيه و تحليل‌های آماری و بررسی مشكلات عموم مردم و مردم مناطق خاص؛ اطلاعات علمی و بعضا تخصصی به اطلاعات شنيداری و قابل فهم برای عموم، تبديل می‌شود نيز از ديگر ويژگی‌های اين سامانه است. نتايج فعاليت‌های سامانه پاسخ‌گويی به شبهات دينی در بخش‌های زير، قابل بررسی است: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tab pos="457200"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خدمت به مردم: نتيجه مستقيم فعاليت سامانه، پاسخ‌گويی به سؤالات، شبهات و مشكلات مردم است.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tab pos="457200"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اطلاع‌رسانی به مسئولان: از سؤالات مختلف مردم، بانكی تشكيل می‌شود كه از اطلاعات آن می‌توان نقاط ضعف دينی جامعه را بررسی كرد.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Char char="•"/>
              <a:tabLst>
                <a:tab pos="457200"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استانداردسازی پاسخ‌‌ها: با اين كار می‌توان از پراكنده‌گويی و تفاوت و تعارض در پاسخ‌ها كاست. </a:t>
            </a:r>
            <a:endParaRPr kumimoji="0" lang="fa-IR" b="0" i="0" u="none" strike="noStrike" cap="none" normalizeH="0" baseline="0" dirty="0" smtClean="0">
              <a:ln>
                <a:noFill/>
              </a:ln>
              <a:solidFill>
                <a:schemeClr val="tx1"/>
              </a:solidFill>
              <a:effectLst/>
              <a:latin typeface="Calibri" pitchFamily="34" charset="0"/>
              <a:ea typeface="Calibri"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457200" algn="l"/>
              </a:tabLst>
            </a:pPr>
            <a:r>
              <a:rPr kumimoji="0" lang="fa-IR" b="0" i="0" u="none" strike="noStrike" cap="none" normalizeH="0" baseline="0" dirty="0" smtClean="0">
                <a:ln>
                  <a:noFill/>
                </a:ln>
                <a:solidFill>
                  <a:schemeClr val="tx1"/>
                </a:solidFill>
                <a:effectLst/>
                <a:latin typeface="Calibri" pitchFamily="34" charset="0"/>
                <a:ea typeface="Calibri" pitchFamily="34" charset="0"/>
                <a:cs typeface="B Roya" pitchFamily="2" charset="-78"/>
              </a:rPr>
              <a:t>هم‌اكنون اين سامانه با 30 خط تلفن روزانه به 2000 سؤال پاسخ می‌دهد و توانايی افزايش ظرفيت به 150 خط تلفن و پاسخ‌گويی به 10000 سؤال در روز را در كوتاه‌ترين زمان ممكن دارد. اما همين ميزان افزايش خطوط نيز به هيچ وجه پاسخ‌گوی درخواست‌های مردمی نيست. طبق آمار مخابرات، اين سامانه در هر روز با ميانگين 110 هزار تماس رو بهرو است كه تنها هشت درصد از اين تعداد توانسته‌اند به سامانه، وارد شوند و ساير افراد با اشغال خطوط مواجه شده‌اند و اين در حالی است كه تاكنون هيچ تبليغی هم برای سامانه، صورت نگرفته است. </a:t>
            </a:r>
            <a:endParaRPr kumimoji="0" lang="fa-IR" b="0" i="0" u="none" strike="noStrike" cap="none" normalizeH="0" baseline="0" dirty="0" smtClean="0">
              <a:ln>
                <a:noFill/>
              </a:ln>
              <a:solidFill>
                <a:schemeClr val="tx1"/>
              </a:solidFill>
              <a:effectLst/>
              <a:latin typeface="Arial" pitchFamily="34" charset="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1"/>
          <p:cNvSpPr>
            <a:spLocks noChangeArrowheads="1"/>
          </p:cNvSpPr>
          <p:nvPr/>
        </p:nvSpPr>
        <p:spPr bwMode="auto">
          <a:xfrm>
            <a:off x="428596" y="928670"/>
            <a:ext cx="8215370" cy="341632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همان‌طور كه گفته شد، سامانه تلفن گويا 09650 در سراسر كشور قابل شماره‌گيری است، از اين قرار كه شماره‌های **096 كشوری بوده و به صورت محدود از سوی مخابرات به نهادهايی كه خدمات گستردۀ كشوری داشته باشند بعد از برگزاری جلسات كارشناسی و اثبات كشوری‌بودن خدمات به نهادهای مربوط، اختصاص می‌يابد. بدين ترتيب مردم می‌توانند با شمارۀ مذكور از سراسر كشور با سامانۀ تلفن گويا تماس بگيرند؛ به همين دليل بعد از راه‌اندازی اين طرح، مردم از سراسر كشور با اين سامانه تماس گرفته، سؤالات خود را مطرح كرده‌اند. اين امر از آمار سؤالات به تفكيك استان‌ها به خوبی، معلوم است.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همچنين به دليل اين كه كارشناسان مركز توسط تلفن به پاسخ‌گويی می‌پردازند امكان استفاده از همه فضلا و روحانيون در سراسر كشور وجود دارد و به اين وسيله فرصتی به دست آمده است كه نخبگان علمی كشور با يكديگر در ارتباط باشند. به عبارت ديگر به دليل اين كه محدوديت مكان و زمان برای پاسخ به سؤالات از ميان برداشته شده است، اين مركز از كارشناسان و فرهيختگان كل كشور به نحو احسن استفاده كرده و با ايجاد واحد آموزش، تجربيات ايشان را به صورت كاربردی در اختيار ساير افراد قرار می‌دهد و به اين وسيله بين ايشان، ارتباط علمی ايجاد كرده است. </a:t>
            </a:r>
            <a:endParaRPr kumimoji="0" lang="fa-IR" b="0" i="0" u="none" strike="noStrike" cap="none" normalizeH="0" baseline="0" dirty="0" smtClean="0">
              <a:ln>
                <a:noFill/>
              </a:ln>
              <a:solidFill>
                <a:schemeClr val="tx1"/>
              </a:solidFill>
              <a:effectLst/>
              <a:latin typeface="Arial" pitchFamily="34" charset="0"/>
              <a:cs typeface="B Roya" pitchFamily="2" charset="-78"/>
            </a:endParaRPr>
          </a:p>
        </p:txBody>
      </p:sp>
      <p:sp>
        <p:nvSpPr>
          <p:cNvPr id="66562" name="Rectangle 2"/>
          <p:cNvSpPr>
            <a:spLocks noChangeArrowheads="1"/>
          </p:cNvSpPr>
          <p:nvPr/>
        </p:nvSpPr>
        <p:spPr bwMode="auto">
          <a:xfrm>
            <a:off x="428596" y="4429132"/>
            <a:ext cx="8072462" cy="203132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pPr>
            <a:r>
              <a:rPr kumimoji="0" lang="ar-SA" b="1" i="0" u="sng" strike="noStrike" cap="none" normalizeH="0" baseline="0" dirty="0" smtClean="0">
                <a:ln>
                  <a:noFill/>
                </a:ln>
                <a:solidFill>
                  <a:schemeClr val="tx1"/>
                </a:solidFill>
                <a:effectLst/>
                <a:latin typeface="Arial" pitchFamily="34" charset="0"/>
                <a:ea typeface="Calibri" pitchFamily="34" charset="0"/>
                <a:cs typeface="B Roya" pitchFamily="2" charset="-78"/>
              </a:rPr>
              <a:t>د-3- كتابخانه ديجيتال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ظهور فناوری‌های نوین ارتباطی و اطلاعاتی كه سبب بروز وظهور جامعه اطلاعاتی گردیده تقریبا تمامی ابعاد زندگی ما را تحت‌الشعاعقرار داده است. در این میان برخی از این فناوری ها در حال شكل‌گیری‌اند كهدر آینده‌ای نه چندان دور به كلی الگوی زندگی انسان را در بخش‌هایی خاصدچار تحول كرده و شكلی جدید به آن خواهند بخشید. یكی از این محصولات فناوری‌های نوین برپایه دیجیتال “ كتابخانه دیجیتال” است كه سازمان تبليغات اسلامي در حوزه خدمت رساني و فناوري اطلاعات به آن پرداخته است. در ادامه به توضيح برخي از خصوصيات كلي كتابخانه ديجيتالي پرداخته‌ايم :</a:t>
            </a:r>
            <a:endParaRPr kumimoji="0" lang="ar-SA" b="0" i="0" u="none" strike="noStrike" cap="none" normalizeH="0" baseline="0" dirty="0" smtClean="0">
              <a:ln>
                <a:noFill/>
              </a:ln>
              <a:solidFill>
                <a:schemeClr val="tx1"/>
              </a:solidFill>
              <a:effectLst/>
              <a:latin typeface="Arial" pitchFamily="34" charset="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1"/>
          <p:cNvSpPr>
            <a:spLocks noChangeArrowheads="1"/>
          </p:cNvSpPr>
          <p:nvPr/>
        </p:nvSpPr>
        <p:spPr bwMode="auto">
          <a:xfrm>
            <a:off x="500034" y="1000108"/>
            <a:ext cx="8072462" cy="452431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كتابخانه‌های دیجیتالی محل‌هایی هستند كه در آن كاركنان متخصص به انتخاب،سازماندهی و كمك به دسترسی فكری به منابع اطلاعاتی می‌پردازند و در آنفرآیند تفسیر، توزیع، حفاظت از یكپارچگی اطلاعات دیجیتالی و نیز اطمینان ازوجود مجموعه‌ای از آثار دیجیتالی در مدت زمان طولانی مورد توجه قرار می‌گیرد تا از این طریق بتوان منابع دیجیتالی را با سرعت و به‌صورت اقتصادی برایاستفاده یك جامعه یا مجموعه‌ای از جوامع در دسترس قرار داد</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در اداره كتابخانه دیجیتال، نیروی متخصص، متخصصان اطلاعاتی هستند كه درزمینه سازماندهی اطلاعات دیجیتالی، حفاظت و نگهداری مجموعه‌ها، همكاری بادیگر متخصصان، مدیریت منابع اطلاعاتی، پردازش اطلاعات، طراحی رابطه‌هایكاربر كتابخانه‌ای، ایجاد امكان دستیابی به اطلاعات، تسهیل مبادله اطلاعات،راهنمایی مراجعان و ارتقاء محیط‌های یادگیری پیوسته و امور دیگر به فعالیتمی‌پردازند</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b="1" i="0" u="none" strike="noStrike" cap="none" normalizeH="0" baseline="0" dirty="0" smtClean="0">
                <a:ln>
                  <a:noFill/>
                </a:ln>
                <a:solidFill>
                  <a:schemeClr val="tx1"/>
                </a:solidFill>
                <a:effectLst/>
                <a:latin typeface="Arial" pitchFamily="34" charset="0"/>
                <a:ea typeface="Calibri" pitchFamily="34" charset="0"/>
                <a:cs typeface="B Roya" pitchFamily="2" charset="-78"/>
              </a:rPr>
              <a:t>اهداف كتابخانه دیجیتالی</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گردآوری، ذخیره و سازماندهی اطلاعات و دانش به شكل دیجیتالی</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كمك به انتقال مقرون به صرفه و كارآمد اطلاعات (صرفه جویی در هزینه وزمان استفاده كنندگان</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تاثیر قابل توجه در سرمایه گذاری روی ساختار رایانه ای و ارتباطی</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ارتباطات قدرتمند و همكاری ما بین جوامع پژوهشی، بازرگانی، حكومتی وآموزشی</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استفاده از فرصت های آموزشی مادام العمر</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دسترس پذیر ساختن منابع كمیاب و نایاب</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حفاظت از منابع آسیب پذیر</a:t>
            </a:r>
            <a:endParaRPr kumimoji="0" lang="ar-SA" b="0" i="0" u="none" strike="noStrike" cap="none" normalizeH="0" baseline="0" dirty="0" smtClean="0">
              <a:ln>
                <a:noFill/>
              </a:ln>
              <a:solidFill>
                <a:schemeClr val="tx1"/>
              </a:solidFill>
              <a:effectLst/>
              <a:latin typeface="Arial" pitchFamily="34" charset="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1"/>
          <p:cNvSpPr>
            <a:spLocks noChangeArrowheads="1"/>
          </p:cNvSpPr>
          <p:nvPr/>
        </p:nvSpPr>
        <p:spPr bwMode="auto">
          <a:xfrm>
            <a:off x="381000" y="533400"/>
            <a:ext cx="8358214" cy="452431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pPr>
            <a:r>
              <a:rPr kumimoji="0" lang="ar-SA" b="1" i="0" u="none" strike="noStrike" cap="none" normalizeH="0" baseline="0" dirty="0" smtClean="0">
                <a:ln>
                  <a:noFill/>
                </a:ln>
                <a:solidFill>
                  <a:schemeClr val="tx1"/>
                </a:solidFill>
                <a:effectLst/>
                <a:latin typeface="Arial" pitchFamily="34" charset="0"/>
                <a:ea typeface="Calibri" pitchFamily="34" charset="0"/>
                <a:cs typeface="B Mitra" pitchFamily="2" charset="-78"/>
              </a:rPr>
              <a:t>ویژگی‌های كتابخانه دیجیتالی</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دسترسی از راه دور به منابع آن به سادگی امكان پذیر است</a:t>
            </a: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از امكانات بسیار قوی و وسیع جستجو و مرور بهره می گیرد</a:t>
            </a: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اساس و پایه ای برای خدمات دارای ارزش افزوده محسوب می شود</a:t>
            </a: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منابع دیجیتالی خارج از حوزه مدیریتی و محیط خود را نیز در بر می گیرد</a:t>
            </a: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تمام فرایند و خدماتی كه اساس و پایه هر كتابخانه ای است را شامل می شود</a:t>
            </a: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نگرشی به كل منابع كتابخانه دارند و شكل و قالب آن اطلاعات را در نظر میگیرد</a:t>
            </a: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به جوامع یا حوزه‌های خاصی از استفاده‌كنندگان خدمت می‌كنند. با اینتفاوت كه این جوامع ممكن است در شبكه اینترنت پراكنده باشند</a:t>
            </a: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برای ادامه حیات خود نیاز به همكاری كتابداران و مهندسان علوم رایانهدارند</a:t>
            </a: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به ساختار یك سازمان خاص وابسته هستند</a:t>
            </a: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فراهم آوردن امكانات متعدد دسترسی سریع و كارآمد به اطلاعات</a:t>
            </a: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در اختیار داشتن مالكیت و كنترل منابع (برخی از آنها ممكن است خریداریشوند</a:t>
            </a: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منابعی را در بر می گیرد كه ممكن است از هیچ راه دیگری امكان دسترسی بهآنها وجود نداشته باشد</a:t>
            </a: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endParaRPr kumimoji="0" lang="en-US" b="0" i="0" u="none" strike="noStrike" cap="none" normalizeH="0" baseline="0" dirty="0" smtClean="0">
              <a:ln>
                <a:noFill/>
              </a:ln>
              <a:solidFill>
                <a:schemeClr val="tx1"/>
              </a:solidFill>
              <a:effectLst/>
              <a:latin typeface="Arial" pitchFamily="34" charset="0"/>
              <a:cs typeface="Arial" pitchFamily="34" charset="0"/>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Mitra" pitchFamily="2" charset="-78"/>
              </a:rPr>
              <a:t>طیف كاملی از عملگرهای جستجو، امكان مرور واژه های جستجو، غنی سازیركوردها با كنترل واژگان، امكان اصلاح جستجوهای اولیه را فراهم می كند</a:t>
            </a:r>
            <a:r>
              <a:rPr kumimoji="0" lang="fa-IR" b="0" i="0" u="none" strike="noStrike" cap="none" normalizeH="0" baseline="0" dirty="0" smtClean="0">
                <a:ln>
                  <a:noFill/>
                </a:ln>
                <a:solidFill>
                  <a:schemeClr val="tx1"/>
                </a:solidFill>
                <a:effectLst/>
                <a:latin typeface="Arial" pitchFamily="34" charset="0"/>
                <a:ea typeface="Calibri" pitchFamily="34" charset="0"/>
                <a:cs typeface="B Mitra" pitchFamily="2" charset="-78"/>
              </a:rPr>
              <a:t>.</a:t>
            </a:r>
            <a:endParaRPr kumimoji="0" lang="fa-IR" b="0" i="0" u="none" strike="noStrike" cap="none" normalizeH="0" baseline="0" dirty="0" smtClean="0">
              <a:ln>
                <a:noFill/>
              </a:ln>
              <a:solidFill>
                <a:schemeClr val="tx1"/>
              </a:solidFill>
              <a:effectLst/>
              <a:latin typeface="Arial" pitchFamily="34" charset="0"/>
              <a:cs typeface="Arial" pitchFamily="34" charset="0"/>
            </a:endParaRPr>
          </a:p>
        </p:txBody>
      </p:sp>
      <p:sp>
        <p:nvSpPr>
          <p:cNvPr id="68610" name="Rectangle 2"/>
          <p:cNvSpPr>
            <a:spLocks noChangeArrowheads="1"/>
          </p:cNvSpPr>
          <p:nvPr/>
        </p:nvSpPr>
        <p:spPr bwMode="auto">
          <a:xfrm>
            <a:off x="304800" y="4953000"/>
            <a:ext cx="8572560" cy="1200329"/>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pPr>
            <a:r>
              <a:rPr kumimoji="0" lang="ar-SA" b="1" i="0" u="sng" strike="noStrike" cap="none" normalizeH="0" baseline="0" dirty="0" smtClean="0">
                <a:ln>
                  <a:noFill/>
                </a:ln>
                <a:solidFill>
                  <a:schemeClr val="tx1"/>
                </a:solidFill>
                <a:effectLst/>
                <a:latin typeface="Arial" pitchFamily="34" charset="0"/>
                <a:ea typeface="Calibri" pitchFamily="34" charset="0"/>
                <a:cs typeface="B Roya" pitchFamily="2" charset="-78"/>
              </a:rPr>
              <a:t>د-4- گيشه اطلاع‌رساني ( در راستاي طرح تكريم ارباب رجوع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باتوجه به طرح تكريم ارباب رجوع سازمان تبيلغات اسلامي در سال 1388 اقدام به تهيه گيشه اطلاع‌رساني كرده و آن‌را به سيستم اتوماسيون اداري متصل نموده است. ارباب رجوع‌ها مي‌توانند با وارد كردن شماره نامه خود از گردش كامل مراحل نامه خود مطلع شوند و در صورت نياز نسبت به انجام مراحل لازم در راستاي رفع مشكلات اقدام نمايند.</a:t>
            </a:r>
            <a:endParaRPr kumimoji="0" lang="ar-SA" b="0" i="0" u="none" strike="noStrike" cap="none" normalizeH="0" baseline="0" dirty="0" smtClean="0">
              <a:ln>
                <a:noFill/>
              </a:ln>
              <a:solidFill>
                <a:schemeClr val="tx1"/>
              </a:solidFill>
              <a:effectLst/>
              <a:latin typeface="Arial" pitchFamily="34" charset="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1"/>
          <p:cNvSpPr>
            <a:spLocks noChangeArrowheads="1"/>
          </p:cNvSpPr>
          <p:nvPr/>
        </p:nvSpPr>
        <p:spPr bwMode="auto">
          <a:xfrm>
            <a:off x="500034" y="785794"/>
            <a:ext cx="8215370" cy="53553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tab pos="328613" algn="l"/>
              </a:tabLst>
            </a:pPr>
            <a:r>
              <a:rPr kumimoji="0" lang="ar-SA" b="1" i="0" u="none" strike="noStrike" cap="none" normalizeH="0" baseline="0" dirty="0" smtClean="0">
                <a:ln>
                  <a:noFill/>
                </a:ln>
                <a:solidFill>
                  <a:schemeClr val="tx1"/>
                </a:solidFill>
                <a:effectLst/>
                <a:latin typeface="Arial" pitchFamily="34" charset="0"/>
                <a:ea typeface="Calibri" pitchFamily="34" charset="0"/>
                <a:cs typeface="B Roya" pitchFamily="2" charset="-78"/>
              </a:rPr>
              <a:t>ه- حوزه امنيت اطلاعات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اين حوزه ، يكي از مهم‌ترين حوزه‌هاي عملكردي بخش فناوري اطلاعات در سازمان بوده كه شامل قسمت‌هاي مختلف با كاركردهاي متنوع است. در ادامه مهم‌ترين سرفصل‌هاي اقدامات انجام شده و دستورالعمل‌هاي لازم ، ذكر شده است.</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1" i="0" u="sng" strike="noStrike" cap="none" normalizeH="0" baseline="0" dirty="0" smtClean="0">
                <a:ln>
                  <a:noFill/>
                </a:ln>
                <a:solidFill>
                  <a:schemeClr val="tx1"/>
                </a:solidFill>
                <a:effectLst/>
                <a:latin typeface="Arial" pitchFamily="34" charset="0"/>
                <a:ea typeface="Calibri" pitchFamily="34" charset="0"/>
                <a:cs typeface="B Roya" pitchFamily="2" charset="-78"/>
              </a:rPr>
              <a:t>ه-1- امنيت فيزيكي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5-1-1 : كنترل دسترسي به سرورها و تجهيزات شبكه ( مانند سوئيچ ، روتر و ...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5-1-2 : پلمپ كليه كيس‌ها</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5-1-3 : </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عدم استقرار سیستم‌هاي مرتبط با شبكه داخلي در محل‌های بسیار عمومی</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5-1-4 : جلوگيري از اتصال لپ تاپ هايي كه كنترل‌هاي امنيتي بر روي آنها اعمال نشده  به شبكه سازمان</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5-1-5 : </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جدا كردن شبكه داخلي از شبكه اينترنت.</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1" i="0" u="sng" strike="noStrike" cap="none" normalizeH="0" baseline="0" dirty="0" smtClean="0">
                <a:ln>
                  <a:noFill/>
                </a:ln>
                <a:solidFill>
                  <a:schemeClr val="tx1"/>
                </a:solidFill>
                <a:effectLst/>
                <a:latin typeface="Arial" pitchFamily="34" charset="0"/>
                <a:ea typeface="Calibri" pitchFamily="34" charset="0"/>
                <a:cs typeface="B Roya" pitchFamily="2" charset="-78"/>
              </a:rPr>
              <a:t>ه-2- رمزهاي عبور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رمزهاي عبور يكي از متداول‌ترين روش‌هاي موجود در خصوص تأیيد كاربر مي‌باشد. تعداد زيادي از سيستم ها و سرويس‌ها صرفاً بدليل عدم ايمن بودن رمزهاي عبور با مشكل مواجه شده و برخي از ويروس‌ها و كرم‌ها با حدس و تشخيص رمزهاي عبور ضعيف، توانسته اند به اهداف مخرب خود دست يابند.</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5-2-1 : تعيين رمز عبور براي كليه سرورها ، رايانه‌ها و تجهيزات شبكه (تجهيزاتي كه قابل رمز گذاري هستند)</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5-2-2 : استفاده از رمزهاي قوي و تركيبي كه به راحتي قابل حدس زدن نباشند.</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5-2-3 : نگهداري رمزهاي عبور در جايي مطمئن ، بطوري‌كه فقط قابل دسترسي براي افراد مجاز باشند.</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5-2-4 : جلوگيري از فاش شدن رمز عبور در نزد ديگران.</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5-2-5 : تغيير دوره ايي رمزهاي عبور.</a:t>
            </a:r>
            <a:endParaRPr kumimoji="0" lang="fa-IR" b="0" i="0" u="none" strike="noStrike" cap="none" normalizeH="0" baseline="0" dirty="0" smtClean="0">
              <a:ln>
                <a:noFill/>
              </a:ln>
              <a:solidFill>
                <a:schemeClr val="tx1"/>
              </a:solidFill>
              <a:effectLst/>
              <a:latin typeface="Arial" pitchFamily="34" charset="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1"/>
          <p:cNvSpPr>
            <a:spLocks noChangeArrowheads="1"/>
          </p:cNvSpPr>
          <p:nvPr/>
        </p:nvSpPr>
        <p:spPr bwMode="auto">
          <a:xfrm>
            <a:off x="428596" y="785794"/>
            <a:ext cx="8286808" cy="4801314"/>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tab pos="328613" algn="l"/>
              </a:tabLst>
            </a:pPr>
            <a:r>
              <a:rPr kumimoji="0" lang="fa-IR" b="1" i="0" u="sng" strike="noStrike" cap="none" normalizeH="0" baseline="0" dirty="0" smtClean="0">
                <a:ln>
                  <a:noFill/>
                </a:ln>
                <a:solidFill>
                  <a:schemeClr val="tx1"/>
                </a:solidFill>
                <a:effectLst/>
                <a:latin typeface="Arial" pitchFamily="34" charset="0"/>
                <a:ea typeface="Calibri" pitchFamily="34" charset="0"/>
                <a:cs typeface="B Roya" pitchFamily="2" charset="-78"/>
              </a:rPr>
              <a:t>ه-3- تهيه نسخه پشتيبان ( </a:t>
            </a:r>
            <a:r>
              <a:rPr kumimoji="0" lang="en-US" b="1" i="0" u="sng" strike="noStrike" cap="none" normalizeH="0" baseline="0" dirty="0" smtClean="0">
                <a:ln>
                  <a:noFill/>
                </a:ln>
                <a:solidFill>
                  <a:schemeClr val="tx1"/>
                </a:solidFill>
                <a:effectLst/>
                <a:latin typeface="Arial" pitchFamily="34" charset="0"/>
                <a:ea typeface="Calibri" pitchFamily="34" charset="0"/>
                <a:cs typeface="B Roya" pitchFamily="2" charset="-78"/>
              </a:rPr>
              <a:t>Backup</a:t>
            </a:r>
            <a:r>
              <a:rPr kumimoji="0" lang="fa-IR" b="1" i="0" u="sng" strike="noStrike" cap="none" normalizeH="0" baseline="0" dirty="0" smtClean="0">
                <a:ln>
                  <a:noFill/>
                </a:ln>
                <a:solidFill>
                  <a:schemeClr val="tx1"/>
                </a:solidFill>
                <a:effectLst/>
                <a:latin typeface="Arial" pitchFamily="34" charset="0"/>
                <a:ea typeface="Calibri" pitchFamily="34" charset="0"/>
                <a:cs typeface="B Roya" pitchFamily="2" charset="-78"/>
              </a:rPr>
              <a:t> ) :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با توجه به اينكه اطلاعات در يك سيستم نقش حياتي دارد ، لذا از دست رفتن اطلاعات به‌دلايل مختلف مانند : اشكالات سخت افزاري ، ويروس ، اقدامات خرابكارانه و ... مي‌تواند خسارات جبران ناپذيري را بوجود آورد ، لذا تهيه نسخه پشتيبان به عنوان يكي از وظايف اصلي در حوزه انفورماتيك به‌شمار مي‌رود.</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5-3-1 : تعريف يك طرح منظم و خودكار جهت تهيه نسخه پشتيبان از كليه اطلاعات سازماني شامل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39725"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ـ بانك‌هاي اطلاعاتي كليه نرم افزارها</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39725"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ـ تنظيمات مربوط به كليه سرورها و سرويس هاي شبكه</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39725"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ـ تنظيمات مربوط به تجهيزات شبكه كه قابليت </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Backup</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 گيري دارند.</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39725" algn="l"/>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ـ كليه فايل‌هاي حاوي اطلاعات سازماني كه در خارج از بانك‌هاي اطلاعاتي ثبت مي‌شوند.</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39725" algn="l"/>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		( مانند اطلاعات سازماني كه كاريران در نرم افزارهايي مانند </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Excel </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يا </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Access</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 ثبت و نگهداري ميكنند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5-3-2 : ذخيره فايل‌هاي پشتيبان هر سرور در خارج از آن ( بر روي سرور يا فضاي ذخيره سازي ديگر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5-3-3 : استفاده از زمان‌بندي مناسب براي تهيه نسخه پشتيبان بطوري‌كه باعث تداخل يا كندي سرورها و شبكه نگردد.</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5-3-4 : تهيه نسخه پشتيبان بصورت تجميعي ( به صورتيكه به ازاء هر اطلاعات چندين نسخه با تاريخهاي مختلف موجود باشد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5-3-5 : رمز نگاري كليه فايل‌هاي پشتيبان و نگهداري آنها در محلي مناسب به دور از دسترسي افراد غير مجاز.</a:t>
            </a:r>
            <a:endParaRPr kumimoji="0" lang="fa-IR" b="0" i="0" u="none" strike="noStrike" cap="none" normalizeH="0" baseline="0" dirty="0" smtClean="0">
              <a:ln>
                <a:noFill/>
              </a:ln>
              <a:solidFill>
                <a:schemeClr val="tx1"/>
              </a:solidFill>
              <a:effectLst/>
              <a:latin typeface="Arial" pitchFamily="34" charset="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1"/>
          <p:cNvSpPr>
            <a:spLocks noChangeArrowheads="1"/>
          </p:cNvSpPr>
          <p:nvPr/>
        </p:nvSpPr>
        <p:spPr bwMode="auto">
          <a:xfrm>
            <a:off x="457200" y="714356"/>
            <a:ext cx="8186734" cy="203132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tab pos="328613" algn="l"/>
              </a:tabLst>
            </a:pPr>
            <a:r>
              <a:rPr kumimoji="0" lang="fa-IR" sz="1400" b="1" i="0" u="sng" strike="noStrike" cap="none" normalizeH="0" baseline="0" dirty="0" smtClean="0">
                <a:ln>
                  <a:noFill/>
                </a:ln>
                <a:solidFill>
                  <a:schemeClr val="tx1"/>
                </a:solidFill>
                <a:effectLst/>
                <a:latin typeface="Arial" pitchFamily="34" charset="0"/>
                <a:ea typeface="Calibri" pitchFamily="34" charset="0"/>
                <a:cs typeface="B Roya" pitchFamily="2" charset="-78"/>
              </a:rPr>
              <a:t>ه-4- امنيت نرم‌افزاري :</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5-4-1 : نصب </a:t>
            </a: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آخرين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Service Pack </a:t>
            </a: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و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Security Patch</a:t>
            </a: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هاي لازم بر روي كليه سرورها و كلاينت‌ها.</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5-4-2 : </a:t>
            </a: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غیر‌فعال کردن حساب کاربری</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Guest</a:t>
            </a: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و بقیه حساب‌های کاربری بلااستفاده.</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5-4-3 : </a:t>
            </a: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تعيين رمز عبور براي حساب كاربري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Local Administrator</a:t>
            </a: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كه بصورت پيش فرض بدون رمز ميباشند )</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5-4-4 : </a:t>
            </a: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تنظيم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Policy</a:t>
            </a: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هاي لازم بر روي سرورها و كلاينت‌ها.</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5-4-5 : </a:t>
            </a: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غير فعال نمودن قابليت راه اندازي سيستم از طريق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Floppy , CD , DVD , USB</a:t>
            </a: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(در تنظيمات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Bios</a:t>
            </a: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5-4-6 : جلوگيري از دسترسي كاربران به تنظيمات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Bios</a:t>
            </a: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 سيستم با تعريف رمز عبور براي آنها.</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5-4-7 : غير فعال نمودن خصوصيت </a:t>
            </a:r>
            <a:r>
              <a:rPr kumimoji="0" lang="en-US" sz="1400" b="0" i="0" u="none" strike="noStrike" cap="none" normalizeH="0" baseline="0" dirty="0" err="1" smtClean="0">
                <a:ln>
                  <a:noFill/>
                </a:ln>
                <a:solidFill>
                  <a:schemeClr val="tx1"/>
                </a:solidFill>
                <a:effectLst/>
                <a:latin typeface="Arial" pitchFamily="34" charset="0"/>
                <a:ea typeface="Calibri" pitchFamily="34" charset="0"/>
                <a:cs typeface="B Roya" pitchFamily="2" charset="-78"/>
              </a:rPr>
              <a:t>Autoplay</a:t>
            </a: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براي كليه درايوها ( از طريق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Group Policy</a:t>
            </a: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 ) .</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5-4-8 : غير فعال نمودن كليه درايوهاي جانبي ( مانند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Floppy , CD , DVD , USB Storage</a:t>
            </a: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endParaRPr kumimoji="0" lang="ar-SA" sz="1400" b="0" i="0" u="none" strike="noStrike" cap="none" normalizeH="0" baseline="0" dirty="0" smtClean="0">
              <a:ln>
                <a:noFill/>
              </a:ln>
              <a:solidFill>
                <a:schemeClr val="tx1"/>
              </a:solidFill>
              <a:effectLst/>
              <a:latin typeface="Arial" pitchFamily="34" charset="0"/>
              <a:cs typeface="B Roya" pitchFamily="2" charset="-78"/>
            </a:endParaRPr>
          </a:p>
        </p:txBody>
      </p:sp>
      <p:sp>
        <p:nvSpPr>
          <p:cNvPr id="59394" name="Rectangle 2"/>
          <p:cNvSpPr>
            <a:spLocks noChangeArrowheads="1"/>
          </p:cNvSpPr>
          <p:nvPr/>
        </p:nvSpPr>
        <p:spPr bwMode="auto">
          <a:xfrm>
            <a:off x="500034" y="2857496"/>
            <a:ext cx="8215338" cy="33239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tab pos="328613" algn="l"/>
              </a:tabLst>
            </a:pPr>
            <a:r>
              <a:rPr kumimoji="0" lang="ar-SA" sz="1400" b="1" i="0" u="sng" strike="noStrike" cap="none" normalizeH="0" baseline="0" dirty="0" smtClean="0">
                <a:ln>
                  <a:noFill/>
                </a:ln>
                <a:solidFill>
                  <a:schemeClr val="tx1"/>
                </a:solidFill>
                <a:effectLst/>
                <a:latin typeface="Arial" pitchFamily="34" charset="0"/>
                <a:ea typeface="Calibri" pitchFamily="34" charset="0"/>
                <a:cs typeface="B Roya" pitchFamily="2" charset="-78"/>
              </a:rPr>
              <a:t>ه-5- تنظيم و كنترل دسترسي كاربران به منابع شبكه</a:t>
            </a:r>
            <a:r>
              <a:rPr kumimoji="0" lang="fa-IR" sz="1400" b="1" i="0" u="sng" strike="noStrike" cap="none" normalizeH="0" baseline="0" dirty="0" smtClean="0">
                <a:ln>
                  <a:noFill/>
                </a:ln>
                <a:solidFill>
                  <a:schemeClr val="tx1"/>
                </a:solidFill>
                <a:effectLst/>
                <a:latin typeface="Arial" pitchFamily="34" charset="0"/>
                <a:ea typeface="Calibri" pitchFamily="34" charset="0"/>
                <a:cs typeface="B Roya" pitchFamily="2" charset="-78"/>
              </a:rPr>
              <a:t> :</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با توجه به اينكه منابع مختلفي بر روي شبكه موجود مي‌باشد ( مانند پوشه ها و چاپگرهاي به اشتراك گذاشته شده ) لذا پياده‌سازي يك روال هدفمند به‌منظور اعمال و كنترل دسترسي كاربران به اين منابع از ضروريات مديريت شبكه مي‌باشد.</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5-5-1 : تنظيم و كنترل دسترسي كاربران به پوشه‌هاي مشترك.</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5-5-2 : تنظيم و كنترل دسترسي كاربران به چاپگرهاي مشترك.</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5-5-3 : امكان دسترسي </a:t>
            </a: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به سرورها از طريق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Remote Desktop</a:t>
            </a: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فقط براي مديران شبكه ايجاد گردد.</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ar-SA" sz="1400" b="1" i="0" u="sng" strike="noStrike" cap="none" normalizeH="0" baseline="0" dirty="0" smtClean="0">
                <a:ln>
                  <a:noFill/>
                </a:ln>
                <a:solidFill>
                  <a:schemeClr val="tx1"/>
                </a:solidFill>
                <a:effectLst/>
                <a:latin typeface="Arial" pitchFamily="34" charset="0"/>
                <a:ea typeface="Calibri" pitchFamily="34" charset="0"/>
                <a:cs typeface="B Roya" pitchFamily="2" charset="-78"/>
              </a:rPr>
              <a:t>ه-6- فايروال</a:t>
            </a:r>
            <a:r>
              <a:rPr kumimoji="0" lang="fa-IR" sz="1400" b="1" i="0" u="sng" strike="noStrike" cap="none" normalizeH="0" baseline="0" dirty="0" smtClean="0">
                <a:ln>
                  <a:noFill/>
                </a:ln>
                <a:solidFill>
                  <a:schemeClr val="tx1"/>
                </a:solidFill>
                <a:effectLst/>
                <a:latin typeface="Arial" pitchFamily="34" charset="0"/>
                <a:ea typeface="Calibri" pitchFamily="34" charset="0"/>
                <a:cs typeface="B Roya" pitchFamily="2" charset="-78"/>
              </a:rPr>
              <a:t> :</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فايروال وسيله‌اي است كه كنترل دسترسي به شبكه را بر اساس يكسري سياست امنيتي تعريف مي‌كند. فايروال در دو نوع سخت افزاري و نرم افزاري است. فايروال معمولا جهت كنترل ارتباط بين اينترنت و شبكه محلي استفاده مي‌شود. از جمله فايروال‌هاي نرم افزاري مورد استفاده در ويندوز ميتوان به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ISA Server</a:t>
            </a: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 اشاره نمود.</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5-6-1 : بستن پورت‌هاي غير ضروري.</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5-6-2 : </a:t>
            </a: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تعريف محدوديت‌هاي امنيتي جهت اتصال به پورت‌هاي باز.</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5-6-3 : استفاده از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Port Mapping</a:t>
            </a: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 ( يا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Port Forwarding</a:t>
            </a: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 ) براي اتصال از خارج شبكه محلي به سرورها.</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5-6-4 : انجام تنظيمات مناسب جهت بهره گيري از سرويس پيامگير دولت در شبكه محلي.</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5-6-5 : انجام تنظيمات لازم براي ارتباط با دفتر مركزي از طريق شبكه اينترانت كشوري.</a:t>
            </a:r>
            <a:endParaRPr kumimoji="0" lang="ar-SA" sz="1400" b="0" i="0" u="none" strike="noStrike" cap="none" normalizeH="0" baseline="0" dirty="0" smtClean="0">
              <a:ln>
                <a:noFill/>
              </a:ln>
              <a:solidFill>
                <a:schemeClr val="tx1"/>
              </a:solidFill>
              <a:effectLst/>
              <a:latin typeface="Arial" pitchFamily="34" charset="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1"/>
          <p:cNvSpPr>
            <a:spLocks noChangeArrowheads="1"/>
          </p:cNvSpPr>
          <p:nvPr/>
        </p:nvSpPr>
        <p:spPr bwMode="auto">
          <a:xfrm>
            <a:off x="228600" y="381000"/>
            <a:ext cx="8610600" cy="59093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tab pos="328613" algn="l"/>
              </a:tabLst>
            </a:pPr>
            <a:r>
              <a:rPr kumimoji="0" lang="ar-SA" b="1" i="0" u="sng" strike="noStrike" cap="none" normalizeH="0" baseline="0" dirty="0" smtClean="0">
                <a:ln>
                  <a:noFill/>
                </a:ln>
                <a:solidFill>
                  <a:schemeClr val="tx1"/>
                </a:solidFill>
                <a:effectLst/>
                <a:latin typeface="Arial" pitchFamily="34" charset="0"/>
                <a:ea typeface="Calibri" pitchFamily="34" charset="0"/>
                <a:cs typeface="B Roya" pitchFamily="2" charset="-78"/>
              </a:rPr>
              <a:t>ه-7- امنيت شبكه</a:t>
            </a:r>
            <a:r>
              <a:rPr kumimoji="0" lang="fa-IR" b="1" i="0" u="sng" strike="noStrike" cap="none" normalizeH="0" baseline="0" dirty="0" smtClean="0">
                <a:ln>
                  <a:noFill/>
                </a:ln>
                <a:solidFill>
                  <a:schemeClr val="tx1"/>
                </a:solidFill>
                <a:effectLst/>
                <a:latin typeface="Arial" pitchFamily="34" charset="0"/>
                <a:ea typeface="Calibri" pitchFamily="34" charset="0"/>
                <a:cs typeface="B Roya" pitchFamily="2" charset="-78"/>
              </a:rPr>
              <a:t>‌هاي بيسيم:</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يكي از راه‌هاي توسعه شبكه هاي محلي استفاده از تكنولوژي بيسيم است كه با سرعت بيشتر و هزينه كمتري راه‌اندازي مي‌گردند، ليكن لازم است امنيت اين شبكه‌ها نيز مورد توجه قرار بگيرند.</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5-7-1 : فعال نمودن رمزگذاري شبكه بيسيم و تغيير رمز پيش فرض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Access Point</a:t>
            </a: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5-7-2 : استفاده از رمز گذاري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WPA</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بجاي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WEP</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5-7-3 : غير فعال كردن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DHCP</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بر روي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Access Point</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ها.</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5-7-4 : كنترل دوره ايي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Log</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مربوط به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Access Point</a:t>
            </a:r>
            <a:r>
              <a:rPr kumimoji="0" lang="ar-SA"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جهت بررسي ارتباطات بدون مجوز.</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5-7-5 : بروزرساني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Access Point Firmware</a:t>
            </a:r>
            <a:endParaRPr kumimoji="0" lang="en-US" sz="1400"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5- شبكه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1" i="0" u="sng" strike="noStrike" cap="none" normalizeH="0" baseline="0" dirty="0" smtClean="0">
                <a:ln>
                  <a:noFill/>
                </a:ln>
                <a:solidFill>
                  <a:schemeClr val="tx1"/>
                </a:solidFill>
                <a:effectLst/>
                <a:latin typeface="Arial" pitchFamily="34" charset="0"/>
                <a:ea typeface="Calibri" pitchFamily="34" charset="0"/>
                <a:cs typeface="B Roya" pitchFamily="2" charset="-78"/>
              </a:rPr>
              <a:t>5-1- ايجاد بستر ارتباطي ساختمان‌هاي سازمان</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در سال 1384 در ساختمان شهيد نواب كه فاقد هرگونه كابل‌كشي شبكه بود. كابل‌كشي و نصب رك و پريز انجام پذيرفته، اين كابل كشي تماما از نوع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Cat6+</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مي باشد. در هر طبقه از ساختمان مذكور يك رك جهت نصب سوئيچ‌ها و پيچ پنل‌ها تهيه شده است كه از طريق 2 كابل ارتباطي با رك طبقه چهارم (رك مركزي) در ارتباط هستند. توزيع </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node</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هاي شبكه بر اساس متراژ اتاق‌ها و تعداد كاربران طراحي و نصب گرديده‌اند.</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همچنين اين ساختار در سال 88 به تجهيزات مدرن‌تري نسبت به گذشته مجهز گرديده است. ضمنا در طبقات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B1</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و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B2</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كه در سال 1389 مورد بهره برداري قرار گرفت ، شبكه بيسيم با حفظ موارد امنيتي پياده سازي شد.</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tab pos="328613" algn="l"/>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درسال 1385 همراه با افزايش تعداد كاربران و توسعه نرم افزارهاي تحت شبكه سازمان نياز به افزايش ظرفيت كاربري در شبكه داخلي احساس مي گرديد لذا اقدامات لازم در زمينه ارزيابي ،امكان سنجي و پياده سازي شبكه جديد صورت پذيرفت. در كابل كشي جديد از كابل</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Cat6+  NEXANS</a:t>
            </a: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و پريزهاي دوقلو استفاده گرديد. در ساختار شبكه جديد امكان پياده‌سازي چندين شبكه مجزا وجود دارد. هم‌چنين در برخي قسمت‌ها بنا به نياز ازتجهيزات شبكه بيسيم(</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Wireless</a:t>
            </a: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استفاده شده است.</a:t>
            </a:r>
            <a:endParaRPr kumimoji="0" lang="fa-IR" b="0" i="0" u="none" strike="noStrike" cap="none" normalizeH="0" baseline="0" dirty="0" smtClean="0">
              <a:ln>
                <a:noFill/>
              </a:ln>
              <a:solidFill>
                <a:schemeClr val="tx1"/>
              </a:solidFill>
              <a:effectLst/>
              <a:latin typeface="Arial" pitchFamily="34" charset="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1"/>
          <p:cNvSpPr>
            <a:spLocks noChangeArrowheads="1"/>
          </p:cNvSpPr>
          <p:nvPr/>
        </p:nvSpPr>
        <p:spPr bwMode="auto">
          <a:xfrm>
            <a:off x="571472" y="785794"/>
            <a:ext cx="8001024" cy="53553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pPr>
            <a:r>
              <a:rPr kumimoji="0" lang="fa-IR" b="1" i="0" u="sng" strike="noStrike" cap="none" normalizeH="0" baseline="0" dirty="0" smtClean="0">
                <a:ln>
                  <a:noFill/>
                </a:ln>
                <a:solidFill>
                  <a:schemeClr val="tx1"/>
                </a:solidFill>
                <a:effectLst/>
                <a:latin typeface="Arial" pitchFamily="34" charset="0"/>
                <a:ea typeface="Calibri" pitchFamily="34" charset="0"/>
                <a:cs typeface="B Roya" pitchFamily="2" charset="-78"/>
              </a:rPr>
              <a:t>5-2- ساختمان مجامع</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پس از راه اندازي ساختمان مجامع و نياز كاربران به بهره‌مندي از شبكه ، تعدادي از واحدهاي ساختمان مذكور مجهز به كابل كشي شبكه و باقي ملزومات رايانه‌اي گرديدند.</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1" i="0" u="sng" strike="noStrike" cap="none" normalizeH="0" baseline="0" dirty="0" smtClean="0">
                <a:ln>
                  <a:noFill/>
                </a:ln>
                <a:solidFill>
                  <a:schemeClr val="tx1"/>
                </a:solidFill>
                <a:effectLst/>
                <a:latin typeface="Arial" pitchFamily="34" charset="0"/>
                <a:ea typeface="Calibri" pitchFamily="34" charset="0"/>
                <a:cs typeface="B Roya" pitchFamily="2" charset="-78"/>
              </a:rPr>
              <a:t>5-3- ارتباطات شبكه</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با توجه به نياز ارتباط ميان ساختمان نواب و مركزي در سال 1384 پس از راه اندازي شبكه ساختمان نواب اقدام به نصب دو دكل ارتباطي بر روي ساختمان‌ها گرديد.با نصب ملزومات ارتباط راديويي ، از همان زمان ارتباط بين دو ساختمان برقرار گردید. ارتباط بين ساختمان مركزي و ساختمان نقليه نيز از طريق گيرنده‌ها و فرستنده‌های</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wireless</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برقرار مي باشد.</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1" i="0" u="sng" strike="noStrike" cap="none" normalizeH="0" baseline="0" dirty="0" smtClean="0">
                <a:ln>
                  <a:noFill/>
                </a:ln>
                <a:solidFill>
                  <a:schemeClr val="tx1"/>
                </a:solidFill>
                <a:effectLst/>
                <a:latin typeface="Arial" pitchFamily="34" charset="0"/>
                <a:ea typeface="Calibri" pitchFamily="34" charset="0"/>
                <a:cs typeface="B Roya" pitchFamily="2" charset="-78"/>
              </a:rPr>
              <a:t>5-4- تجهيزات شبكه</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كابل‌هاي بكار رفته در هر دو ساختمان از نوع </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 Cat6+ </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مي باشد هم‌چنين كليه سوئيچ‌هاي فعال از نوع </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Cisco </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و</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 D-Link </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هستند كه در آينده نزديك شبكه يكپارچه مجهز به سوئيچ هاي </a:t>
            </a:r>
            <a:r>
              <a:rPr kumimoji="0" lang="en-US" b="0" i="0" u="none" strike="noStrike" cap="none" normalizeH="0" baseline="0" dirty="0" smtClean="0">
                <a:ln>
                  <a:noFill/>
                </a:ln>
                <a:solidFill>
                  <a:schemeClr val="tx1"/>
                </a:solidFill>
                <a:effectLst/>
                <a:latin typeface="Arial" pitchFamily="34" charset="0"/>
                <a:ea typeface="Calibri" pitchFamily="34" charset="0"/>
                <a:cs typeface="B Roya" pitchFamily="2" charset="-78"/>
              </a:rPr>
              <a:t>Cisco</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مي شود.</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در سال 1389 با راه اندازي سيستم هاي يكپارچه نرم افزاري ، نياز سازمان به ارتباط ادارات كل استاني بيش از پيش محسوس گرديد. با همكاري موسسه تبيان ، كليه مراكز استانها با استفاده از سرويس اينترانت مخابرات به دفتر مركزي متصل گرديدند.</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1" i="0" u="sng" strike="noStrike" cap="none" normalizeH="0" baseline="0" dirty="0" smtClean="0">
                <a:ln>
                  <a:noFill/>
                </a:ln>
                <a:solidFill>
                  <a:schemeClr val="tx1"/>
                </a:solidFill>
                <a:effectLst/>
                <a:latin typeface="Arial" pitchFamily="34" charset="0"/>
                <a:ea typeface="Calibri" pitchFamily="34" charset="0"/>
                <a:cs typeface="B Roya" pitchFamily="2" charset="-78"/>
              </a:rPr>
              <a:t>5-5- اتصال به شبكه دولت</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پيامگير دولت سيستمي جهت ارسال و دريافت نامه بين نهادهاي مختلف است. سازمان تبليغات اسلامي در راستاي حذف مكاتبات فيزيكي و تسريع در امور مربوطه اقدام به راه‌اندازي سيستم پيامگير دولت درسال 1385 نمود. سامانه مذكور توسط مركز انفورماتيك سازمان در دبيرخانه مركزي راه‌اندازي و بصورت كامل در در حال بهره برداري مي‌باشد.</a:t>
            </a:r>
            <a:endParaRPr kumimoji="0" lang="fa-IR" b="0" i="0" u="none" strike="noStrike" cap="none" normalizeH="0" baseline="0" dirty="0" smtClean="0">
              <a:ln>
                <a:noFill/>
              </a:ln>
              <a:solidFill>
                <a:schemeClr val="tx1"/>
              </a:solidFill>
              <a:effectLst/>
              <a:latin typeface="Arial" pitchFamily="34" charset="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
          <p:cNvSpPr>
            <a:spLocks noChangeArrowheads="1"/>
          </p:cNvSpPr>
          <p:nvPr/>
        </p:nvSpPr>
        <p:spPr bwMode="auto">
          <a:xfrm>
            <a:off x="428596" y="785794"/>
            <a:ext cx="8286808" cy="535531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pPr>
            <a:r>
              <a:rPr kumimoji="0" lang="fa-IR" b="1" i="0" u="sng" strike="noStrike" cap="none" normalizeH="0" baseline="0" dirty="0" smtClean="0">
                <a:ln>
                  <a:noFill/>
                </a:ln>
                <a:solidFill>
                  <a:schemeClr val="tx1"/>
                </a:solidFill>
                <a:effectLst/>
                <a:latin typeface="Arial" pitchFamily="34" charset="0"/>
                <a:ea typeface="Calibri" pitchFamily="34" charset="0"/>
                <a:cs typeface="B Roya" pitchFamily="2" charset="-78"/>
              </a:rPr>
              <a:t>5-6- مديريت نرم افزاري شبكه</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بمنظور مديريت نرم افزاري شبكه از سرويس‌هاي مختلفي استفاده شده است كه در ادامه به شرح آن مي‌پردازيم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5-6-1- سيستم هاي عامل تحت شبكه : مهم‌ترين قسمت نرم افزاري در شبكه راه‌اندازي سيستم عامل‌هاي مبتني بر شبكه است كه ديگر سرويس‌ها بر روي اين سيستم عاملها نصب مي‌گردند. به همين منظور در شبكه سازمان تاكنون سيستم عاملهاي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Windows Server 2003</a:t>
            </a: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 ،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Novell</a:t>
            </a: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و لينوكس ، نصب و راه اندازي شده است.</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5-6-2- سرويس دايركتوري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با توجه به اينكه شبكه‌هاي سازمان مبتني بر ويندوز ميباشد ، از سرويس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Active Directory</a:t>
            </a: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استفاده مي‌گردد كه وظايف اين سرويس عبارتند از :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تعريف و مديريت كاربران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 تعيين هويت كاربران به هنگام ورود به سيستم‌ها</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تعيين مجوز دسترسي به منابع شبكه</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lvl="0" algn="justLow" rtl="1" eaLnBrk="0" fontAlgn="base" hangingPunct="0">
              <a:spcBef>
                <a:spcPct val="0"/>
              </a:spcBef>
              <a:spcAft>
                <a:spcPct val="0"/>
              </a:spcAf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البته سرويس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DNS</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نيز به همراه سرويس فوق ، نصب و راه اندازي گرديده است كه وظيفه اصلي اين سرويس تبديل نام دستگاه‌هاي شبكه به </a:t>
            </a:r>
            <a:r>
              <a:rPr lang="en-US" sz="1400" dirty="0" smtClean="0">
                <a:latin typeface="Arial" pitchFamily="34" charset="0"/>
                <a:ea typeface="Calibri" pitchFamily="34" charset="0"/>
                <a:cs typeface="B Roya" pitchFamily="2" charset="-78"/>
              </a:rPr>
              <a:t>IP</a:t>
            </a:r>
            <a:r>
              <a:rPr lang="fa-IR" dirty="0" smtClean="0">
                <a:latin typeface="Arial" pitchFamily="34" charset="0"/>
                <a:ea typeface="Calibri" pitchFamily="34" charset="0"/>
                <a:cs typeface="B Roya" pitchFamily="2" charset="-78"/>
              </a:rPr>
              <a:t> آن </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ميباشد.</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5-6-3- </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سرويس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DHCP</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وظيفه اين سرويس ، اختصاص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IP</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 به هر يك از دستگاه‌هاي شبكه است به‌طوري‌كه آدرس‌هاي مذكور با يكديگر تداخل نداشته باشند. سرويس مذكور هم در شبكه داخلي و هم در شبكه اينترنت راه اندازي و تنظيم گرديده است.</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5-6-4- </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سرويس </a:t>
            </a:r>
            <a:r>
              <a:rPr kumimoji="0" lang="en-US"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File Server</a:t>
            </a:r>
            <a:r>
              <a:rPr kumimoji="0" lang="fa-IR" sz="1400" b="0" i="0" u="none" strike="noStrike" cap="none" normalizeH="0" baseline="0" dirty="0" smtClean="0">
                <a:ln>
                  <a:noFill/>
                </a:ln>
                <a:solidFill>
                  <a:schemeClr val="tx1"/>
                </a:solidFill>
                <a:effectLst/>
                <a:latin typeface="Arial" pitchFamily="34" charset="0"/>
                <a:ea typeface="Calibri" pitchFamily="34" charset="0"/>
                <a:cs typeface="B Roya" pitchFamily="2" charset="-78"/>
              </a:rPr>
              <a:t> </a:t>
            </a:r>
            <a:r>
              <a:rPr kumimoji="0" lang="fa-IR" b="0" i="0" u="none" strike="noStrike" cap="none" normalizeH="0" baseline="0" dirty="0" smtClean="0">
                <a:ln>
                  <a:noFill/>
                </a:ln>
                <a:solidFill>
                  <a:schemeClr val="tx1"/>
                </a:solidFill>
                <a:effectLst/>
                <a:latin typeface="Arial" pitchFamily="34" charset="0"/>
                <a:ea typeface="Calibri" pitchFamily="34" charset="0"/>
                <a:cs typeface="B Roya" pitchFamily="2" charset="-78"/>
              </a:rPr>
              <a:t>:</a:t>
            </a:r>
            <a:endParaRPr kumimoji="0" lang="en-US" b="0"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b="0" i="0" u="none" strike="noStrike" cap="none" normalizeH="0" baseline="0" dirty="0" smtClean="0">
                <a:ln>
                  <a:noFill/>
                </a:ln>
                <a:solidFill>
                  <a:schemeClr val="tx1"/>
                </a:solidFill>
                <a:effectLst/>
                <a:latin typeface="Arial" pitchFamily="34" charset="0"/>
                <a:ea typeface="Calibri" pitchFamily="34" charset="0"/>
                <a:cs typeface="B Roya" pitchFamily="2" charset="-78"/>
              </a:rPr>
              <a:t>اين سرويس يكي از عمومي‌ترين سرويس‌هاي شبكه است كه براي به اشتراك‌گذاري فايل‌ها استفاده مي‌گردد. اين سرويس نيز هم در شبكه داخلي و هم در شبكه اينترنت راه اندازي و استفاده مي‌شود.</a:t>
            </a:r>
            <a:endParaRPr kumimoji="0" lang="ar-SA" b="0" i="0" u="none" strike="noStrike" cap="none" normalizeH="0" baseline="0" dirty="0" smtClean="0">
              <a:ln>
                <a:noFill/>
              </a:ln>
              <a:solidFill>
                <a:schemeClr val="tx1"/>
              </a:solidFill>
              <a:effectLst/>
              <a:latin typeface="Arial" pitchFamily="34" charset="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1"/>
          <p:cNvSpPr>
            <a:spLocks noChangeArrowheads="1"/>
          </p:cNvSpPr>
          <p:nvPr/>
        </p:nvSpPr>
        <p:spPr bwMode="auto">
          <a:xfrm>
            <a:off x="500034" y="1000108"/>
            <a:ext cx="8072462" cy="39703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Low" defTabSz="914400" rtl="1" eaLnBrk="1" fontAlgn="base" latinLnBrk="0" hangingPunct="1">
              <a:lnSpc>
                <a:spcPct val="100000"/>
              </a:lnSpc>
              <a:spcBef>
                <a:spcPct val="0"/>
              </a:spcBef>
              <a:spcAft>
                <a:spcPct val="0"/>
              </a:spcAft>
              <a:buClrTx/>
              <a:buSzTx/>
              <a:buFontTx/>
              <a:buNone/>
              <a:tabLst/>
            </a:pPr>
            <a:r>
              <a:rPr kumimoji="0" lang="ar-SA" i="0" u="none" strike="noStrike" cap="none" normalizeH="0" baseline="0" dirty="0" smtClean="0">
                <a:ln>
                  <a:noFill/>
                </a:ln>
                <a:solidFill>
                  <a:schemeClr val="tx1"/>
                </a:solidFill>
                <a:effectLst/>
                <a:latin typeface="Arial" pitchFamily="34" charset="0"/>
                <a:ea typeface="Calibri" pitchFamily="34" charset="0"/>
                <a:cs typeface="B Roya" pitchFamily="2" charset="-78"/>
              </a:rPr>
              <a:t>5-6-5- استفاده از مجازي سازي در شبكه :</a:t>
            </a:r>
            <a:endParaRPr kumimoji="0" lang="en-US"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i="0" u="none" strike="noStrike" cap="none" normalizeH="0" baseline="0" dirty="0" smtClean="0">
                <a:ln>
                  <a:noFill/>
                </a:ln>
                <a:solidFill>
                  <a:schemeClr val="tx1"/>
                </a:solidFill>
                <a:effectLst/>
                <a:latin typeface="Arial" pitchFamily="34" charset="0"/>
                <a:ea typeface="Calibri" pitchFamily="34" charset="0"/>
                <a:cs typeface="B Roya" pitchFamily="2" charset="-78"/>
              </a:rPr>
              <a:t>مجازی‌سازی سرور یكی از تكنولوژی‌های نادر است. آنقدر خوب است كه به نظر واقعی نمی‌آید، اما واقعی است. اولین كاربرد آن، ادغام سخت‌افزار سرور بلااستفاده بر روی تعداد كمتری دستگاه است. این تكنولوژی، از همان ابتدا به یك راه‌حل چندمنظوره تبدیل شده و قابلیت اطمینان بیشتر، مدیریت بهتر و سایر مزایایی را فراهم ساخته و آن را ابزاری تقریبا حیاتی برای مدیران مراكز اطلاعاتی شركت ساخته است. خلاصه كردن دانش مجازی‌سازی كه سبب فعالیت آن می‌شود، خود مجازی‌سازی است. اگر بخواهیم یك تعریف بسیار ساده شده ارائه دهیم، یك سرور مجازی تنها با استفاده از نرم‌افزار، رفتار و قابلیت‌های یك كامپیوتر مستقل را تقلید می‌كند</a:t>
            </a:r>
            <a:r>
              <a:rPr kumimoji="0" lang="en-US" i="0" u="none" strike="noStrike" cap="none" normalizeH="0" baseline="0" dirty="0" smtClean="0">
                <a:ln>
                  <a:noFill/>
                </a:ln>
                <a:solidFill>
                  <a:schemeClr val="tx1"/>
                </a:solidFill>
                <a:effectLst/>
                <a:latin typeface="Arial" pitchFamily="34" charset="0"/>
                <a:ea typeface="Calibri" pitchFamily="34" charset="0"/>
                <a:cs typeface="B Roya" pitchFamily="2" charset="-78"/>
              </a:rPr>
              <a:t>.</a:t>
            </a:r>
            <a:endParaRPr kumimoji="0" lang="en-US"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i="0" u="none" strike="noStrike" cap="none" normalizeH="0" baseline="0" dirty="0" smtClean="0">
                <a:ln>
                  <a:noFill/>
                </a:ln>
                <a:solidFill>
                  <a:schemeClr val="tx1"/>
                </a:solidFill>
                <a:effectLst/>
                <a:latin typeface="Arial" pitchFamily="34" charset="0"/>
                <a:ea typeface="Calibri" pitchFamily="34" charset="0"/>
                <a:cs typeface="B Roya" pitchFamily="2" charset="-78"/>
              </a:rPr>
              <a:t>در اين راستا مركز انفورماتيك اقدام به نصب و راه اندازي برخي از سرويس هاي شبكه خود بر روي يك سيستم مجازي نموده است كه ضمن ارائه سرعت مناسب باعث كاهش در هزينه هاي مربوطه نيز شده است.</a:t>
            </a:r>
            <a:endParaRPr kumimoji="0" lang="en-US"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i="0" u="none" strike="noStrike" cap="none" normalizeH="0" baseline="0" dirty="0" smtClean="0">
                <a:ln>
                  <a:noFill/>
                </a:ln>
                <a:solidFill>
                  <a:schemeClr val="tx1"/>
                </a:solidFill>
                <a:effectLst/>
                <a:latin typeface="Arial" pitchFamily="34" charset="0"/>
                <a:ea typeface="Calibri" pitchFamily="34" charset="0"/>
                <a:cs typeface="B Roya" pitchFamily="2" charset="-78"/>
              </a:rPr>
              <a:t>5-6-6- گزارشات مديريتي :</a:t>
            </a:r>
            <a:endParaRPr kumimoji="0" lang="en-US" i="0" u="none" strike="noStrike" cap="none" normalizeH="0" baseline="0" dirty="0" smtClean="0">
              <a:ln>
                <a:noFill/>
              </a:ln>
              <a:solidFill>
                <a:schemeClr val="tx1"/>
              </a:solidFill>
              <a:effectLst/>
              <a:latin typeface="Arial" pitchFamily="34" charset="0"/>
              <a:cs typeface="B Roya" pitchFamily="2" charset="-78"/>
            </a:endParaRPr>
          </a:p>
          <a:p>
            <a:pPr marL="0" marR="0" lvl="0" indent="0" algn="justLow" defTabSz="914400" rtl="1" eaLnBrk="0" fontAlgn="base" latinLnBrk="0" hangingPunct="0">
              <a:lnSpc>
                <a:spcPct val="100000"/>
              </a:lnSpc>
              <a:spcBef>
                <a:spcPct val="0"/>
              </a:spcBef>
              <a:spcAft>
                <a:spcPct val="0"/>
              </a:spcAft>
              <a:buClrTx/>
              <a:buSzTx/>
              <a:buFontTx/>
              <a:buNone/>
              <a:tabLst/>
            </a:pPr>
            <a:r>
              <a:rPr kumimoji="0" lang="ar-SA" i="0" u="none" strike="noStrike" cap="none" normalizeH="0" baseline="0" dirty="0" smtClean="0">
                <a:ln>
                  <a:noFill/>
                </a:ln>
                <a:solidFill>
                  <a:schemeClr val="tx1"/>
                </a:solidFill>
                <a:effectLst/>
                <a:latin typeface="Arial" pitchFamily="34" charset="0"/>
                <a:ea typeface="Calibri" pitchFamily="34" charset="0"/>
                <a:cs typeface="B Roya" pitchFamily="2" charset="-78"/>
              </a:rPr>
              <a:t>يكي از فعاليت‌هاي مركز انفورماتيك تهيه گزارش از رويدادهاي مهم در شبكه و نرم افزارهاي مربوطه است. لذا در فواصل زماني مختلف و نيز بنا به درخواست مديران ، گزارشات مختلف تهيه و مورد استفاده قرار گرفته است.</a:t>
            </a:r>
            <a:endParaRPr kumimoji="0" lang="ar-SA" i="0" u="none" strike="noStrike" cap="none" normalizeH="0" baseline="0" dirty="0" smtClean="0">
              <a:ln>
                <a:noFill/>
              </a:ln>
              <a:solidFill>
                <a:schemeClr val="tx1"/>
              </a:solidFill>
              <a:effectLst/>
              <a:latin typeface="Arial" pitchFamily="34" charset="0"/>
              <a:cs typeface="B Roya" pitchFamily="2" charset="-78"/>
            </a:endParaRPr>
          </a:p>
        </p:txBody>
      </p:sp>
    </p:spTree>
  </p:cSld>
  <p:clrMapOvr>
    <a:masterClrMapping/>
  </p:clrMapOvr>
  <p:transition spd="slow">
    <p:zoom/>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srcRect/>
          <a:stretch>
            <a:fillRect/>
          </a:stretch>
        </p:blipFill>
        <p:spPr bwMode="auto">
          <a:xfrm>
            <a:off x="857224" y="3000372"/>
            <a:ext cx="7143800" cy="2857500"/>
          </a:xfrm>
          <a:prstGeom prst="rect">
            <a:avLst/>
          </a:prstGeom>
          <a:noFill/>
          <a:ln w="9525">
            <a:noFill/>
            <a:miter lim="800000"/>
            <a:headEnd/>
            <a:tailEnd/>
          </a:ln>
        </p:spPr>
      </p:pic>
      <p:sp>
        <p:nvSpPr>
          <p:cNvPr id="72705" name="Rectangle 1"/>
          <p:cNvSpPr>
            <a:spLocks noChangeArrowheads="1"/>
          </p:cNvSpPr>
          <p:nvPr/>
        </p:nvSpPr>
        <p:spPr bwMode="auto">
          <a:xfrm>
            <a:off x="1714480" y="928670"/>
            <a:ext cx="5857884"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1" eaLnBrk="1" fontAlgn="base" latinLnBrk="0" hangingPunct="1">
              <a:lnSpc>
                <a:spcPct val="100000"/>
              </a:lnSpc>
              <a:spcBef>
                <a:spcPct val="0"/>
              </a:spcBef>
              <a:spcAft>
                <a:spcPct val="0"/>
              </a:spcAft>
              <a:buClrTx/>
              <a:buSzTx/>
              <a:buFontTx/>
              <a:buNone/>
              <a:tabLst/>
            </a:pPr>
            <a:r>
              <a:rPr kumimoji="0" lang="ar-SA" b="1" i="0" u="none" strike="noStrike" cap="none" normalizeH="0" baseline="0" dirty="0" smtClean="0">
                <a:ln>
                  <a:noFill/>
                </a:ln>
                <a:solidFill>
                  <a:schemeClr val="tx1"/>
                </a:solidFill>
                <a:effectLst/>
                <a:latin typeface="Arial" pitchFamily="34" charset="0"/>
                <a:ea typeface="Calibri" pitchFamily="34" charset="0"/>
                <a:cs typeface="B Roya" pitchFamily="2" charset="-78"/>
              </a:rPr>
              <a:t>جدول و نمودار زير نشان دهنده رشد وضعيت شبكه در دهه 80 ميباشد:</a:t>
            </a:r>
            <a:endParaRPr kumimoji="0" lang="ar-SA" b="1" i="0" u="none" strike="noStrike" cap="none" normalizeH="0" baseline="0" dirty="0" smtClean="0">
              <a:ln>
                <a:noFill/>
              </a:ln>
              <a:solidFill>
                <a:schemeClr val="tx1"/>
              </a:solidFill>
              <a:effectLst/>
              <a:latin typeface="Arial" pitchFamily="34" charset="0"/>
              <a:cs typeface="B Roya" pitchFamily="2" charset="-78"/>
            </a:endParaRPr>
          </a:p>
        </p:txBody>
      </p:sp>
      <p:graphicFrame>
        <p:nvGraphicFramePr>
          <p:cNvPr id="6" name="Table 5"/>
          <p:cNvGraphicFramePr>
            <a:graphicFrameLocks noGrp="1"/>
          </p:cNvGraphicFramePr>
          <p:nvPr/>
        </p:nvGraphicFramePr>
        <p:xfrm>
          <a:off x="714348" y="1643050"/>
          <a:ext cx="7358114" cy="1234440"/>
        </p:xfrm>
        <a:graphic>
          <a:graphicData uri="http://schemas.openxmlformats.org/drawingml/2006/table">
            <a:tbl>
              <a:tblPr rtl="1"/>
              <a:tblGrid>
                <a:gridCol w="1708678"/>
                <a:gridCol w="2030138"/>
                <a:gridCol w="1752363"/>
                <a:gridCol w="1866935"/>
              </a:tblGrid>
              <a:tr h="0">
                <a:tc>
                  <a:txBody>
                    <a:bodyPr/>
                    <a:lstStyle/>
                    <a:p>
                      <a:pPr algn="ctr" rtl="1">
                        <a:lnSpc>
                          <a:spcPct val="150000"/>
                        </a:lnSpc>
                        <a:spcAft>
                          <a:spcPts val="1000"/>
                        </a:spcAft>
                      </a:pPr>
                      <a:r>
                        <a:rPr lang="ar-SA" sz="1800" b="1" dirty="0">
                          <a:latin typeface="Calibri"/>
                          <a:ea typeface="Calibri"/>
                          <a:cs typeface="B Roya" pitchFamily="2" charset="-78"/>
                        </a:rPr>
                        <a:t>بازه زماني</a:t>
                      </a:r>
                      <a:endParaRPr lang="en-US" sz="1800" b="1" dirty="0">
                        <a:latin typeface="Calibri"/>
                        <a:ea typeface="Calibri"/>
                        <a:cs typeface="B Roya"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800" b="1">
                          <a:latin typeface="Calibri"/>
                          <a:ea typeface="Calibri"/>
                          <a:cs typeface="B Roya" pitchFamily="2" charset="-78"/>
                        </a:rPr>
                        <a:t>1380</a:t>
                      </a:r>
                      <a:endParaRPr lang="en-US" sz="1800" b="1">
                        <a:latin typeface="Calibri"/>
                        <a:ea typeface="Calibri"/>
                        <a:cs typeface="B Roya"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800" b="1">
                          <a:latin typeface="Calibri"/>
                          <a:ea typeface="Calibri"/>
                          <a:cs typeface="B Roya" pitchFamily="2" charset="-78"/>
                        </a:rPr>
                        <a:t>1385</a:t>
                      </a:r>
                      <a:endParaRPr lang="en-US" sz="1800" b="1">
                        <a:latin typeface="Calibri"/>
                        <a:ea typeface="Calibri"/>
                        <a:cs typeface="B Roya"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800" b="1" dirty="0">
                          <a:latin typeface="Calibri"/>
                          <a:ea typeface="Calibri"/>
                          <a:cs typeface="B Roya" pitchFamily="2" charset="-78"/>
                        </a:rPr>
                        <a:t>1390</a:t>
                      </a:r>
                      <a:endParaRPr lang="en-US" sz="1800" b="1" dirty="0">
                        <a:latin typeface="Calibri"/>
                        <a:ea typeface="Calibri"/>
                        <a:cs typeface="B Roya"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rtl="1">
                        <a:lnSpc>
                          <a:spcPct val="150000"/>
                        </a:lnSpc>
                        <a:spcAft>
                          <a:spcPts val="1000"/>
                        </a:spcAft>
                      </a:pPr>
                      <a:r>
                        <a:rPr lang="ar-SA" sz="1800" b="1">
                          <a:latin typeface="Calibri"/>
                          <a:ea typeface="Calibri"/>
                          <a:cs typeface="B Roya" pitchFamily="2" charset="-78"/>
                        </a:rPr>
                        <a:t>تعداد كاربران</a:t>
                      </a:r>
                      <a:endParaRPr lang="en-US" sz="1800" b="1">
                        <a:latin typeface="Calibri"/>
                        <a:ea typeface="Calibri"/>
                        <a:cs typeface="B Roya"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800" b="1">
                          <a:latin typeface="Calibri"/>
                          <a:ea typeface="Calibri"/>
                          <a:cs typeface="B Roya" pitchFamily="2" charset="-78"/>
                        </a:rPr>
                        <a:t>10</a:t>
                      </a:r>
                      <a:endParaRPr lang="en-US" sz="1800" b="1">
                        <a:latin typeface="Calibri"/>
                        <a:ea typeface="Calibri"/>
                        <a:cs typeface="B Roya"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fa-IR" sz="1800" b="1">
                          <a:latin typeface="Calibri"/>
                          <a:ea typeface="Calibri"/>
                          <a:cs typeface="B Roya" pitchFamily="2" charset="-78"/>
                        </a:rPr>
                        <a:t>200</a:t>
                      </a:r>
                      <a:endParaRPr lang="en-US" sz="1800" b="1">
                        <a:latin typeface="Calibri"/>
                        <a:ea typeface="Calibri"/>
                        <a:cs typeface="B Roya"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800" b="1" dirty="0">
                          <a:latin typeface="Calibri"/>
                          <a:ea typeface="Calibri"/>
                          <a:cs typeface="B Roya" pitchFamily="2" charset="-78"/>
                        </a:rPr>
                        <a:t>400</a:t>
                      </a:r>
                      <a:endParaRPr lang="en-US" sz="1800" b="1" dirty="0">
                        <a:latin typeface="Calibri"/>
                        <a:ea typeface="Calibri"/>
                        <a:cs typeface="B Roya"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0">
                <a:tc>
                  <a:txBody>
                    <a:bodyPr/>
                    <a:lstStyle/>
                    <a:p>
                      <a:pPr algn="ctr" rtl="1">
                        <a:lnSpc>
                          <a:spcPct val="150000"/>
                        </a:lnSpc>
                        <a:spcAft>
                          <a:spcPts val="1000"/>
                        </a:spcAft>
                      </a:pPr>
                      <a:r>
                        <a:rPr lang="ar-SA" sz="1800" b="1">
                          <a:latin typeface="Calibri"/>
                          <a:ea typeface="Calibri"/>
                          <a:cs typeface="B Roya" pitchFamily="2" charset="-78"/>
                        </a:rPr>
                        <a:t>تعداد  </a:t>
                      </a:r>
                      <a:r>
                        <a:rPr lang="en-US" sz="1800" b="1">
                          <a:latin typeface="Calibri"/>
                          <a:ea typeface="Calibri"/>
                          <a:cs typeface="B Roya" pitchFamily="2" charset="-78"/>
                        </a:rPr>
                        <a:t>node</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800" b="1" dirty="0">
                          <a:latin typeface="Calibri"/>
                          <a:ea typeface="Calibri"/>
                          <a:cs typeface="B Roya" pitchFamily="2" charset="-78"/>
                        </a:rPr>
                        <a:t>20</a:t>
                      </a:r>
                      <a:endParaRPr lang="en-US" sz="1800" b="1" dirty="0">
                        <a:latin typeface="Calibri"/>
                        <a:ea typeface="Calibri"/>
                        <a:cs typeface="B Roya"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fa-IR" sz="1800" b="1">
                          <a:latin typeface="Calibri"/>
                          <a:ea typeface="Calibri"/>
                          <a:cs typeface="B Roya" pitchFamily="2" charset="-78"/>
                        </a:rPr>
                        <a:t>350</a:t>
                      </a:r>
                      <a:endParaRPr lang="en-US" sz="1800" b="1">
                        <a:latin typeface="Calibri"/>
                        <a:ea typeface="Calibri"/>
                        <a:cs typeface="B Roya"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rtl="1">
                        <a:lnSpc>
                          <a:spcPct val="150000"/>
                        </a:lnSpc>
                        <a:spcAft>
                          <a:spcPts val="1000"/>
                        </a:spcAft>
                      </a:pPr>
                      <a:r>
                        <a:rPr lang="ar-SA" sz="1800" b="1" dirty="0">
                          <a:latin typeface="Calibri"/>
                          <a:ea typeface="Calibri"/>
                          <a:cs typeface="B Roya" pitchFamily="2" charset="-78"/>
                        </a:rPr>
                        <a:t>800</a:t>
                      </a:r>
                      <a:endParaRPr lang="en-US" sz="1800" b="1" dirty="0">
                        <a:latin typeface="Calibri"/>
                        <a:ea typeface="Calibri"/>
                        <a:cs typeface="B Roya" pitchFamily="2" charset="-78"/>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cSld>
  <p:clrMapOvr>
    <a:masterClrMapping/>
  </p:clrMapOvr>
  <p:transition spd="slow">
    <p:zoom/>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93-2">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93-2</Template>
  <TotalTime>3</TotalTime>
  <Words>10384</Words>
  <Application>Microsoft Office PowerPoint</Application>
  <PresentationFormat>On-screen Show (4:3)</PresentationFormat>
  <Paragraphs>798</Paragraphs>
  <Slides>54</Slides>
  <Notes>2</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93-2</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Sazman Tablighat Eslami</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moaddab</dc:creator>
  <cp:lastModifiedBy>moaddab</cp:lastModifiedBy>
  <cp:revision>2</cp:revision>
  <dcterms:created xsi:type="dcterms:W3CDTF">2015-12-09T05:39:59Z</dcterms:created>
  <dcterms:modified xsi:type="dcterms:W3CDTF">2015-12-09T05:43:01Z</dcterms:modified>
</cp:coreProperties>
</file>