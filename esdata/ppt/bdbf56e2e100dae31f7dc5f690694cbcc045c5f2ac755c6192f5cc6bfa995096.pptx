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4056"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70" r:id="rId12"/>
    <p:sldId id="266" r:id="rId13"/>
    <p:sldId id="267" r:id="rId14"/>
    <p:sldId id="268" r:id="rId15"/>
    <p:sldId id="269" r:id="rId16"/>
    <p:sldId id="271" r:id="rId17"/>
    <p:sldId id="272" r:id="rId18"/>
    <p:sldId id="273" r:id="rId19"/>
    <p:sldId id="274" r:id="rId20"/>
    <p:sldId id="275" r:id="rId21"/>
    <p:sldId id="276" r:id="rId22"/>
    <p:sldId id="277" r:id="rId23"/>
  </p:sldIdLst>
  <p:sldSz cx="9144000" cy="6858000" type="screen4x3"/>
  <p:notesSz cx="6858000" cy="9144000"/>
  <p:defaultTextStyle>
    <a:defPPr>
      <a:defRPr lang="fa-I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84380"/>
    <p:restoredTop sz="94660"/>
  </p:normalViewPr>
  <p:slideViewPr>
    <p:cSldViewPr>
      <p:cViewPr varScale="1">
        <p:scale>
          <a:sx n="63" d="100"/>
          <a:sy n="63" d="100"/>
        </p:scale>
        <p:origin x="-642"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fa-IR"/>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E65C2A55-C3DB-4CB4-9DD3-ED5BB92CCC1B}" type="datetimeFigureOut">
              <a:rPr lang="fa-IR" smtClean="0"/>
              <a:pPr/>
              <a:t>1435/01/13</a:t>
            </a:fld>
            <a:endParaRPr lang="fa-I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fa-I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fa-IR"/>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693B6FCB-2BD3-47C7-A161-03FA8F5FAEC8}" type="slidenum">
              <a:rPr lang="fa-IR" smtClean="0"/>
              <a:pPr/>
              <a:t>‹#›</a:t>
            </a:fld>
            <a:endParaRPr lang="fa-IR"/>
          </a:p>
        </p:txBody>
      </p:sp>
    </p:spTree>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a-IR" smtClean="0"/>
              <a:t>ر ح</a:t>
            </a:r>
            <a:endParaRPr lang="fa-IR"/>
          </a:p>
        </p:txBody>
      </p:sp>
      <p:sp>
        <p:nvSpPr>
          <p:cNvPr id="4" name="Slide Number Placeholder 3"/>
          <p:cNvSpPr>
            <a:spLocks noGrp="1"/>
          </p:cNvSpPr>
          <p:nvPr>
            <p:ph type="sldNum" sz="quarter" idx="10"/>
          </p:nvPr>
        </p:nvSpPr>
        <p:spPr/>
        <p:txBody>
          <a:bodyPr/>
          <a:lstStyle/>
          <a:p>
            <a:fld id="{693B6FCB-2BD3-47C7-A161-03FA8F5FAEC8}" type="slidenum">
              <a:rPr lang="fa-IR" smtClean="0"/>
              <a:pPr/>
              <a:t>19</a:t>
            </a:fld>
            <a:endParaRPr lang="fa-I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9B7E0AF1-B0BA-4D78-A7CE-BD95A51C306A}" type="datetimeFigureOut">
              <a:rPr lang="fa-IR" smtClean="0"/>
              <a:pPr/>
              <a:t>1435/01/13</a:t>
            </a:fld>
            <a:endParaRPr lang="fa-IR"/>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fa-IR"/>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E4AEC986-D562-496A-B201-1757EEA330DE}" type="slidenum">
              <a:rPr lang="fa-IR" smtClean="0"/>
              <a:pPr/>
              <a:t>‹#›</a:t>
            </a:fld>
            <a:endParaRPr lang="fa-I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B7E0AF1-B0BA-4D78-A7CE-BD95A51C306A}" type="datetimeFigureOut">
              <a:rPr lang="fa-IR" smtClean="0"/>
              <a:pPr/>
              <a:t>1435/01/13</a:t>
            </a:fld>
            <a:endParaRPr lang="fa-IR"/>
          </a:p>
        </p:txBody>
      </p:sp>
      <p:sp>
        <p:nvSpPr>
          <p:cNvPr id="5" name="Footer Placeholder 4"/>
          <p:cNvSpPr>
            <a:spLocks noGrp="1"/>
          </p:cNvSpPr>
          <p:nvPr>
            <p:ph type="ftr" sz="quarter" idx="11"/>
          </p:nvPr>
        </p:nvSpPr>
        <p:spPr/>
        <p:txBody>
          <a:bodyPr/>
          <a:lstStyle>
            <a:extLst/>
          </a:lstStyle>
          <a:p>
            <a:endParaRPr lang="fa-IR"/>
          </a:p>
        </p:txBody>
      </p:sp>
      <p:sp>
        <p:nvSpPr>
          <p:cNvPr id="6" name="Slide Number Placeholder 5"/>
          <p:cNvSpPr>
            <a:spLocks noGrp="1"/>
          </p:cNvSpPr>
          <p:nvPr>
            <p:ph type="sldNum" sz="quarter" idx="12"/>
          </p:nvPr>
        </p:nvSpPr>
        <p:spPr/>
        <p:txBody>
          <a:bodyPr/>
          <a:lstStyle>
            <a:extLst/>
          </a:lstStyle>
          <a:p>
            <a:fld id="{E4AEC986-D562-496A-B201-1757EEA330DE}" type="slidenum">
              <a:rPr lang="fa-IR" smtClean="0"/>
              <a:pPr/>
              <a:t>‹#›</a:t>
            </a:fld>
            <a:endParaRPr lang="fa-I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9B7E0AF1-B0BA-4D78-A7CE-BD95A51C306A}" type="datetimeFigureOut">
              <a:rPr lang="fa-IR" smtClean="0"/>
              <a:pPr/>
              <a:t>1435/01/13</a:t>
            </a:fld>
            <a:endParaRPr lang="fa-IR"/>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fa-IR"/>
          </a:p>
        </p:txBody>
      </p:sp>
      <p:sp>
        <p:nvSpPr>
          <p:cNvPr id="6" name="Slide Number Placeholder 5"/>
          <p:cNvSpPr>
            <a:spLocks noGrp="1"/>
          </p:cNvSpPr>
          <p:nvPr>
            <p:ph type="sldNum" sz="quarter" idx="12"/>
          </p:nvPr>
        </p:nvSpPr>
        <p:spPr>
          <a:xfrm>
            <a:off x="6733952" y="6555112"/>
            <a:ext cx="588336" cy="228600"/>
          </a:xfrm>
        </p:spPr>
        <p:txBody>
          <a:bodyPr/>
          <a:lstStyle>
            <a:extLst/>
          </a:lstStyle>
          <a:p>
            <a:fld id="{E4AEC986-D562-496A-B201-1757EEA330DE}" type="slidenum">
              <a:rPr lang="fa-IR" smtClean="0"/>
              <a:pPr/>
              <a:t>‹#›</a:t>
            </a:fld>
            <a:endParaRPr lang="fa-I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9B7E0AF1-B0BA-4D78-A7CE-BD95A51C306A}" type="datetimeFigureOut">
              <a:rPr lang="fa-IR" smtClean="0"/>
              <a:pPr/>
              <a:t>1435/01/13</a:t>
            </a:fld>
            <a:endParaRPr lang="fa-IR"/>
          </a:p>
        </p:txBody>
      </p:sp>
      <p:sp>
        <p:nvSpPr>
          <p:cNvPr id="6" name="Footer Placeholder 5"/>
          <p:cNvSpPr>
            <a:spLocks noGrp="1"/>
          </p:cNvSpPr>
          <p:nvPr>
            <p:ph type="ftr" sz="quarter" idx="11"/>
          </p:nvPr>
        </p:nvSpPr>
        <p:spPr/>
        <p:txBody>
          <a:bodyPr/>
          <a:lstStyle>
            <a:extLst/>
          </a:lstStyle>
          <a:p>
            <a:endParaRPr lang="fa-IR"/>
          </a:p>
        </p:txBody>
      </p:sp>
      <p:sp>
        <p:nvSpPr>
          <p:cNvPr id="7" name="Slide Number Placeholder 6"/>
          <p:cNvSpPr>
            <a:spLocks noGrp="1"/>
          </p:cNvSpPr>
          <p:nvPr>
            <p:ph type="sldNum" sz="quarter" idx="12"/>
          </p:nvPr>
        </p:nvSpPr>
        <p:spPr/>
        <p:txBody>
          <a:bodyPr/>
          <a:lstStyle>
            <a:extLst/>
          </a:lstStyle>
          <a:p>
            <a:fld id="{E4AEC986-D562-496A-B201-1757EEA330DE}" type="slidenum">
              <a:rPr lang="fa-IR" smtClean="0"/>
              <a:pPr/>
              <a:t>‹#›</a:t>
            </a:fld>
            <a:endParaRPr lang="fa-I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9B7E0AF1-B0BA-4D78-A7CE-BD95A51C306A}" type="datetimeFigureOut">
              <a:rPr lang="fa-IR" smtClean="0"/>
              <a:pPr/>
              <a:t>1435/01/13</a:t>
            </a:fld>
            <a:endParaRPr lang="fa-IR"/>
          </a:p>
        </p:txBody>
      </p:sp>
      <p:sp>
        <p:nvSpPr>
          <p:cNvPr id="8" name="Footer Placeholder 7"/>
          <p:cNvSpPr>
            <a:spLocks noGrp="1"/>
          </p:cNvSpPr>
          <p:nvPr>
            <p:ph type="ftr" sz="quarter" idx="11"/>
          </p:nvPr>
        </p:nvSpPr>
        <p:spPr/>
        <p:txBody>
          <a:bodyPr/>
          <a:lstStyle>
            <a:extLst/>
          </a:lstStyle>
          <a:p>
            <a:endParaRPr lang="fa-IR"/>
          </a:p>
        </p:txBody>
      </p:sp>
      <p:sp>
        <p:nvSpPr>
          <p:cNvPr id="9" name="Slide Number Placeholder 8"/>
          <p:cNvSpPr>
            <a:spLocks noGrp="1"/>
          </p:cNvSpPr>
          <p:nvPr>
            <p:ph type="sldNum" sz="quarter" idx="12"/>
          </p:nvPr>
        </p:nvSpPr>
        <p:spPr/>
        <p:txBody>
          <a:bodyPr/>
          <a:lstStyle>
            <a:extLst/>
          </a:lstStyle>
          <a:p>
            <a:fld id="{E4AEC986-D562-496A-B201-1757EEA330DE}" type="slidenum">
              <a:rPr lang="fa-IR" smtClean="0"/>
              <a:pPr/>
              <a:t>‹#›</a:t>
            </a:fld>
            <a:endParaRPr lang="fa-I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9B7E0AF1-B0BA-4D78-A7CE-BD95A51C306A}" type="datetimeFigureOut">
              <a:rPr lang="fa-IR" smtClean="0"/>
              <a:pPr/>
              <a:t>1435/01/13</a:t>
            </a:fld>
            <a:endParaRPr lang="fa-IR"/>
          </a:p>
        </p:txBody>
      </p:sp>
      <p:sp>
        <p:nvSpPr>
          <p:cNvPr id="4" name="Footer Placeholder 3"/>
          <p:cNvSpPr>
            <a:spLocks noGrp="1"/>
          </p:cNvSpPr>
          <p:nvPr>
            <p:ph type="ftr" sz="quarter" idx="11"/>
          </p:nvPr>
        </p:nvSpPr>
        <p:spPr/>
        <p:txBody>
          <a:bodyPr/>
          <a:lstStyle>
            <a:extLst/>
          </a:lstStyle>
          <a:p>
            <a:endParaRPr lang="fa-IR"/>
          </a:p>
        </p:txBody>
      </p:sp>
      <p:sp>
        <p:nvSpPr>
          <p:cNvPr id="5" name="Slide Number Placeholder 4"/>
          <p:cNvSpPr>
            <a:spLocks noGrp="1"/>
          </p:cNvSpPr>
          <p:nvPr>
            <p:ph type="sldNum" sz="quarter" idx="12"/>
          </p:nvPr>
        </p:nvSpPr>
        <p:spPr/>
        <p:txBody>
          <a:bodyPr/>
          <a:lstStyle>
            <a:extLst/>
          </a:lstStyle>
          <a:p>
            <a:fld id="{E4AEC986-D562-496A-B201-1757EEA330DE}" type="slidenum">
              <a:rPr lang="fa-IR" smtClean="0"/>
              <a:pPr/>
              <a:t>‹#›</a:t>
            </a:fld>
            <a:endParaRPr lang="fa-I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9B7E0AF1-B0BA-4D78-A7CE-BD95A51C306A}" type="datetimeFigureOut">
              <a:rPr lang="fa-IR" smtClean="0"/>
              <a:pPr/>
              <a:t>1435/01/13</a:t>
            </a:fld>
            <a:endParaRPr lang="fa-IR"/>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fa-IR"/>
          </a:p>
        </p:txBody>
      </p:sp>
      <p:sp>
        <p:nvSpPr>
          <p:cNvPr id="4" name="Slide Number Placeholder 3"/>
          <p:cNvSpPr>
            <a:spLocks noGrp="1"/>
          </p:cNvSpPr>
          <p:nvPr>
            <p:ph type="sldNum" sz="quarter" idx="12"/>
          </p:nvPr>
        </p:nvSpPr>
        <p:spPr/>
        <p:txBody>
          <a:bodyPr/>
          <a:lstStyle>
            <a:extLst/>
          </a:lstStyle>
          <a:p>
            <a:fld id="{E4AEC986-D562-496A-B201-1757EEA330DE}" type="slidenum">
              <a:rPr lang="fa-IR" smtClean="0"/>
              <a:pPr/>
              <a:t>‹#›</a:t>
            </a:fld>
            <a:endParaRPr lang="fa-I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9B7E0AF1-B0BA-4D78-A7CE-BD95A51C306A}" type="datetimeFigureOut">
              <a:rPr lang="fa-IR" smtClean="0"/>
              <a:pPr/>
              <a:t>1435/01/13</a:t>
            </a:fld>
            <a:endParaRPr lang="fa-IR"/>
          </a:p>
        </p:txBody>
      </p:sp>
      <p:sp>
        <p:nvSpPr>
          <p:cNvPr id="6" name="Footer Placeholder 5"/>
          <p:cNvSpPr>
            <a:spLocks noGrp="1"/>
          </p:cNvSpPr>
          <p:nvPr>
            <p:ph type="ftr" sz="quarter" idx="11"/>
          </p:nvPr>
        </p:nvSpPr>
        <p:spPr/>
        <p:txBody>
          <a:bodyPr/>
          <a:lstStyle>
            <a:extLst/>
          </a:lstStyle>
          <a:p>
            <a:endParaRPr lang="fa-IR"/>
          </a:p>
        </p:txBody>
      </p:sp>
      <p:sp>
        <p:nvSpPr>
          <p:cNvPr id="7" name="Slide Number Placeholder 6"/>
          <p:cNvSpPr>
            <a:spLocks noGrp="1"/>
          </p:cNvSpPr>
          <p:nvPr>
            <p:ph type="sldNum" sz="quarter" idx="12"/>
          </p:nvPr>
        </p:nvSpPr>
        <p:spPr/>
        <p:txBody>
          <a:bodyPr/>
          <a:lstStyle>
            <a:extLst/>
          </a:lstStyle>
          <a:p>
            <a:fld id="{E4AEC986-D562-496A-B201-1757EEA330DE}" type="slidenum">
              <a:rPr lang="fa-IR" smtClean="0"/>
              <a:pPr/>
              <a:t>‹#›</a:t>
            </a:fld>
            <a:endParaRPr lang="fa-I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9B7E0AF1-B0BA-4D78-A7CE-BD95A51C306A}" type="datetimeFigureOut">
              <a:rPr lang="fa-IR" smtClean="0"/>
              <a:pPr/>
              <a:t>1435/01/13</a:t>
            </a:fld>
            <a:endParaRPr lang="fa-IR"/>
          </a:p>
        </p:txBody>
      </p:sp>
      <p:sp>
        <p:nvSpPr>
          <p:cNvPr id="6" name="Footer Placeholder 5"/>
          <p:cNvSpPr>
            <a:spLocks noGrp="1"/>
          </p:cNvSpPr>
          <p:nvPr>
            <p:ph type="ftr" sz="quarter" idx="11"/>
          </p:nvPr>
        </p:nvSpPr>
        <p:spPr/>
        <p:txBody>
          <a:bodyPr/>
          <a:lstStyle>
            <a:extLst/>
          </a:lstStyle>
          <a:p>
            <a:endParaRPr lang="fa-IR"/>
          </a:p>
        </p:txBody>
      </p:sp>
      <p:sp>
        <p:nvSpPr>
          <p:cNvPr id="7" name="Slide Number Placeholder 6"/>
          <p:cNvSpPr>
            <a:spLocks noGrp="1"/>
          </p:cNvSpPr>
          <p:nvPr>
            <p:ph type="sldNum" sz="quarter" idx="12"/>
          </p:nvPr>
        </p:nvSpPr>
        <p:spPr/>
        <p:txBody>
          <a:bodyPr/>
          <a:lstStyle>
            <a:extLst/>
          </a:lstStyle>
          <a:p>
            <a:fld id="{E4AEC986-D562-496A-B201-1757EEA330DE}" type="slidenum">
              <a:rPr lang="fa-IR" smtClean="0"/>
              <a:pPr/>
              <a:t>‹#›</a:t>
            </a:fld>
            <a:endParaRPr lang="fa-IR"/>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B7E0AF1-B0BA-4D78-A7CE-BD95A51C306A}" type="datetimeFigureOut">
              <a:rPr lang="fa-IR" smtClean="0"/>
              <a:pPr/>
              <a:t>1435/01/13</a:t>
            </a:fld>
            <a:endParaRPr lang="fa-IR"/>
          </a:p>
        </p:txBody>
      </p:sp>
      <p:sp>
        <p:nvSpPr>
          <p:cNvPr id="5" name="Footer Placeholder 4"/>
          <p:cNvSpPr>
            <a:spLocks noGrp="1"/>
          </p:cNvSpPr>
          <p:nvPr>
            <p:ph type="ftr" sz="quarter" idx="11"/>
          </p:nvPr>
        </p:nvSpPr>
        <p:spPr/>
        <p:txBody>
          <a:bodyPr/>
          <a:lstStyle>
            <a:extLst/>
          </a:lstStyle>
          <a:p>
            <a:endParaRPr lang="fa-IR"/>
          </a:p>
        </p:txBody>
      </p:sp>
      <p:sp>
        <p:nvSpPr>
          <p:cNvPr id="6" name="Slide Number Placeholder 5"/>
          <p:cNvSpPr>
            <a:spLocks noGrp="1"/>
          </p:cNvSpPr>
          <p:nvPr>
            <p:ph type="sldNum" sz="quarter" idx="12"/>
          </p:nvPr>
        </p:nvSpPr>
        <p:spPr/>
        <p:txBody>
          <a:bodyPr/>
          <a:lstStyle>
            <a:extLst/>
          </a:lstStyle>
          <a:p>
            <a:fld id="{E4AEC986-D562-496A-B201-1757EEA330DE}" type="slidenum">
              <a:rPr lang="fa-IR" smtClean="0"/>
              <a:pPr/>
              <a:t>‹#›</a:t>
            </a:fld>
            <a:endParaRPr lang="fa-I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9B7E0AF1-B0BA-4D78-A7CE-BD95A51C306A}" type="datetimeFigureOut">
              <a:rPr lang="fa-IR" smtClean="0"/>
              <a:pPr/>
              <a:t>1435/01/13</a:t>
            </a:fld>
            <a:endParaRPr lang="fa-IR"/>
          </a:p>
        </p:txBody>
      </p:sp>
      <p:sp>
        <p:nvSpPr>
          <p:cNvPr id="5" name="Footer Placeholder 4"/>
          <p:cNvSpPr>
            <a:spLocks noGrp="1"/>
          </p:cNvSpPr>
          <p:nvPr>
            <p:ph type="ftr" sz="quarter" idx="11"/>
          </p:nvPr>
        </p:nvSpPr>
        <p:spPr>
          <a:xfrm>
            <a:off x="457200" y="6556248"/>
            <a:ext cx="3657600" cy="228600"/>
          </a:xfrm>
        </p:spPr>
        <p:txBody>
          <a:bodyPr/>
          <a:lstStyle>
            <a:extLst/>
          </a:lstStyle>
          <a:p>
            <a:endParaRPr lang="fa-IR"/>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E4AEC986-D562-496A-B201-1757EEA330DE}" type="slidenum">
              <a:rPr lang="fa-IR" smtClean="0"/>
              <a:pPr/>
              <a:t>‹#›</a:t>
            </a:fld>
            <a:endParaRPr lang="fa-I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9B7E0AF1-B0BA-4D78-A7CE-BD95A51C306A}" type="datetimeFigureOut">
              <a:rPr lang="fa-IR" smtClean="0"/>
              <a:pPr/>
              <a:t>1435/01/13</a:t>
            </a:fld>
            <a:endParaRPr lang="fa-IR"/>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fa-IR"/>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E4AEC986-D562-496A-B201-1757EEA330DE}" type="slidenum">
              <a:rPr lang="fa-IR" smtClean="0"/>
              <a:pPr/>
              <a:t>‹#›</a:t>
            </a:fld>
            <a:endParaRPr lang="fa-IR"/>
          </a:p>
        </p:txBody>
      </p:sp>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xStyles>
    <p:titleStyle>
      <a:lvl1pPr algn="l" rtl="1"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r" rtl="1"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r" rtl="1"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r" rtl="1"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r" rtl="1"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r" rtl="1"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r" rtl="1"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r" rtl="1"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r" rtl="1"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r" rtl="1"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86050" y="285728"/>
            <a:ext cx="5772136" cy="1470025"/>
          </a:xfrm>
        </p:spPr>
        <p:txBody>
          <a:bodyPr/>
          <a:lstStyle/>
          <a:p>
            <a:pPr algn="ctr"/>
            <a:r>
              <a:rPr lang="fa-IR" dirty="0" smtClean="0">
                <a:cs typeface="B Titr" pitchFamily="2" charset="-78"/>
              </a:rPr>
              <a:t>فصل یاز دهم</a:t>
            </a:r>
            <a:endParaRPr lang="fa-IR" dirty="0">
              <a:cs typeface="B Titr" pitchFamily="2" charset="-78"/>
            </a:endParaRPr>
          </a:p>
        </p:txBody>
      </p:sp>
      <p:sp>
        <p:nvSpPr>
          <p:cNvPr id="3" name="Subtitle 2"/>
          <p:cNvSpPr>
            <a:spLocks noGrp="1"/>
          </p:cNvSpPr>
          <p:nvPr>
            <p:ph type="subTitle" idx="1"/>
          </p:nvPr>
        </p:nvSpPr>
        <p:spPr>
          <a:xfrm>
            <a:off x="2928926" y="2285992"/>
            <a:ext cx="5929354" cy="4572008"/>
          </a:xfrm>
        </p:spPr>
        <p:txBody>
          <a:bodyPr>
            <a:normAutofit lnSpcReduction="10000"/>
          </a:bodyPr>
          <a:lstStyle/>
          <a:p>
            <a:pPr algn="ctr"/>
            <a:r>
              <a:rPr lang="fa-IR" sz="4300" b="1" dirty="0" smtClean="0">
                <a:solidFill>
                  <a:schemeClr val="tx1"/>
                </a:solidFill>
                <a:cs typeface="B Titr" pitchFamily="2" charset="-78"/>
              </a:rPr>
              <a:t>ایجاد و توسعه سیستم های اطلاعاتی</a:t>
            </a:r>
          </a:p>
          <a:p>
            <a:pPr algn="ctr"/>
            <a:endParaRPr lang="fa-IR" b="1" dirty="0" smtClean="0">
              <a:solidFill>
                <a:schemeClr val="tx1"/>
              </a:solidFill>
              <a:cs typeface="B Titr" pitchFamily="2" charset="-78"/>
            </a:endParaRPr>
          </a:p>
          <a:p>
            <a:pPr algn="ctr"/>
            <a:endParaRPr lang="fa-IR" b="1" dirty="0" smtClean="0">
              <a:solidFill>
                <a:schemeClr val="tx1"/>
              </a:solidFill>
              <a:cs typeface="B Titr" pitchFamily="2" charset="-78"/>
            </a:endParaRPr>
          </a:p>
          <a:p>
            <a:pPr algn="ctr"/>
            <a:endParaRPr lang="fa-IR" b="1" dirty="0" smtClean="0">
              <a:solidFill>
                <a:schemeClr val="tx1"/>
              </a:solidFill>
              <a:cs typeface="B Titr" pitchFamily="2" charset="-78"/>
            </a:endParaRPr>
          </a:p>
          <a:p>
            <a:pPr algn="ctr"/>
            <a:r>
              <a:rPr lang="fa-IR" sz="3500" b="1" dirty="0" smtClean="0">
                <a:solidFill>
                  <a:schemeClr val="tx1"/>
                </a:solidFill>
                <a:cs typeface="B Nazanin" pitchFamily="2" charset="-78"/>
              </a:rPr>
              <a:t>سمیه کرمی</a:t>
            </a:r>
          </a:p>
          <a:p>
            <a:pPr algn="ctr"/>
            <a:r>
              <a:rPr lang="fa-IR" sz="3500" b="1" dirty="0" smtClean="0">
                <a:solidFill>
                  <a:schemeClr val="tx1"/>
                </a:solidFill>
                <a:cs typeface="B Nazanin" pitchFamily="2" charset="-78"/>
              </a:rPr>
              <a:t>امير رحیمی</a:t>
            </a:r>
            <a:endParaRPr lang="fa-IR" sz="3500" b="1" dirty="0" smtClean="0">
              <a:solidFill>
                <a:schemeClr val="tx1"/>
              </a:solidFill>
              <a:cs typeface="B Nazanin" pitchFamily="2" charset="-78"/>
            </a:endParaRPr>
          </a:p>
          <a:p>
            <a:pPr algn="ctr"/>
            <a:endParaRPr lang="fa-IR" sz="3500" b="1" dirty="0">
              <a:solidFill>
                <a:schemeClr val="tx1"/>
              </a:solidFill>
              <a:cs typeface="B Nazanin" pitchFamily="2" charset="-78"/>
            </a:endParaRPr>
          </a:p>
          <a:p>
            <a:pPr algn="ctr"/>
            <a:r>
              <a:rPr lang="fa-IR" sz="2700" dirty="0" smtClean="0">
                <a:solidFill>
                  <a:schemeClr val="tx1"/>
                </a:solidFill>
                <a:cs typeface="B Nazanin" pitchFamily="2" charset="-78"/>
              </a:rPr>
              <a:t>پاییز 92</a:t>
            </a:r>
            <a:endParaRPr lang="fa-IR" sz="2700" dirty="0">
              <a:solidFill>
                <a:schemeClr val="tx1"/>
              </a:solidFill>
              <a:cs typeface="B Nazanin" pitchFamily="2" charset="-78"/>
            </a:endParaRPr>
          </a:p>
        </p:txBody>
      </p:sp>
    </p:spTree>
  </p:cSld>
  <p:clrMapOvr>
    <a:masterClrMapping/>
  </p:clrMapOvr>
  <p:transition spd="slow">
    <p:newsflash/>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14290"/>
            <a:ext cx="7500990" cy="1357298"/>
          </a:xfrm>
          <a:solidFill>
            <a:schemeClr val="bg1">
              <a:lumMod val="85000"/>
            </a:schemeClr>
          </a:solidFill>
        </p:spPr>
        <p:txBody>
          <a:bodyPr>
            <a:noAutofit/>
          </a:bodyPr>
          <a:lstStyle/>
          <a:p>
            <a:pPr algn="ctr"/>
            <a:r>
              <a:rPr lang="fa-IR" sz="4500" b="1" dirty="0">
                <a:cs typeface="B Nazanin" pitchFamily="2" charset="-78"/>
              </a:rPr>
              <a:t>چرخه حیات توسعه سیستم های اطلاعاتی</a:t>
            </a:r>
          </a:p>
        </p:txBody>
      </p:sp>
      <p:sp>
        <p:nvSpPr>
          <p:cNvPr id="3" name="Content Placeholder 2"/>
          <p:cNvSpPr>
            <a:spLocks noGrp="1"/>
          </p:cNvSpPr>
          <p:nvPr>
            <p:ph idx="1"/>
          </p:nvPr>
        </p:nvSpPr>
        <p:spPr>
          <a:xfrm>
            <a:off x="214282" y="1643050"/>
            <a:ext cx="7643866" cy="4929222"/>
          </a:xfrm>
          <a:solidFill>
            <a:schemeClr val="bg1">
              <a:lumMod val="75000"/>
            </a:schemeClr>
          </a:solidFill>
        </p:spPr>
        <p:txBody>
          <a:bodyPr>
            <a:noAutofit/>
          </a:bodyPr>
          <a:lstStyle/>
          <a:p>
            <a:pPr algn="just">
              <a:buNone/>
            </a:pPr>
            <a:r>
              <a:rPr lang="fa-IR" sz="2500" b="1" u="sng" dirty="0">
                <a:latin typeface="+mj-lt"/>
                <a:ea typeface="+mj-ea"/>
                <a:cs typeface="B Nazanin" pitchFamily="2" charset="-78"/>
              </a:rPr>
              <a:t>چرخه حیات توسعه سیستم های اطلاعاتی:</a:t>
            </a:r>
          </a:p>
          <a:p>
            <a:pPr algn="just">
              <a:buNone/>
            </a:pPr>
            <a:r>
              <a:rPr lang="fa-IR" sz="2400" b="1" dirty="0">
                <a:latin typeface="+mj-lt"/>
                <a:ea typeface="+mj-ea"/>
                <a:cs typeface="B Nazanin" pitchFamily="2" charset="-78"/>
              </a:rPr>
              <a:t>ایجاد و استقرار هر نوع سیستمی و ازجمله سیستم های اطلاعاتی، شامل مراحلی است که به مجموعه این مراحل چرخه حیات توسعه سیستم (</a:t>
            </a:r>
            <a:r>
              <a:rPr lang="en-US" sz="2400" b="1" dirty="0" smtClean="0">
                <a:latin typeface="+mj-lt"/>
                <a:ea typeface="+mj-ea"/>
                <a:cs typeface="B Nazanin" pitchFamily="2" charset="-78"/>
              </a:rPr>
              <a:t>SDLC</a:t>
            </a:r>
            <a:r>
              <a:rPr lang="fa-IR" sz="2400" b="1" dirty="0" smtClean="0">
                <a:latin typeface="+mj-lt"/>
                <a:ea typeface="+mj-ea"/>
                <a:cs typeface="B Nazanin" pitchFamily="2" charset="-78"/>
              </a:rPr>
              <a:t>) </a:t>
            </a:r>
            <a:r>
              <a:rPr lang="fa-IR" sz="2400" b="1" dirty="0">
                <a:latin typeface="+mj-lt"/>
                <a:ea typeface="+mj-ea"/>
                <a:cs typeface="B Nazanin" pitchFamily="2" charset="-78"/>
              </a:rPr>
              <a:t>گفته می </a:t>
            </a:r>
            <a:r>
              <a:rPr lang="fa-IR" sz="2400" b="1" dirty="0" smtClean="0">
                <a:latin typeface="+mj-lt"/>
                <a:ea typeface="+mj-ea"/>
                <a:cs typeface="B Nazanin" pitchFamily="2" charset="-78"/>
              </a:rPr>
              <a:t>شود.</a:t>
            </a:r>
            <a:endParaRPr lang="fa-IR" sz="2400" b="1" dirty="0">
              <a:latin typeface="+mj-lt"/>
              <a:ea typeface="+mj-ea"/>
              <a:cs typeface="B Nazanin" pitchFamily="2" charset="-78"/>
            </a:endParaRPr>
          </a:p>
          <a:p>
            <a:pPr algn="just">
              <a:buNone/>
            </a:pPr>
            <a:r>
              <a:rPr lang="fa-IR" sz="2400" b="1" dirty="0">
                <a:latin typeface="+mj-lt"/>
                <a:ea typeface="+mj-ea"/>
                <a:cs typeface="B Nazanin" pitchFamily="2" charset="-78"/>
              </a:rPr>
              <a:t> </a:t>
            </a:r>
            <a:r>
              <a:rPr lang="fa-IR" sz="2500" b="1" u="sng" dirty="0">
                <a:latin typeface="+mj-lt"/>
                <a:ea typeface="+mj-ea"/>
                <a:cs typeface="B Nazanin" pitchFamily="2" charset="-78"/>
              </a:rPr>
              <a:t>مراحل چرخه حیات توسعه سیستم های اطلاعاتی:</a:t>
            </a:r>
          </a:p>
          <a:p>
            <a:pPr marL="514350" indent="-514350" algn="just">
              <a:buFont typeface="+mj-lt"/>
              <a:buAutoNum type="arabicPeriod"/>
            </a:pPr>
            <a:r>
              <a:rPr lang="fa-IR" sz="2400" b="1" dirty="0" smtClean="0">
                <a:latin typeface="+mj-lt"/>
                <a:ea typeface="+mj-ea"/>
                <a:cs typeface="B Nazanin" pitchFamily="2" charset="-78"/>
              </a:rPr>
              <a:t>نیاز سنجی و امکان سنجی</a:t>
            </a:r>
          </a:p>
          <a:p>
            <a:pPr marL="514350" indent="-514350" algn="just">
              <a:buFont typeface="+mj-lt"/>
              <a:buAutoNum type="arabicPeriod"/>
            </a:pPr>
            <a:r>
              <a:rPr lang="fa-IR" sz="2400" b="1" dirty="0" smtClean="0">
                <a:latin typeface="+mj-lt"/>
                <a:ea typeface="+mj-ea"/>
                <a:cs typeface="B Nazanin" pitchFamily="2" charset="-78"/>
              </a:rPr>
              <a:t>تحلیل سیستم موجود</a:t>
            </a:r>
          </a:p>
          <a:p>
            <a:pPr marL="514350" indent="-514350" algn="just">
              <a:buFont typeface="+mj-lt"/>
              <a:buAutoNum type="arabicPeriod"/>
            </a:pPr>
            <a:r>
              <a:rPr lang="fa-IR" sz="2400" b="1" dirty="0" smtClean="0">
                <a:latin typeface="+mj-lt"/>
                <a:ea typeface="+mj-ea"/>
                <a:cs typeface="B Nazanin" pitchFamily="2" charset="-78"/>
              </a:rPr>
              <a:t>طراحی سیستم</a:t>
            </a:r>
          </a:p>
          <a:p>
            <a:pPr marL="514350" indent="-514350" algn="just">
              <a:buFont typeface="+mj-lt"/>
              <a:buAutoNum type="arabicPeriod"/>
            </a:pPr>
            <a:r>
              <a:rPr lang="fa-IR" sz="2400" b="1" dirty="0" smtClean="0">
                <a:latin typeface="+mj-lt"/>
                <a:ea typeface="+mj-ea"/>
                <a:cs typeface="B Nazanin" pitchFamily="2" charset="-78"/>
              </a:rPr>
              <a:t>ایجاد یا خرید</a:t>
            </a:r>
            <a:r>
              <a:rPr lang="fa-IR" sz="2400" b="1" dirty="0">
                <a:cs typeface="B Nazanin" pitchFamily="2" charset="-78"/>
              </a:rPr>
              <a:t> </a:t>
            </a:r>
            <a:r>
              <a:rPr lang="fa-IR" sz="2400" b="1" dirty="0" smtClean="0">
                <a:cs typeface="B Nazanin" pitchFamily="2" charset="-78"/>
              </a:rPr>
              <a:t>نرم افزار و</a:t>
            </a:r>
            <a:r>
              <a:rPr lang="fa-IR" sz="2400" b="1" dirty="0" smtClean="0">
                <a:latin typeface="+mj-lt"/>
                <a:ea typeface="+mj-ea"/>
                <a:cs typeface="B Nazanin" pitchFamily="2" charset="-78"/>
              </a:rPr>
              <a:t> سخت افزار برای ایجاد سیستم جدید</a:t>
            </a:r>
          </a:p>
          <a:p>
            <a:pPr marL="514350" indent="-514350" algn="just">
              <a:buFont typeface="+mj-lt"/>
              <a:buAutoNum type="arabicPeriod"/>
            </a:pPr>
            <a:r>
              <a:rPr lang="fa-IR" sz="2400" b="1" dirty="0" smtClean="0">
                <a:latin typeface="+mj-lt"/>
                <a:ea typeface="+mj-ea"/>
                <a:cs typeface="B Nazanin" pitchFamily="2" charset="-78"/>
              </a:rPr>
              <a:t>اجرای سیستم جدید</a:t>
            </a:r>
          </a:p>
          <a:p>
            <a:pPr marL="514350" indent="-514350" algn="just">
              <a:buFont typeface="+mj-lt"/>
              <a:buAutoNum type="arabicPeriod"/>
            </a:pPr>
            <a:r>
              <a:rPr lang="fa-IR" sz="2400" b="1" dirty="0" smtClean="0">
                <a:latin typeface="+mj-lt"/>
                <a:ea typeface="+mj-ea"/>
                <a:cs typeface="B Nazanin" pitchFamily="2" charset="-78"/>
              </a:rPr>
              <a:t>نگهداری</a:t>
            </a:r>
          </a:p>
        </p:txBody>
      </p:sp>
    </p:spTree>
  </p:cSld>
  <p:clrMapOvr>
    <a:masterClrMapping/>
  </p:clrMapOvr>
  <p:transition spd="slow">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85728"/>
            <a:ext cx="7239000" cy="857256"/>
          </a:xfrm>
          <a:solidFill>
            <a:schemeClr val="bg1">
              <a:lumMod val="85000"/>
            </a:schemeClr>
          </a:solidFill>
        </p:spPr>
        <p:txBody>
          <a:bodyPr>
            <a:normAutofit/>
          </a:bodyPr>
          <a:lstStyle/>
          <a:p>
            <a:pPr algn="ctr"/>
            <a:r>
              <a:rPr lang="fa-IR" b="1" dirty="0" smtClean="0">
                <a:cs typeface="B Nazanin" pitchFamily="2" charset="-78"/>
              </a:rPr>
              <a:t>نیاز سنجی و امکان سنجی</a:t>
            </a:r>
            <a:endParaRPr lang="fa-IR" b="1" dirty="0">
              <a:cs typeface="B Nazanin" pitchFamily="2" charset="-78"/>
            </a:endParaRPr>
          </a:p>
        </p:txBody>
      </p:sp>
      <p:sp>
        <p:nvSpPr>
          <p:cNvPr id="3" name="Content Placeholder 2"/>
          <p:cNvSpPr>
            <a:spLocks noGrp="1"/>
          </p:cNvSpPr>
          <p:nvPr>
            <p:ph idx="1"/>
          </p:nvPr>
        </p:nvSpPr>
        <p:spPr>
          <a:solidFill>
            <a:schemeClr val="bg1">
              <a:lumMod val="75000"/>
            </a:schemeClr>
          </a:solidFill>
        </p:spPr>
        <p:txBody>
          <a:bodyPr/>
          <a:lstStyle/>
          <a:p>
            <a:pPr marL="514350" indent="-514350" algn="just">
              <a:buNone/>
            </a:pPr>
            <a:r>
              <a:rPr lang="fa-IR" sz="4000" dirty="0" smtClean="0">
                <a:cs typeface="B Nazanin" pitchFamily="2" charset="-78"/>
              </a:rPr>
              <a:t>هدف اصلی این مرحله، شناسایی مسائل، مشکلات و نیازهای اطلاعاتی سازمان و بررسی امکان حل آنها از طریق سیستمهای رایانه ای  اطلاعاتی است. مطالعه امکان سنجی، با یک مشکل عمده که لازم است با استفاده از سیستم ها و فناوری های اطلاعاتی حل می شود، شروع می شود.</a:t>
            </a:r>
            <a:endParaRPr lang="fa-IR" sz="4000" dirty="0">
              <a:cs typeface="B Nazanin" pitchFamily="2" charset="-78"/>
            </a:endParaRPr>
          </a:p>
        </p:txBody>
      </p:sp>
    </p:spTree>
  </p:cSld>
  <p:clrMapOvr>
    <a:masterClrMapping/>
  </p:clrMapOvr>
  <p:transition spd="slow">
    <p:circl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51506"/>
          </a:xfrm>
          <a:solidFill>
            <a:schemeClr val="bg1">
              <a:lumMod val="85000"/>
            </a:schemeClr>
          </a:solidFill>
        </p:spPr>
        <p:txBody>
          <a:bodyPr/>
          <a:lstStyle/>
          <a:p>
            <a:pPr algn="ctr"/>
            <a:r>
              <a:rPr lang="fa-IR" b="1" dirty="0" smtClean="0">
                <a:cs typeface="B Nazanin" pitchFamily="2" charset="-78"/>
              </a:rPr>
              <a:t>انواع امکان سنجی</a:t>
            </a:r>
            <a:endParaRPr lang="fa-IR" b="1" dirty="0">
              <a:cs typeface="B Nazanin" pitchFamily="2" charset="-78"/>
            </a:endParaRPr>
          </a:p>
        </p:txBody>
      </p:sp>
      <p:sp>
        <p:nvSpPr>
          <p:cNvPr id="3" name="Content Placeholder 2"/>
          <p:cNvSpPr>
            <a:spLocks noGrp="1"/>
          </p:cNvSpPr>
          <p:nvPr>
            <p:ph idx="1"/>
          </p:nvPr>
        </p:nvSpPr>
        <p:spPr>
          <a:xfrm>
            <a:off x="428596" y="1428736"/>
            <a:ext cx="7358114" cy="4929222"/>
          </a:xfrm>
          <a:solidFill>
            <a:schemeClr val="bg1">
              <a:lumMod val="75000"/>
            </a:schemeClr>
          </a:solidFill>
        </p:spPr>
        <p:txBody>
          <a:bodyPr>
            <a:noAutofit/>
          </a:bodyPr>
          <a:lstStyle/>
          <a:p>
            <a:pPr algn="just">
              <a:spcBef>
                <a:spcPts val="0"/>
              </a:spcBef>
            </a:pPr>
            <a:r>
              <a:rPr lang="fa-IR" sz="2300" dirty="0" smtClean="0">
                <a:cs typeface="B Nazanin" pitchFamily="2" charset="-78"/>
              </a:rPr>
              <a:t>الف) </a:t>
            </a:r>
            <a:r>
              <a:rPr lang="fa-IR" sz="2300" u="sng" dirty="0" smtClean="0">
                <a:cs typeface="B Nazanin" pitchFamily="2" charset="-78"/>
              </a:rPr>
              <a:t>امکان سنجی فنی: </a:t>
            </a:r>
            <a:r>
              <a:rPr lang="fa-IR" sz="2300" dirty="0" smtClean="0">
                <a:cs typeface="B Nazanin" pitchFamily="2" charset="-78"/>
              </a:rPr>
              <a:t>در این نوع امکان سنجی، بررسی می شود که آیا فناوری های موجود، پاسخگوی انتظارات و نیازهای مطرح شده خواهد بود یا خیر. پاسخ منفی به این سوال به مفهوم لزوم بکارگیری سیستم ها و فناوریهای جدید است.</a:t>
            </a:r>
          </a:p>
          <a:p>
            <a:pPr algn="just">
              <a:spcBef>
                <a:spcPts val="0"/>
              </a:spcBef>
            </a:pPr>
            <a:r>
              <a:rPr lang="fa-IR" sz="2300" dirty="0" smtClean="0">
                <a:cs typeface="B Nazanin" pitchFamily="2" charset="-78"/>
              </a:rPr>
              <a:t>ب) </a:t>
            </a:r>
            <a:r>
              <a:rPr lang="fa-IR" sz="2300" u="sng" dirty="0" smtClean="0">
                <a:cs typeface="B Nazanin" pitchFamily="2" charset="-78"/>
              </a:rPr>
              <a:t>امکان سنجی اقتصادی: </a:t>
            </a:r>
            <a:r>
              <a:rPr lang="fa-IR" sz="2300" dirty="0" smtClean="0">
                <a:cs typeface="B Nazanin" pitchFamily="2" charset="-78"/>
              </a:rPr>
              <a:t>بودجه مورد نیاز جهت ایجاد و اجرای سیستم جدید دراین امکان سنجی بررسی می شود.</a:t>
            </a:r>
          </a:p>
          <a:p>
            <a:pPr algn="just">
              <a:spcBef>
                <a:spcPts val="0"/>
              </a:spcBef>
            </a:pPr>
            <a:r>
              <a:rPr lang="fa-IR" sz="2300" dirty="0" smtClean="0">
                <a:cs typeface="B Nazanin" pitchFamily="2" charset="-78"/>
              </a:rPr>
              <a:t>ج) </a:t>
            </a:r>
            <a:r>
              <a:rPr lang="fa-IR" sz="2300" u="sng" dirty="0" smtClean="0">
                <a:cs typeface="B Nazanin" pitchFamily="2" charset="-78"/>
              </a:rPr>
              <a:t>امکان سنجی قانونی: </a:t>
            </a:r>
            <a:r>
              <a:rPr lang="fa-IR" sz="2300" dirty="0" smtClean="0">
                <a:cs typeface="B Nazanin" pitchFamily="2" charset="-78"/>
              </a:rPr>
              <a:t>موانع قانونی و حقوقی سیستم جدید برای اجرای تعهدات سازمان در این امکانسنجی بررسی می شود.</a:t>
            </a:r>
          </a:p>
          <a:p>
            <a:pPr algn="just">
              <a:spcBef>
                <a:spcPts val="0"/>
              </a:spcBef>
            </a:pPr>
            <a:r>
              <a:rPr lang="fa-IR" sz="2300" dirty="0" smtClean="0">
                <a:cs typeface="B Nazanin" pitchFamily="2" charset="-78"/>
              </a:rPr>
              <a:t>د) </a:t>
            </a:r>
            <a:r>
              <a:rPr lang="fa-IR" sz="2300" u="sng" dirty="0" smtClean="0">
                <a:cs typeface="B Nazanin" pitchFamily="2" charset="-78"/>
              </a:rPr>
              <a:t>امکان سنجی عملیاتی: </a:t>
            </a:r>
            <a:r>
              <a:rPr lang="fa-IR" sz="2300" dirty="0" smtClean="0">
                <a:cs typeface="B Nazanin" pitchFamily="2" charset="-78"/>
              </a:rPr>
              <a:t>روش ها و رویه های موجود و مهارت های فعلی کارکنان برای اجرای سیستم جدید در این امکان سنجی بررسی می شود و در صورت لزوم، روش های جدید و آموزش کارکنان، باید صورت گیرد.</a:t>
            </a:r>
          </a:p>
          <a:p>
            <a:pPr algn="just">
              <a:spcBef>
                <a:spcPts val="0"/>
              </a:spcBef>
            </a:pPr>
            <a:r>
              <a:rPr lang="fa-IR" sz="2300" u="sng" dirty="0" smtClean="0">
                <a:cs typeface="B Nazanin" pitchFamily="2" charset="-78"/>
              </a:rPr>
              <a:t>امکان سنجی زمانی: </a:t>
            </a:r>
            <a:r>
              <a:rPr lang="fa-IR" sz="2300" dirty="0" smtClean="0">
                <a:cs typeface="B Nazanin" pitchFamily="2" charset="-78"/>
              </a:rPr>
              <a:t>بررسی اینکه آیا سیستم جدید در چارچوب زمانی معقول، جنبه عملیاتی به خود خواهد گرفت یا خیر، بوسیله این امکان سنجی صورت می گیرد.</a:t>
            </a:r>
          </a:p>
        </p:txBody>
      </p:sp>
    </p:spTree>
  </p:cSld>
  <p:clrMapOvr>
    <a:masterClrMapping/>
  </p:clrMapOvr>
  <p:transition spd="slow">
    <p:newsfla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1480"/>
            <a:ext cx="7239000" cy="642942"/>
          </a:xfrm>
          <a:solidFill>
            <a:schemeClr val="bg1">
              <a:lumMod val="85000"/>
            </a:schemeClr>
          </a:solidFill>
        </p:spPr>
        <p:txBody>
          <a:bodyPr/>
          <a:lstStyle/>
          <a:p>
            <a:pPr algn="ctr"/>
            <a:r>
              <a:rPr lang="fa-IR" dirty="0" smtClean="0">
                <a:cs typeface="B Nazanin" pitchFamily="2" charset="-78"/>
              </a:rPr>
              <a:t>تحلیل سیستم موجود</a:t>
            </a:r>
            <a:endParaRPr lang="fa-IR" b="1" dirty="0">
              <a:cs typeface="B Nazanin" pitchFamily="2" charset="-78"/>
            </a:endParaRPr>
          </a:p>
        </p:txBody>
      </p:sp>
      <p:sp>
        <p:nvSpPr>
          <p:cNvPr id="3" name="Content Placeholder 2"/>
          <p:cNvSpPr>
            <a:spLocks noGrp="1"/>
          </p:cNvSpPr>
          <p:nvPr>
            <p:ph idx="1"/>
          </p:nvPr>
        </p:nvSpPr>
        <p:spPr>
          <a:xfrm>
            <a:off x="500034" y="1428736"/>
            <a:ext cx="7239000" cy="4703444"/>
          </a:xfrm>
          <a:solidFill>
            <a:schemeClr val="bg1">
              <a:lumMod val="75000"/>
            </a:schemeClr>
          </a:solidFill>
        </p:spPr>
        <p:txBody>
          <a:bodyPr>
            <a:normAutofit fontScale="92500" lnSpcReduction="10000"/>
          </a:bodyPr>
          <a:lstStyle/>
          <a:p>
            <a:pPr algn="just">
              <a:buNone/>
            </a:pPr>
            <a:r>
              <a:rPr lang="fa-IR" sz="2500" dirty="0" smtClean="0">
                <a:cs typeface="B Nazanin" pitchFamily="2" charset="-78"/>
              </a:rPr>
              <a:t>بطور کلی، تجزیه و تحلیل سیستم، مبین فرآیند بررسی وضعیت موجود یک سیستم بمنظور بهبود بخشیدن به آن از طریق ارائه راه حل های بهتر و مناسب تر است که شامل دو مرحله </a:t>
            </a:r>
            <a:r>
              <a:rPr lang="fa-IR" sz="2500" u="sng" dirty="0" smtClean="0">
                <a:cs typeface="B Nazanin" pitchFamily="2" charset="-78"/>
              </a:rPr>
              <a:t>مطالعه مقدماتی </a:t>
            </a:r>
            <a:r>
              <a:rPr lang="fa-IR" sz="2500" dirty="0" smtClean="0">
                <a:cs typeface="B Nazanin" pitchFamily="2" charset="-78"/>
              </a:rPr>
              <a:t>و </a:t>
            </a:r>
            <a:r>
              <a:rPr lang="fa-IR" sz="2500" u="sng" dirty="0" smtClean="0">
                <a:cs typeface="B Nazanin" pitchFamily="2" charset="-78"/>
              </a:rPr>
              <a:t>مطالعه تفصیلی </a:t>
            </a:r>
            <a:r>
              <a:rPr lang="fa-IR" sz="2500" dirty="0" smtClean="0">
                <a:cs typeface="B Nazanin" pitchFamily="2" charset="-78"/>
              </a:rPr>
              <a:t>است.</a:t>
            </a:r>
          </a:p>
          <a:p>
            <a:pPr algn="just">
              <a:buNone/>
            </a:pPr>
            <a:endParaRPr lang="fa-IR" sz="2500" dirty="0" smtClean="0">
              <a:cs typeface="B Nazanin" pitchFamily="2" charset="-78"/>
            </a:endParaRPr>
          </a:p>
          <a:p>
            <a:pPr algn="just">
              <a:buFont typeface="Wingdings" pitchFamily="2" charset="2"/>
              <a:buChar char="v"/>
            </a:pPr>
            <a:r>
              <a:rPr lang="fa-IR" sz="2500" dirty="0" smtClean="0">
                <a:cs typeface="B Nazanin" pitchFamily="2" charset="-78"/>
              </a:rPr>
              <a:t> </a:t>
            </a:r>
            <a:r>
              <a:rPr lang="fa-IR" sz="2500" b="1" u="sng" dirty="0" smtClean="0">
                <a:cs typeface="B Nazanin" pitchFamily="2" charset="-78"/>
              </a:rPr>
              <a:t>مطالعه مقدماتی </a:t>
            </a:r>
            <a:r>
              <a:rPr lang="fa-IR" sz="2500" dirty="0" smtClean="0">
                <a:cs typeface="B Nazanin" pitchFamily="2" charset="-78"/>
              </a:rPr>
              <a:t>با دریافت درخواست ها برای ایجاد  و طراحی یک سیستم جدید یا بهبود سیستم موجود آغاز می شود. هدف از این مطالعه در درجه اول، تعیین و تشخیص ماهیت مساله، شناخت امکانات و محدودیت های مطالعه و نیز تعیین ارزشمندی درخواست مربوطه است و پس از آن تعیین گام های بعدی اجرای پروژه است. </a:t>
            </a:r>
          </a:p>
          <a:p>
            <a:pPr algn="just">
              <a:buNone/>
            </a:pPr>
            <a:r>
              <a:rPr lang="fa-IR" sz="2500" dirty="0" smtClean="0">
                <a:cs typeface="B Nazanin" pitchFamily="2" charset="-78"/>
              </a:rPr>
              <a:t>نتایج مطالعه ممکن است توقف مطالعه، بهبود سیستم موجود با انجام پاره ای اصلاحات یا طراحی سیستم جدیدی را پیشنهاد کند. در صورتی که نتیجه مطالعه موید طراحی سیستم جدید باشد در این صورت مطالعه تفصیلی آغاز می شود.</a:t>
            </a:r>
            <a:endParaRPr lang="fa-IR" sz="2500" dirty="0">
              <a:cs typeface="B Nazanin" pitchFamily="2" charset="-78"/>
            </a:endParaRPr>
          </a:p>
        </p:txBody>
      </p:sp>
    </p:spTree>
  </p:cSld>
  <p:clrMapOvr>
    <a:masterClrMapping/>
  </p:clrMapOvr>
  <p:transition spd="slow">
    <p:strips dir="l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7186634" cy="4929221"/>
          </a:xfrm>
          <a:solidFill>
            <a:schemeClr val="bg1">
              <a:lumMod val="75000"/>
            </a:schemeClr>
          </a:solidFill>
        </p:spPr>
        <p:txBody>
          <a:bodyPr>
            <a:normAutofit/>
          </a:bodyPr>
          <a:lstStyle/>
          <a:p>
            <a:pPr algn="just">
              <a:buFont typeface="Wingdings" pitchFamily="2" charset="2"/>
              <a:buChar char="v"/>
            </a:pPr>
            <a:r>
              <a:rPr lang="fa-IR" sz="3000" u="sng" dirty="0" smtClean="0">
                <a:cs typeface="B Nazanin" pitchFamily="2" charset="-78"/>
              </a:rPr>
              <a:t>در </a:t>
            </a:r>
            <a:r>
              <a:rPr lang="fa-IR" sz="3000" b="1" u="sng" dirty="0" smtClean="0">
                <a:cs typeface="B Nazanin" pitchFamily="2" charset="-78"/>
              </a:rPr>
              <a:t>مطالعه تفصیلی </a:t>
            </a:r>
          </a:p>
          <a:p>
            <a:pPr algn="just">
              <a:buNone/>
            </a:pPr>
            <a:r>
              <a:rPr lang="fa-IR" sz="3000" dirty="0" smtClean="0">
                <a:cs typeface="B Nazanin" pitchFamily="2" charset="-78"/>
              </a:rPr>
              <a:t>تحلیلگر به مطالعه دقیق و تفصیلی سیستم موجود می پردازد و با مدیران و مسئولان اجرایی، بمنظور تشخیص مساله و نیازهای اطلاعاتی سیستم، به مصاحبه می نشیند. تحلیل گر باید راه حل های مختلفی را برای طراحی سیستم جدیدی بررسی کند و به صورت گزارشی رسمی، حاوی پیشنهادات تحلیل گر، به مدیریت ارائه شد. مدیریت سطوح بالا یکی از راه حل های پیشنهاد شده را بر می گزیند.</a:t>
            </a:r>
            <a:endParaRPr lang="fa-IR" sz="3000" dirty="0">
              <a:cs typeface="B Nazanin" pitchFamily="2" charset="-78"/>
            </a:endParaRPr>
          </a:p>
        </p:txBody>
      </p:sp>
    </p:spTree>
  </p:cSld>
  <p:clrMapOvr>
    <a:masterClrMapping/>
  </p:clrMapOvr>
  <p:transition spd="slow">
    <p:whee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608630"/>
          </a:xfrm>
          <a:solidFill>
            <a:schemeClr val="bg1">
              <a:lumMod val="85000"/>
            </a:schemeClr>
          </a:solidFill>
        </p:spPr>
        <p:txBody>
          <a:bodyPr/>
          <a:lstStyle/>
          <a:p>
            <a:pPr algn="ctr"/>
            <a:r>
              <a:rPr lang="fa-IR" b="1" dirty="0" smtClean="0">
                <a:cs typeface="B Nazanin" pitchFamily="2" charset="-78"/>
              </a:rPr>
              <a:t>طراحی سیستم جدید</a:t>
            </a:r>
            <a:endParaRPr lang="fa-IR" b="1" dirty="0">
              <a:cs typeface="B Nazanin" pitchFamily="2" charset="-78"/>
            </a:endParaRPr>
          </a:p>
        </p:txBody>
      </p:sp>
      <p:sp>
        <p:nvSpPr>
          <p:cNvPr id="3" name="Content Placeholder 2"/>
          <p:cNvSpPr>
            <a:spLocks noGrp="1"/>
          </p:cNvSpPr>
          <p:nvPr>
            <p:ph idx="1"/>
          </p:nvPr>
        </p:nvSpPr>
        <p:spPr>
          <a:xfrm>
            <a:off x="457200" y="1609416"/>
            <a:ext cx="7239000" cy="4034162"/>
          </a:xfrm>
          <a:solidFill>
            <a:schemeClr val="bg1">
              <a:lumMod val="75000"/>
            </a:schemeClr>
          </a:solidFill>
        </p:spPr>
        <p:txBody>
          <a:bodyPr>
            <a:normAutofit/>
          </a:bodyPr>
          <a:lstStyle/>
          <a:p>
            <a:pPr algn="just">
              <a:buNone/>
            </a:pPr>
            <a:r>
              <a:rPr lang="fa-IR" dirty="0" smtClean="0">
                <a:cs typeface="B Nazanin" pitchFamily="2" charset="-78"/>
              </a:rPr>
              <a:t>طراحی سیستم جدید شامل مستندسازی کارهای سیستم موجود یا تعیین نیازمندیها برای یک سیستم جدید است. در این مرحله، تحلیل گران، درگیر دو نوع فعالیت مرتبط به هم یعنی تعیین نیازمندیها و تعیین مشخصات نیازمندیها می شوند. هدف طراحی سیستم تشریح سیستم جدید بعنوان مجموعه ای از مدل ها و زیر سیستم ها است. باید اهداف سازمانی مشخص بوده تا برنامه ریزی صورت گیرد. اهداف و نتایج مورد انتظار باید بصورتی قابل اندازه گیری تعریف شوند و محدوده زمانی و هزینه نیل به آنها نیز مشخص باشد تا طراحی سیستم امکان پذیر گردد.</a:t>
            </a:r>
          </a:p>
        </p:txBody>
      </p:sp>
    </p:spTree>
  </p:cSld>
  <p:clrMapOvr>
    <a:masterClrMapping/>
  </p:clrMapOvr>
  <p:transition spd="slow">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51506"/>
          </a:xfrm>
          <a:solidFill>
            <a:schemeClr val="bg1">
              <a:lumMod val="85000"/>
            </a:schemeClr>
          </a:solidFill>
        </p:spPr>
        <p:txBody>
          <a:bodyPr/>
          <a:lstStyle/>
          <a:p>
            <a:pPr algn="ctr"/>
            <a:r>
              <a:rPr lang="fa-IR" b="1" dirty="0" smtClean="0">
                <a:cs typeface="B Nazanin" pitchFamily="2" charset="-78"/>
              </a:rPr>
              <a:t>اجزای فنی طراحی سیستم</a:t>
            </a:r>
            <a:endParaRPr lang="fa-IR" b="1" dirty="0">
              <a:cs typeface="B Nazanin" pitchFamily="2" charset="-78"/>
            </a:endParaRPr>
          </a:p>
        </p:txBody>
      </p:sp>
      <p:sp>
        <p:nvSpPr>
          <p:cNvPr id="3" name="Content Placeholder 2"/>
          <p:cNvSpPr>
            <a:spLocks noGrp="1"/>
          </p:cNvSpPr>
          <p:nvPr>
            <p:ph idx="1"/>
          </p:nvPr>
        </p:nvSpPr>
        <p:spPr>
          <a:solidFill>
            <a:schemeClr val="bg1">
              <a:lumMod val="75000"/>
            </a:schemeClr>
          </a:solidFill>
        </p:spPr>
        <p:txBody>
          <a:bodyPr>
            <a:normAutofit/>
          </a:bodyPr>
          <a:lstStyle/>
          <a:p>
            <a:pPr marL="514350" indent="-514350" algn="just">
              <a:buFont typeface="+mj-lt"/>
              <a:buAutoNum type="arabicPeriod"/>
            </a:pPr>
            <a:r>
              <a:rPr lang="fa-IR" sz="2500" dirty="0" smtClean="0">
                <a:cs typeface="B Nazanin" pitchFamily="2" charset="-78"/>
              </a:rPr>
              <a:t>انتخاب نوع سیستم</a:t>
            </a:r>
          </a:p>
          <a:p>
            <a:pPr marL="514350" indent="-514350" algn="just">
              <a:buFont typeface="+mj-lt"/>
              <a:buAutoNum type="arabicPeriod"/>
            </a:pPr>
            <a:r>
              <a:rPr lang="fa-IR" sz="2500" dirty="0" smtClean="0">
                <a:cs typeface="B Nazanin" pitchFamily="2" charset="-78"/>
              </a:rPr>
              <a:t>طراحی خروجی ها</a:t>
            </a:r>
          </a:p>
          <a:p>
            <a:pPr marL="514350" indent="-514350" algn="just">
              <a:buFont typeface="+mj-lt"/>
              <a:buAutoNum type="arabicPeriod"/>
            </a:pPr>
            <a:r>
              <a:rPr lang="fa-IR" sz="2500" dirty="0" smtClean="0">
                <a:cs typeface="B Nazanin" pitchFamily="2" charset="-78"/>
              </a:rPr>
              <a:t>طراحی فایل ها و پایگاه های داده</a:t>
            </a:r>
          </a:p>
          <a:p>
            <a:pPr marL="514350" indent="-514350" algn="just">
              <a:buFont typeface="+mj-lt"/>
              <a:buAutoNum type="arabicPeriod"/>
            </a:pPr>
            <a:r>
              <a:rPr lang="fa-IR" sz="2500" dirty="0" smtClean="0">
                <a:cs typeface="B Nazanin" pitchFamily="2" charset="-78"/>
              </a:rPr>
              <a:t>طراحی عملیات پردازش</a:t>
            </a:r>
          </a:p>
          <a:p>
            <a:pPr marL="514350" indent="-514350" algn="just">
              <a:buFont typeface="+mj-lt"/>
              <a:buAutoNum type="arabicPeriod"/>
            </a:pPr>
            <a:r>
              <a:rPr lang="fa-IR" sz="2500" dirty="0" smtClean="0">
                <a:cs typeface="B Nazanin" pitchFamily="2" charset="-78"/>
              </a:rPr>
              <a:t>طراحی ورودی ها</a:t>
            </a:r>
          </a:p>
          <a:p>
            <a:pPr marL="514350" indent="-514350" algn="just">
              <a:buNone/>
            </a:pPr>
            <a:r>
              <a:rPr lang="fa-IR" sz="2500" dirty="0" smtClean="0">
                <a:cs typeface="B Nazanin" pitchFamily="2" charset="-78"/>
              </a:rPr>
              <a:t>در مورد انتخاب نوع سیستم باید بیان داشت که به دو گونه روش دسته ای و زمان واقعی تقسیم می شوند. در </a:t>
            </a:r>
            <a:r>
              <a:rPr lang="fa-IR" sz="3000" b="1" dirty="0" smtClean="0">
                <a:cs typeface="B Nazanin" pitchFamily="2" charset="-78"/>
              </a:rPr>
              <a:t>روش دسته ای </a:t>
            </a:r>
            <a:r>
              <a:rPr lang="fa-IR" sz="2500" dirty="0" smtClean="0">
                <a:cs typeface="B Nazanin" pitchFamily="2" charset="-78"/>
              </a:rPr>
              <a:t>حجم زیاد داده های ورودی برای کنترل بهتر، به یکسری دسته ها تقسیم بندی می شوند و در فواصل زمانی منظم، بصورت هفتگی یا ماهانه عمل می کنند مانند پرداخت حقوق، گزارش دهی منظم اطلاعات به مدیریت.</a:t>
            </a:r>
            <a:endParaRPr lang="fa-IR" sz="2500" dirty="0">
              <a:cs typeface="B Nazanin" pitchFamily="2" charset="-78"/>
            </a:endParaRPr>
          </a:p>
        </p:txBody>
      </p:sp>
    </p:spTree>
  </p:cSld>
  <p:clrMapOvr>
    <a:masterClrMapping/>
  </p:clrMapOvr>
  <p:transition spd="slow">
    <p:split orient="vert" dir="in"/>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7329510" cy="6000792"/>
          </a:xfrm>
          <a:solidFill>
            <a:schemeClr val="bg1">
              <a:lumMod val="75000"/>
            </a:schemeClr>
          </a:solidFill>
        </p:spPr>
        <p:txBody>
          <a:bodyPr>
            <a:normAutofit/>
          </a:bodyPr>
          <a:lstStyle/>
          <a:p>
            <a:pPr>
              <a:buNone/>
            </a:pPr>
            <a:r>
              <a:rPr lang="fa-IR" sz="2500" dirty="0" smtClean="0">
                <a:cs typeface="B Nazanin" pitchFamily="2" charset="-78"/>
              </a:rPr>
              <a:t>در </a:t>
            </a:r>
            <a:r>
              <a:rPr lang="fa-IR" sz="3000" b="1" dirty="0" smtClean="0">
                <a:cs typeface="B Nazanin" pitchFamily="2" charset="-78"/>
              </a:rPr>
              <a:t>سیستم های زمان واقعی </a:t>
            </a:r>
            <a:r>
              <a:rPr lang="fa-IR" sz="2500" dirty="0" smtClean="0">
                <a:cs typeface="B Nazanin" pitchFamily="2" charset="-78"/>
              </a:rPr>
              <a:t>به محض اینکه داده ها دریافت شدند در فایل های اصلی برای پاسخ به کاربران تحت پردازش قرار می گیرند یعنی سیستم به محض اینکه رویدادی رخ می دهد به آن پاسخ می دهد. برای اینکه یک سیستم بصورت لحظه ای عمل کند، لازم است فایل های اصلی، بصورت برخط در دسترس باشند تا بطور پیوسته، داده ها را در محل وقوع آنها پردازش نمایند نظیر سیستم ها عابر بانک.</a:t>
            </a:r>
          </a:p>
          <a:p>
            <a:pPr>
              <a:buNone/>
            </a:pPr>
            <a:r>
              <a:rPr lang="fa-IR" sz="2500" dirty="0" smtClean="0">
                <a:cs typeface="B Nazanin" pitchFamily="2" charset="-78"/>
              </a:rPr>
              <a:t>اغلب سیستم ها ترکیبی از این دو هستندو سیستم های دسته ای برای جاهایی مناسب هستند که حج زیادی از داده ها باید پردازش شوند و کار پردازش، مهم تر از زمان پردازش است. پردازش برخط برای جایی مناسب است که حجم عملیات، زیاد نیست ولی پاسخ فوری نیاز است.</a:t>
            </a:r>
          </a:p>
          <a:p>
            <a:pPr>
              <a:buNone/>
            </a:pPr>
            <a:r>
              <a:rPr lang="fa-IR" sz="2500" dirty="0" smtClean="0">
                <a:cs typeface="B Nazanin" pitchFamily="2" charset="-78"/>
              </a:rPr>
              <a:t>لذا انتخاب پردازش داده ها به روش برخط یا دسته ای، اغلب، بستگی به اهمیت هرکدام از آنها برای سازمان دارد. یک سیستم برخط، نسبت به سیستم دسته ای هم از لحاظ قابلیت رایانه ای که نیاز دارد و هم از لحاظ هزینه های توسعه آن، گرانتر است.</a:t>
            </a:r>
          </a:p>
          <a:p>
            <a:pPr>
              <a:buNone/>
            </a:pPr>
            <a:endParaRPr lang="fa-IR" sz="2500" dirty="0" smtClean="0">
              <a:cs typeface="B Nazanin" pitchFamily="2" charset="-78"/>
            </a:endParaRPr>
          </a:p>
        </p:txBody>
      </p:sp>
    </p:spTree>
  </p:cSld>
  <p:clrMapOvr>
    <a:masterClrMapping/>
  </p:clrMapOvr>
  <p:transition spd="slow">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7329510" cy="4857784"/>
          </a:xfrm>
          <a:solidFill>
            <a:schemeClr val="bg1">
              <a:lumMod val="75000"/>
            </a:schemeClr>
          </a:solidFill>
        </p:spPr>
        <p:txBody>
          <a:bodyPr>
            <a:normAutofit/>
          </a:bodyPr>
          <a:lstStyle/>
          <a:p>
            <a:pPr algn="just">
              <a:buNone/>
            </a:pPr>
            <a:endParaRPr lang="fa-IR" sz="2500" b="1" u="sng" dirty="0" smtClean="0">
              <a:cs typeface="B Nazanin" pitchFamily="2" charset="-78"/>
            </a:endParaRPr>
          </a:p>
          <a:p>
            <a:pPr algn="just">
              <a:buNone/>
            </a:pPr>
            <a:r>
              <a:rPr lang="fa-IR" sz="4400" b="1" dirty="0" smtClean="0">
                <a:cs typeface="B Nazanin" pitchFamily="2" charset="-78"/>
              </a:rPr>
              <a:t>سیستم تعاملی</a:t>
            </a:r>
          </a:p>
          <a:p>
            <a:pPr algn="just">
              <a:buNone/>
            </a:pPr>
            <a:r>
              <a:rPr lang="fa-IR" sz="2500" b="1" dirty="0" smtClean="0">
                <a:cs typeface="B Nazanin" pitchFamily="2" charset="-78"/>
              </a:rPr>
              <a:t> </a:t>
            </a:r>
            <a:r>
              <a:rPr lang="fa-IR" sz="3500" dirty="0" smtClean="0">
                <a:cs typeface="B Nazanin" pitchFamily="2" charset="-78"/>
              </a:rPr>
              <a:t>سیستمی است که کاربر می تواند با آن گفتگوی واقعی داشته باشد نظیر واژه پرداز، زیرا کاربر داده را وارد نموده و رایانه بطور مستقیم و آنی پاسخ می دهد و کاربر می تواند پاسخ را نظارت کند و نتایج را با انعطاف پذیری بالاییکه دارد اصلاح کند. بیشتر سیستم های کسب و کار برخط، تعاملی هستند.</a:t>
            </a:r>
          </a:p>
          <a:p>
            <a:pPr algn="just">
              <a:buNone/>
            </a:pPr>
            <a:endParaRPr lang="fa-IR" sz="2500" dirty="0">
              <a:cs typeface="B Nazanin" pitchFamily="2" charset="-78"/>
            </a:endParaRPr>
          </a:p>
        </p:txBody>
      </p:sp>
    </p:spTree>
  </p:cSld>
  <p:clrMapOvr>
    <a:masterClrMapping/>
  </p:clrMapOvr>
  <p:transition spd="slow">
    <p:wedg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428604"/>
            <a:ext cx="7543824" cy="2143116"/>
          </a:xfrm>
          <a:solidFill>
            <a:schemeClr val="bg1">
              <a:lumMod val="85000"/>
            </a:schemeClr>
          </a:solidFill>
        </p:spPr>
        <p:txBody>
          <a:bodyPr>
            <a:normAutofit fontScale="90000"/>
          </a:bodyPr>
          <a:lstStyle/>
          <a:p>
            <a:pPr algn="ctr"/>
            <a:r>
              <a:rPr lang="fa-IR" b="1" dirty="0" smtClean="0">
                <a:cs typeface="B Nazanin" pitchFamily="2" charset="-78"/>
              </a:rPr>
              <a:t/>
            </a:r>
            <a:br>
              <a:rPr lang="fa-IR" b="1" dirty="0" smtClean="0">
                <a:cs typeface="B Nazanin" pitchFamily="2" charset="-78"/>
              </a:rPr>
            </a:br>
            <a:r>
              <a:rPr lang="fa-IR" b="1" dirty="0" smtClean="0">
                <a:cs typeface="B Nazanin" pitchFamily="2" charset="-78"/>
              </a:rPr>
              <a:t/>
            </a:r>
            <a:br>
              <a:rPr lang="fa-IR" b="1" dirty="0" smtClean="0">
                <a:cs typeface="B Nazanin" pitchFamily="2" charset="-78"/>
              </a:rPr>
            </a:br>
            <a:r>
              <a:rPr lang="fa-IR" b="1" dirty="0" smtClean="0">
                <a:cs typeface="B Nazanin" pitchFamily="2" charset="-78"/>
              </a:rPr>
              <a:t/>
            </a:r>
            <a:br>
              <a:rPr lang="fa-IR" b="1" dirty="0" smtClean="0">
                <a:cs typeface="B Nazanin" pitchFamily="2" charset="-78"/>
              </a:rPr>
            </a:br>
            <a:r>
              <a:rPr lang="fa-IR" dirty="0" smtClean="0">
                <a:cs typeface="B Nazanin" pitchFamily="2" charset="-78"/>
              </a:rPr>
              <a:t/>
            </a:r>
            <a:br>
              <a:rPr lang="fa-IR" dirty="0" smtClean="0">
                <a:cs typeface="B Nazanin" pitchFamily="2" charset="-78"/>
              </a:rPr>
            </a:br>
            <a:r>
              <a:rPr lang="fa-IR" dirty="0" smtClean="0">
                <a:cs typeface="B Nazanin" pitchFamily="2" charset="-78"/>
              </a:rPr>
              <a:t/>
            </a:r>
            <a:br>
              <a:rPr lang="fa-IR" dirty="0" smtClean="0">
                <a:cs typeface="B Nazanin" pitchFamily="2" charset="-78"/>
              </a:rPr>
            </a:br>
            <a:r>
              <a:rPr lang="fa-IR" b="1" u="sng" dirty="0" smtClean="0">
                <a:cs typeface="B Nazanin" pitchFamily="2" charset="-78"/>
              </a:rPr>
              <a:t/>
            </a:r>
            <a:br>
              <a:rPr lang="fa-IR" b="1" u="sng" dirty="0" smtClean="0">
                <a:cs typeface="B Nazanin" pitchFamily="2" charset="-78"/>
              </a:rPr>
            </a:br>
            <a:r>
              <a:rPr lang="fa-IR" dirty="0" smtClean="0">
                <a:cs typeface="B Nazanin" pitchFamily="2" charset="-78"/>
              </a:rPr>
              <a:t> ایجاد سیستم جدید</a:t>
            </a:r>
            <a:br>
              <a:rPr lang="fa-IR" dirty="0" smtClean="0">
                <a:cs typeface="B Nazanin" pitchFamily="2" charset="-78"/>
              </a:rPr>
            </a:br>
            <a:r>
              <a:rPr lang="fa-IR" u="sng" dirty="0" smtClean="0">
                <a:cs typeface="B Nazanin" pitchFamily="2" charset="-78"/>
              </a:rPr>
              <a:t>ایجاد یا خرید سخت افزارها و نرم افزار های لازم برای ایجاد سیستم جدید </a:t>
            </a:r>
            <a:r>
              <a:rPr lang="fa-IR" b="1" dirty="0" smtClean="0">
                <a:cs typeface="B Nazanin" pitchFamily="2" charset="-78"/>
              </a:rPr>
              <a:t/>
            </a:r>
            <a:br>
              <a:rPr lang="fa-IR" b="1" dirty="0" smtClean="0">
                <a:cs typeface="B Nazanin" pitchFamily="2" charset="-78"/>
              </a:rPr>
            </a:br>
            <a:endParaRPr lang="fa-IR" dirty="0"/>
          </a:p>
        </p:txBody>
      </p:sp>
      <p:sp>
        <p:nvSpPr>
          <p:cNvPr id="3" name="Content Placeholder 2"/>
          <p:cNvSpPr>
            <a:spLocks noGrp="1"/>
          </p:cNvSpPr>
          <p:nvPr>
            <p:ph idx="1"/>
          </p:nvPr>
        </p:nvSpPr>
        <p:spPr>
          <a:xfrm>
            <a:off x="457200" y="3000372"/>
            <a:ext cx="7472386" cy="3125791"/>
          </a:xfrm>
          <a:solidFill>
            <a:schemeClr val="bg1">
              <a:lumMod val="75000"/>
            </a:schemeClr>
          </a:solidFill>
        </p:spPr>
        <p:txBody>
          <a:bodyPr/>
          <a:lstStyle/>
          <a:p>
            <a:pPr algn="just">
              <a:buNone/>
            </a:pPr>
            <a:endParaRPr lang="fa-IR" dirty="0" smtClean="0">
              <a:cs typeface="B Nazanin" pitchFamily="2" charset="-78"/>
            </a:endParaRPr>
          </a:p>
          <a:p>
            <a:pPr algn="just">
              <a:buNone/>
            </a:pPr>
            <a:r>
              <a:rPr lang="fa-IR" dirty="0" smtClean="0">
                <a:cs typeface="B Nazanin" pitchFamily="2" charset="-78"/>
              </a:rPr>
              <a:t>متخصصان سیستم های اطلاعاتی،  سیستمی ایجاد می کنند که مشخصات تدوین شده در مرحله طراحی را برآورد سازدو کاربران سیستم جدید طی مرحله توسعه سیستم را تست می کنند اما از آن تا مرحله اجرای نهایی سیستم، استفاده نمی کنند مگر اینکه مرحله توسعه نمونه سازی شده باشد.</a:t>
            </a:r>
          </a:p>
          <a:p>
            <a:endParaRPr lang="fa-IR" dirty="0"/>
          </a:p>
        </p:txBody>
      </p:sp>
    </p:spTree>
  </p:cSld>
  <p:clrMapOvr>
    <a:masterClrMapping/>
  </p:clrMapOvr>
  <p:transition spd="slow">
    <p:spli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51506"/>
          </a:xfrm>
          <a:solidFill>
            <a:schemeClr val="bg1">
              <a:lumMod val="85000"/>
            </a:schemeClr>
          </a:solidFill>
        </p:spPr>
        <p:txBody>
          <a:bodyPr/>
          <a:lstStyle/>
          <a:p>
            <a:pPr algn="ctr"/>
            <a:r>
              <a:rPr lang="fa-IR" b="1" dirty="0" smtClean="0">
                <a:cs typeface="B Nazanin" pitchFamily="2" charset="-78"/>
              </a:rPr>
              <a:t>اجرای سیستم جدید</a:t>
            </a:r>
            <a:endParaRPr lang="fa-IR" b="1" dirty="0">
              <a:cs typeface="B Nazanin" pitchFamily="2" charset="-78"/>
            </a:endParaRPr>
          </a:p>
        </p:txBody>
      </p:sp>
      <p:sp>
        <p:nvSpPr>
          <p:cNvPr id="3" name="Content Placeholder 2"/>
          <p:cNvSpPr>
            <a:spLocks noGrp="1"/>
          </p:cNvSpPr>
          <p:nvPr>
            <p:ph idx="1"/>
          </p:nvPr>
        </p:nvSpPr>
        <p:spPr>
          <a:solidFill>
            <a:schemeClr val="bg1">
              <a:lumMod val="75000"/>
            </a:schemeClr>
          </a:solidFill>
        </p:spPr>
        <p:txBody>
          <a:bodyPr>
            <a:normAutofit/>
          </a:bodyPr>
          <a:lstStyle/>
          <a:p>
            <a:pPr algn="just">
              <a:buNone/>
            </a:pPr>
            <a:r>
              <a:rPr lang="fa-IR" sz="2500" dirty="0" smtClean="0">
                <a:cs typeface="B Nazanin" pitchFamily="2" charset="-78"/>
              </a:rPr>
              <a:t>نصب و تغییر از یک سیستم قدیمی به سیستم جدید، شامل آموزش کارکنان جهت استفاده از سیستم جدید و مرحله ای کردن اجرای سیستم جدید می باشد. اکثر مشکلات عمده چرخه حیات توسعه سیستم، از این مرحله ناشی می شود</a:t>
            </a:r>
          </a:p>
          <a:p>
            <a:pPr algn="just">
              <a:buNone/>
            </a:pPr>
            <a:endParaRPr lang="fa-IR" sz="3000" b="1" dirty="0" smtClean="0">
              <a:cs typeface="B Nazanin" pitchFamily="2" charset="-78"/>
            </a:endParaRPr>
          </a:p>
          <a:p>
            <a:pPr algn="just">
              <a:buNone/>
            </a:pPr>
            <a:r>
              <a:rPr lang="fa-IR" sz="3000" b="1" dirty="0" smtClean="0">
                <a:cs typeface="B Nazanin" pitchFamily="2" charset="-78"/>
              </a:rPr>
              <a:t>روش های اجرای سیستم های جدید:</a:t>
            </a:r>
          </a:p>
          <a:p>
            <a:pPr algn="just"/>
            <a:r>
              <a:rPr lang="fa-IR" sz="2500" dirty="0" smtClean="0">
                <a:cs typeface="B Nazanin" pitchFamily="2" charset="-78"/>
              </a:rPr>
              <a:t>روش موازی یا همزمان</a:t>
            </a:r>
          </a:p>
          <a:p>
            <a:pPr algn="just"/>
            <a:r>
              <a:rPr lang="fa-IR" sz="2500" dirty="0" smtClean="0">
                <a:cs typeface="B Nazanin" pitchFamily="2" charset="-78"/>
              </a:rPr>
              <a:t>روش تدریجی یا مرحله ای</a:t>
            </a:r>
          </a:p>
          <a:p>
            <a:pPr algn="just"/>
            <a:r>
              <a:rPr lang="fa-IR" sz="2500" dirty="0" smtClean="0">
                <a:cs typeface="B Nazanin" pitchFamily="2" charset="-78"/>
              </a:rPr>
              <a:t>روش یکباره</a:t>
            </a:r>
          </a:p>
          <a:p>
            <a:pPr algn="just"/>
            <a:r>
              <a:rPr lang="fa-IR" sz="2500" dirty="0" smtClean="0">
                <a:cs typeface="B Nazanin" pitchFamily="2" charset="-78"/>
              </a:rPr>
              <a:t>روش اجرای آزمایشی</a:t>
            </a:r>
          </a:p>
          <a:p>
            <a:pPr>
              <a:buNone/>
            </a:pPr>
            <a:endParaRPr lang="fa-IR" dirty="0"/>
          </a:p>
        </p:txBody>
      </p:sp>
    </p:spTree>
  </p:cSld>
  <p:clrMapOvr>
    <a:masterClrMapping/>
  </p:clrMapOvr>
  <p:transition spd="slow">
    <p:strips dir="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428604"/>
            <a:ext cx="7786742" cy="6126187"/>
          </a:xfrm>
          <a:solidFill>
            <a:schemeClr val="bg1">
              <a:lumMod val="75000"/>
            </a:schemeClr>
          </a:solidFill>
        </p:spPr>
        <p:txBody>
          <a:bodyPr>
            <a:noAutofit/>
          </a:bodyPr>
          <a:lstStyle/>
          <a:p>
            <a:pPr algn="just">
              <a:buNone/>
            </a:pPr>
            <a:r>
              <a:rPr lang="fa-IR" sz="2300" b="1" u="sng" dirty="0" smtClean="0">
                <a:cs typeface="B Nazanin" pitchFamily="2" charset="-78"/>
              </a:rPr>
              <a:t>روش موازی یا همزمان: </a:t>
            </a:r>
            <a:r>
              <a:rPr lang="fa-IR" sz="2400" dirty="0" smtClean="0">
                <a:cs typeface="B Nazanin" pitchFamily="2" charset="-78"/>
              </a:rPr>
              <a:t>طبق این روش سیستم موجود(جاری) و سیستم جدید، بطور همزمان اجرا می شوند واین امر تا زمان کسب اطمینان نسبت به کارایی سیستم جدید، ادامه پیدا می کند.حسن این روش آن است که در کارهای جاری موسسه، اختلالی پیش نمی آید وعیب آن، نیاز به صرف هزینه بسیار است زیرا موسسه باید هزینه اجرای دو روش را به طور همزمان تقبل کند</a:t>
            </a:r>
            <a:endParaRPr lang="fa-IR" sz="2300" b="1" u="sng" dirty="0" smtClean="0">
              <a:cs typeface="B Nazanin" pitchFamily="2" charset="-78"/>
            </a:endParaRPr>
          </a:p>
          <a:p>
            <a:pPr algn="just">
              <a:buNone/>
            </a:pPr>
            <a:r>
              <a:rPr lang="fa-IR" sz="2300" b="1" u="sng" dirty="0" smtClean="0">
                <a:cs typeface="B Nazanin" pitchFamily="2" charset="-78"/>
              </a:rPr>
              <a:t>روش تدریجی یا مرحله ای: </a:t>
            </a:r>
            <a:r>
              <a:rPr lang="fa-IR" sz="2300" dirty="0" smtClean="0">
                <a:cs typeface="B Nazanin" pitchFamily="2" charset="-78"/>
              </a:rPr>
              <a:t>در این روش طرح جدید به تدریج پیاده می شود و طرح جاری به تدریج کنار گذاشته می شود. به این ترتیب قسمتی از کار بر اساس نظم قدیم که در حال کنار گذاشتن است، انجام می شود و انجام بقیه کار برعهده نظام جدید است. بعضی از قسمت های کار نیز توسط هر دو نظام (قدیم و جدید) انجام می گیرد تا کم کم نظام جدید جایگزین نظام پیشین شود.</a:t>
            </a:r>
          </a:p>
          <a:p>
            <a:pPr algn="just">
              <a:buNone/>
            </a:pPr>
            <a:r>
              <a:rPr lang="fa-IR" sz="2300" dirty="0" smtClean="0">
                <a:cs typeface="B Nazanin" pitchFamily="2" charset="-78"/>
              </a:rPr>
              <a:t>هزینه این روش از روش موازی کمتر است و نیز عوامل اجرایی فرصت بیشتری خواهند داشت تا با روش جدید آشنا شوند و ضمن اجرا مشکلات احتماتی را مرتفع کنند. از محدودیت های این روش، یکی آن است که ممکن است استقرار طرح جدید به کندی صورت گیرد و دیگری اینکه چون هر دو نظام بطور متداخل اجرا می شوند ممکن است ارزیابی نحوه عملکرد طرح جدید به آسانی میسر نشود.</a:t>
            </a:r>
            <a:endParaRPr lang="fa-IR" sz="2300" dirty="0">
              <a:cs typeface="B Nazanin" pitchFamily="2" charset="-78"/>
            </a:endParaRPr>
          </a:p>
        </p:txBody>
      </p:sp>
    </p:spTree>
  </p:cSld>
  <p:clrMapOvr>
    <a:masterClrMapping/>
  </p:clrMapOvr>
  <p:transition spd="slow">
    <p:wedg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7472386" cy="6286544"/>
          </a:xfrm>
          <a:solidFill>
            <a:schemeClr val="bg1">
              <a:lumMod val="75000"/>
            </a:schemeClr>
          </a:solidFill>
        </p:spPr>
        <p:txBody>
          <a:bodyPr>
            <a:normAutofit fontScale="92500" lnSpcReduction="10000"/>
          </a:bodyPr>
          <a:lstStyle/>
          <a:p>
            <a:pPr algn="just">
              <a:buNone/>
            </a:pPr>
            <a:endParaRPr lang="fa-IR" sz="2300" b="1" u="sng" dirty="0" smtClean="0">
              <a:latin typeface="+mj-lt"/>
              <a:ea typeface="+mj-ea"/>
              <a:cs typeface="B Nazanin" pitchFamily="2" charset="-78"/>
            </a:endParaRPr>
          </a:p>
          <a:p>
            <a:pPr algn="just">
              <a:buNone/>
            </a:pPr>
            <a:r>
              <a:rPr lang="fa-IR" sz="2400" b="1" u="sng" dirty="0" smtClean="0">
                <a:cs typeface="B Nazanin" pitchFamily="2" charset="-78"/>
              </a:rPr>
              <a:t>روش یکباره: </a:t>
            </a:r>
            <a:r>
              <a:rPr lang="fa-IR" sz="2400" dirty="0" smtClean="0">
                <a:cs typeface="B Nazanin" pitchFamily="2" charset="-78"/>
              </a:rPr>
              <a:t>در این روش از تاریخ معین، سیستم قدیم کنار گذاشته و سیستم جدید، جایگزین آن می شود. حسن  این روش آن است که پیاده کردن طرح جدید به سرعت انجام میشود و نیز هزینه اجرای آن در مقایسه با روش های پیشین پایین تراست. با وجود  این تا زمانی که نسبت به نتایج مثبت ناشی از اجرای طرح جدید اطمینان حاصل نشده است و نیز در صورتی که قرار باشد روش جدید در قلمروی وسیعی از سازمان به اجرا درآید و استقرار آن تغییرات وسیعی را ایجاد کند، اجرا به روش یکباره توصیه نمی شود</a:t>
            </a:r>
            <a:endParaRPr lang="fa-IR" sz="2300" b="1" u="sng" dirty="0" smtClean="0">
              <a:latin typeface="+mj-lt"/>
              <a:ea typeface="+mj-ea"/>
              <a:cs typeface="B Nazanin" pitchFamily="2" charset="-78"/>
            </a:endParaRPr>
          </a:p>
          <a:p>
            <a:pPr algn="just">
              <a:buNone/>
            </a:pPr>
            <a:r>
              <a:rPr lang="fa-IR" sz="2300" b="1" u="sng" dirty="0" smtClean="0">
                <a:latin typeface="+mj-lt"/>
                <a:ea typeface="+mj-ea"/>
                <a:cs typeface="B Nazanin" pitchFamily="2" charset="-78"/>
              </a:rPr>
              <a:t>روش اجرای آزمایشی: </a:t>
            </a:r>
            <a:r>
              <a:rPr lang="fa-IR" sz="2500" dirty="0" smtClean="0">
                <a:latin typeface="+mj-lt"/>
                <a:ea typeface="+mj-ea"/>
                <a:cs typeface="B Nazanin" pitchFamily="2" charset="-78"/>
              </a:rPr>
              <a:t>چنانچه اجرای سیستم پیشنهادی، تغییرات گسترده و وسیعی را در سازمان ایجاد کند و متضمن استفاده از تکنیک های جدید باشد، روش اجرای آزمایشی توصیه می شود. بدین ترتیب که در یک بخش از سازمان روش جدید به اجرا گذارده می شود و ضمن عمل، نقایص و ایرادات آن برطرف می گردد و پس از تغییرات و اصلاحات لازم، چنانچه نتایج حاصله، مثبت باشد براساس کی از روشهای موازی، تدریجی و یا یکباره در کل سازمان پیاده می شود.</a:t>
            </a:r>
          </a:p>
          <a:p>
            <a:pPr algn="just">
              <a:buNone/>
            </a:pPr>
            <a:r>
              <a:rPr lang="fa-IR" sz="2500" dirty="0" smtClean="0">
                <a:latin typeface="+mj-lt"/>
                <a:ea typeface="+mj-ea"/>
                <a:cs typeface="B Nazanin" pitchFamily="2" charset="-78"/>
              </a:rPr>
              <a:t>حسن این روش در این است که چون ابتدا بطور نمونه و آزمایشی در بخش کوچکی از سازمان اجرا می شود. چناچه نتایج منفی به بار آورد، کوشش و هزینه کمتری را هدر می دهد. عیب آن نیز در این است که مبنای مناسبی جهت ارزیابی روش جدید به دست  نمی دهد.</a:t>
            </a:r>
          </a:p>
        </p:txBody>
      </p:sp>
    </p:spTree>
  </p:cSld>
  <p:clrMapOvr>
    <a:masterClrMapping/>
  </p:clrMapOvr>
  <p:transition spd="slow">
    <p:diamon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608630"/>
          </a:xfrm>
          <a:solidFill>
            <a:schemeClr val="bg1">
              <a:lumMod val="85000"/>
            </a:schemeClr>
          </a:solidFill>
        </p:spPr>
        <p:txBody>
          <a:bodyPr/>
          <a:lstStyle/>
          <a:p>
            <a:pPr algn="ctr"/>
            <a:r>
              <a:rPr lang="fa-IR" b="1" dirty="0" smtClean="0">
                <a:cs typeface="B Nazanin" pitchFamily="2" charset="-78"/>
              </a:rPr>
              <a:t>نگهداری و ارزیابی سیستم جدید</a:t>
            </a:r>
            <a:endParaRPr lang="fa-IR" b="1" dirty="0">
              <a:cs typeface="B Nazanin" pitchFamily="2" charset="-78"/>
            </a:endParaRPr>
          </a:p>
        </p:txBody>
      </p:sp>
      <p:sp>
        <p:nvSpPr>
          <p:cNvPr id="3" name="Content Placeholder 2"/>
          <p:cNvSpPr>
            <a:spLocks noGrp="1"/>
          </p:cNvSpPr>
          <p:nvPr>
            <p:ph idx="1"/>
          </p:nvPr>
        </p:nvSpPr>
        <p:spPr>
          <a:xfrm>
            <a:off x="457200" y="1214422"/>
            <a:ext cx="7239000" cy="5241314"/>
          </a:xfrm>
          <a:solidFill>
            <a:schemeClr val="bg1">
              <a:lumMod val="75000"/>
            </a:schemeClr>
          </a:solidFill>
        </p:spPr>
        <p:txBody>
          <a:bodyPr>
            <a:normAutofit/>
          </a:bodyPr>
          <a:lstStyle/>
          <a:p>
            <a:pPr algn="just">
              <a:buNone/>
            </a:pPr>
            <a:r>
              <a:rPr lang="fa-IR" sz="2500" dirty="0" smtClean="0">
                <a:cs typeface="B Nazanin" pitchFamily="2" charset="-78"/>
              </a:rPr>
              <a:t>هدف از </a:t>
            </a:r>
            <a:r>
              <a:rPr lang="fa-IR" sz="25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cs typeface="B Nazanin" pitchFamily="2" charset="-78"/>
              </a:rPr>
              <a:t>نگهداری سیستم </a:t>
            </a:r>
            <a:r>
              <a:rPr lang="fa-IR" sz="2500" dirty="0" smtClean="0">
                <a:cs typeface="B Nazanin" pitchFamily="2" charset="-78"/>
              </a:rPr>
              <a:t>کاهش یا ثابت نگهداشتن خطاها به روشی که سیستم بتواند بطور کارآمد اجرا شود و نیز اصلاح سیستم با ارائه ویژگیهای جدید یا بهبود عملکرد سیستم فراتر از آنچه که در مرحله نیازسنجی تعیین شده است، می باشد.</a:t>
            </a:r>
          </a:p>
          <a:p>
            <a:pPr algn="just">
              <a:buNone/>
            </a:pPr>
            <a:r>
              <a:rPr lang="fa-IR" sz="25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cs typeface="B Nazanin" pitchFamily="2" charset="-78"/>
              </a:rPr>
              <a:t>ارزیابی سیستم </a:t>
            </a:r>
            <a:r>
              <a:rPr lang="fa-IR" sz="2500" dirty="0" smtClean="0">
                <a:cs typeface="B Nazanin" pitchFamily="2" charset="-78"/>
              </a:rPr>
              <a:t>های اطلاعاتی یک موضوع چند سطحی است که شامل سطح فنی، سطح مفهومی، و سطح اثربخشی است.</a:t>
            </a:r>
          </a:p>
          <a:p>
            <a:pPr algn="just">
              <a:buNone/>
            </a:pPr>
            <a:r>
              <a:rPr lang="fa-IR" sz="2500" b="1" u="sng" dirty="0" smtClean="0">
                <a:cs typeface="B Nazanin" pitchFamily="2" charset="-78"/>
              </a:rPr>
              <a:t>سطح فنی </a:t>
            </a:r>
            <a:r>
              <a:rPr lang="fa-IR" sz="2500" dirty="0" smtClean="0">
                <a:cs typeface="B Nazanin" pitchFamily="2" charset="-78"/>
              </a:rPr>
              <a:t>مبین صحت و کارایی سیستمی که اطلاعات را تولید و ارائه می کند می باشد.</a:t>
            </a:r>
          </a:p>
          <a:p>
            <a:pPr algn="just">
              <a:buNone/>
            </a:pPr>
            <a:r>
              <a:rPr lang="fa-IR" sz="2500" b="1" u="sng" dirty="0" smtClean="0">
                <a:cs typeface="B Nazanin" pitchFamily="2" charset="-78"/>
              </a:rPr>
              <a:t>سطح مفهومی</a:t>
            </a:r>
            <a:r>
              <a:rPr lang="fa-IR" sz="2500" dirty="0" smtClean="0">
                <a:cs typeface="B Nazanin" pitchFamily="2" charset="-78"/>
              </a:rPr>
              <a:t>، به موفقیت سیستم اطلاعاتی در انتقال درست مفاهیم مورد نظر فرستنده اشاره دارد. </a:t>
            </a:r>
          </a:p>
          <a:p>
            <a:pPr algn="just">
              <a:buNone/>
            </a:pPr>
            <a:r>
              <a:rPr lang="fa-IR" sz="2500" b="1" u="sng" dirty="0" smtClean="0">
                <a:cs typeface="B Nazanin" pitchFamily="2" charset="-78"/>
              </a:rPr>
              <a:t>سطح اثر بخشی</a:t>
            </a:r>
            <a:r>
              <a:rPr lang="fa-IR" sz="2500" dirty="0" smtClean="0">
                <a:cs typeface="B Nazanin" pitchFamily="2" charset="-78"/>
              </a:rPr>
              <a:t>، بیانگر اثر اطلاعات بر دریافت کننده است.</a:t>
            </a:r>
          </a:p>
        </p:txBody>
      </p:sp>
    </p:spTree>
  </p:cSld>
  <p:clrMapOvr>
    <a:masterClrMapping/>
  </p:clrMapOvr>
  <p:transition spd="slow">
    <p:newsfla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8604"/>
            <a:ext cx="7472386" cy="1143008"/>
          </a:xfrm>
          <a:solidFill>
            <a:schemeClr val="bg1">
              <a:lumMod val="85000"/>
            </a:schemeClr>
          </a:solidFill>
        </p:spPr>
        <p:txBody>
          <a:bodyPr>
            <a:normAutofit fontScale="90000"/>
          </a:bodyPr>
          <a:lstStyle/>
          <a:p>
            <a:pPr algn="ctr"/>
            <a:r>
              <a:rPr lang="fa-IR" b="1" dirty="0" smtClean="0">
                <a:cs typeface="B Nazanin" pitchFamily="2" charset="-78"/>
              </a:rPr>
              <a:t/>
            </a:r>
            <a:br>
              <a:rPr lang="fa-IR" b="1" dirty="0" smtClean="0">
                <a:cs typeface="B Nazanin" pitchFamily="2" charset="-78"/>
              </a:rPr>
            </a:br>
            <a:r>
              <a:rPr lang="fa-IR" b="1" dirty="0" smtClean="0">
                <a:cs typeface="B Nazanin" pitchFamily="2" charset="-78"/>
              </a:rPr>
              <a:t/>
            </a:r>
            <a:br>
              <a:rPr lang="fa-IR" b="1" dirty="0" smtClean="0">
                <a:cs typeface="B Nazanin" pitchFamily="2" charset="-78"/>
              </a:rPr>
            </a:br>
            <a:r>
              <a:rPr lang="fa-IR" dirty="0" smtClean="0">
                <a:cs typeface="B Nazanin" pitchFamily="2" charset="-78"/>
              </a:rPr>
              <a:t> روشهای توسعه سيستم هاي اطلاعاتي در چرخه حیات</a:t>
            </a:r>
            <a:endParaRPr lang="fa-IR" b="1" dirty="0">
              <a:cs typeface="B Nazanin" pitchFamily="2" charset="-78"/>
            </a:endParaRPr>
          </a:p>
        </p:txBody>
      </p:sp>
      <p:sp>
        <p:nvSpPr>
          <p:cNvPr id="3" name="Content Placeholder 2"/>
          <p:cNvSpPr>
            <a:spLocks noGrp="1"/>
          </p:cNvSpPr>
          <p:nvPr>
            <p:ph idx="1"/>
          </p:nvPr>
        </p:nvSpPr>
        <p:spPr>
          <a:xfrm>
            <a:off x="457200" y="1785925"/>
            <a:ext cx="7472386" cy="3786215"/>
          </a:xfrm>
          <a:solidFill>
            <a:schemeClr val="bg1">
              <a:lumMod val="75000"/>
            </a:schemeClr>
          </a:solidFill>
        </p:spPr>
        <p:txBody>
          <a:bodyPr>
            <a:normAutofit/>
          </a:bodyPr>
          <a:lstStyle/>
          <a:p>
            <a:pPr algn="just">
              <a:buFont typeface="Wingdings" pitchFamily="2" charset="2"/>
              <a:buChar char="v"/>
            </a:pPr>
            <a:r>
              <a:rPr lang="fa-IR" b="1" dirty="0" smtClean="0">
                <a:cs typeface="B Nazanin" pitchFamily="2" charset="-78"/>
              </a:rPr>
              <a:t>مدل آبشاری</a:t>
            </a:r>
          </a:p>
          <a:p>
            <a:pPr algn="just">
              <a:buFont typeface="Wingdings" pitchFamily="2" charset="2"/>
              <a:buChar char="v"/>
            </a:pPr>
            <a:r>
              <a:rPr lang="fa-IR" b="1" dirty="0" smtClean="0">
                <a:cs typeface="B Nazanin" pitchFamily="2" charset="-78"/>
              </a:rPr>
              <a:t>مدل نمونه سازی</a:t>
            </a:r>
          </a:p>
          <a:p>
            <a:pPr algn="just">
              <a:buNone/>
            </a:pPr>
            <a:endParaRPr lang="fa-IR" b="1" dirty="0" smtClean="0">
              <a:cs typeface="B Nazanin" pitchFamily="2" charset="-78"/>
            </a:endParaRPr>
          </a:p>
          <a:p>
            <a:pPr algn="just">
              <a:buNone/>
            </a:pPr>
            <a:r>
              <a:rPr lang="fa-IR" dirty="0" smtClean="0">
                <a:cs typeface="B Nazanin" pitchFamily="2" charset="-78"/>
              </a:rPr>
              <a:t>به نظر می رسد سیستم های جدید آهسته و به تدریج از یک مرحله به مرحله دیگر می روند اما در عمل این چنین نیست. مدیران و برنامه نویسان برای حرکت در چرخه حیات توسعه سیستم می توانند از مدل های مختلفی استفاده نمایند.</a:t>
            </a:r>
            <a:endParaRPr lang="fa-IR" dirty="0">
              <a:cs typeface="B Nazanin" pitchFamily="2" charset="-78"/>
            </a:endParaRPr>
          </a:p>
        </p:txBody>
      </p:sp>
    </p:spTree>
  </p:cSld>
  <p:clrMapOvr>
    <a:masterClrMapping/>
  </p:clrMapOvr>
  <p:transition spd="slow">
    <p:plus/>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680068"/>
          </a:xfrm>
          <a:solidFill>
            <a:schemeClr val="bg1">
              <a:lumMod val="85000"/>
            </a:schemeClr>
          </a:solidFill>
        </p:spPr>
        <p:txBody>
          <a:bodyPr/>
          <a:lstStyle/>
          <a:p>
            <a:pPr algn="ctr"/>
            <a:r>
              <a:rPr lang="fa-IR" b="1" dirty="0" smtClean="0">
                <a:cs typeface="B Nazanin" pitchFamily="2" charset="-78"/>
              </a:rPr>
              <a:t>مدل آبشاری</a:t>
            </a:r>
            <a:endParaRPr lang="fa-IR" b="1" dirty="0">
              <a:cs typeface="B Nazanin" pitchFamily="2" charset="-78"/>
            </a:endParaRPr>
          </a:p>
        </p:txBody>
      </p:sp>
      <p:sp>
        <p:nvSpPr>
          <p:cNvPr id="3" name="Content Placeholder 2"/>
          <p:cNvSpPr>
            <a:spLocks noGrp="1"/>
          </p:cNvSpPr>
          <p:nvPr>
            <p:ph idx="1"/>
          </p:nvPr>
        </p:nvSpPr>
        <p:spPr>
          <a:xfrm>
            <a:off x="457200" y="1500174"/>
            <a:ext cx="7239000" cy="4955562"/>
          </a:xfrm>
          <a:solidFill>
            <a:schemeClr val="bg1">
              <a:lumMod val="75000"/>
            </a:schemeClr>
          </a:solidFill>
        </p:spPr>
        <p:txBody>
          <a:bodyPr>
            <a:normAutofit/>
          </a:bodyPr>
          <a:lstStyle/>
          <a:p>
            <a:pPr algn="just">
              <a:buNone/>
            </a:pPr>
            <a:r>
              <a:rPr lang="fa-IR" sz="2500" dirty="0" smtClean="0">
                <a:cs typeface="B Nazanin" pitchFamily="2" charset="-78"/>
              </a:rPr>
              <a:t>این مدل در سال 1970 بوسیله رویس ارائه شد که بر طبق آن، جریان توسعه بصورت مستقیم از بالا به پایین (مانند آبشار) است. درروش آبشاری، مراحل نمی توانند تکرار شوند و نتایج تایید شده هر مرحله به عنوان ورودی مرحله بعد مورد استفاده قرار می گیرد. ساختار خطی مدل آبشاری و عدم تکرار مراحل، استفاده از آن را برای مدیران نسبتا آسان می سازد.</a:t>
            </a:r>
          </a:p>
          <a:p>
            <a:pPr algn="just">
              <a:buNone/>
            </a:pPr>
            <a:r>
              <a:rPr lang="fa-IR" sz="2500" dirty="0" smtClean="0">
                <a:cs typeface="B Nazanin" pitchFamily="2" charset="-78"/>
              </a:rPr>
              <a:t>با اینکه مدل آبشاری از انعطاف پذیری بالایی برخوردار است، هیچ مکانیزم رسمی برای تعدیل و اصلاح فرآیند وجود نخواهد داشت. مدیر پروژه ای که عمدتاً از مدل آبشاری استفاده می کند، تغییرات پیشنهادی را در یک پایگاه داده ذخیره می کند و در پایان پروژه آنها را بررسی می کند تا اینکه تصمیم بگیرند آیا به پروژه دیگری برای برآوردن نیازها لازم است یا نه؟</a:t>
            </a:r>
            <a:endParaRPr lang="fa-IR" sz="2500" dirty="0">
              <a:cs typeface="B Nazanin" pitchFamily="2" charset="-78"/>
            </a:endParaRPr>
          </a:p>
        </p:txBody>
      </p:sp>
    </p:spTree>
  </p:cSld>
  <p:clrMapOvr>
    <a:masterClrMapping/>
  </p:clrMapOvr>
  <p:transition spd="slow">
    <p:zoom dir="in"/>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680068"/>
          </a:xfrm>
          <a:solidFill>
            <a:schemeClr val="bg1">
              <a:lumMod val="95000"/>
            </a:schemeClr>
          </a:solidFill>
        </p:spPr>
        <p:txBody>
          <a:bodyPr/>
          <a:lstStyle/>
          <a:p>
            <a:pPr algn="ctr"/>
            <a:r>
              <a:rPr lang="fa-IR" b="1" dirty="0" smtClean="0">
                <a:cs typeface="B Nazanin" pitchFamily="2" charset="-78"/>
              </a:rPr>
              <a:t>مدل نمونه سازی</a:t>
            </a:r>
            <a:endParaRPr lang="fa-IR" b="1" dirty="0">
              <a:cs typeface="B Nazanin" pitchFamily="2" charset="-78"/>
            </a:endParaRPr>
          </a:p>
        </p:txBody>
      </p:sp>
      <p:sp>
        <p:nvSpPr>
          <p:cNvPr id="3" name="Content Placeholder 2"/>
          <p:cNvSpPr>
            <a:spLocks noGrp="1"/>
          </p:cNvSpPr>
          <p:nvPr>
            <p:ph idx="1"/>
          </p:nvPr>
        </p:nvSpPr>
        <p:spPr>
          <a:xfrm>
            <a:off x="457200" y="1500174"/>
            <a:ext cx="7239000" cy="4500594"/>
          </a:xfrm>
          <a:solidFill>
            <a:schemeClr val="bg1">
              <a:lumMod val="75000"/>
            </a:schemeClr>
          </a:solidFill>
        </p:spPr>
        <p:txBody>
          <a:bodyPr>
            <a:normAutofit/>
          </a:bodyPr>
          <a:lstStyle/>
          <a:p>
            <a:pPr algn="just">
              <a:buNone/>
            </a:pPr>
            <a:r>
              <a:rPr lang="fa-IR" sz="3000" dirty="0" smtClean="0">
                <a:cs typeface="B Nazanin" pitchFamily="2" charset="-78"/>
              </a:rPr>
              <a:t>در این روش، نیازهای کاربران از طریق نمونه سازی برآورده  می شود. درست مانند طراحان اتومبیل که قبل از تولید نهایی یک ماشین، نمونه هایی را طراحی می کنند، برنامه نویسان سیستم ها هم می توانند نسخه هایی اولیه از سیستم ها را ایجاد کنند. سپس، این سیستم ها بطور مداوم، تعدیل و اصلح می شوند تا اینکه رضایت کاربران را برآورده سازد. نمونه سازی بعنوان روشی جهت استفاده در سیستم های کاری که بسیار پیچیده نیستند و با تعداد زیادی کاربر، سروکار ندارند، ارائه شده است</a:t>
            </a:r>
            <a:endParaRPr lang="fa-IR" sz="3000" dirty="0">
              <a:cs typeface="B Nazanin" pitchFamily="2" charset="-78"/>
            </a:endParaRPr>
          </a:p>
        </p:txBody>
      </p:sp>
    </p:spTree>
  </p:cSld>
  <p:clrMapOvr>
    <a:masterClrMapping/>
  </p:clrMapOvr>
  <p:transition spd="slow">
    <p:wheel spokes="8"/>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51506"/>
          </a:xfrm>
          <a:solidFill>
            <a:schemeClr val="bg1">
              <a:lumMod val="85000"/>
            </a:schemeClr>
          </a:solidFill>
        </p:spPr>
        <p:txBody>
          <a:bodyPr/>
          <a:lstStyle/>
          <a:p>
            <a:pPr algn="ctr"/>
            <a:r>
              <a:rPr lang="fa-IR" b="1" dirty="0" smtClean="0">
                <a:cs typeface="B Nazanin" pitchFamily="2" charset="-78"/>
              </a:rPr>
              <a:t>انواع مختلف نمونه ها</a:t>
            </a:r>
            <a:endParaRPr lang="fa-IR" b="1" dirty="0">
              <a:cs typeface="B Nazanin" pitchFamily="2" charset="-78"/>
            </a:endParaRPr>
          </a:p>
        </p:txBody>
      </p:sp>
      <p:sp>
        <p:nvSpPr>
          <p:cNvPr id="3" name="Content Placeholder 2"/>
          <p:cNvSpPr>
            <a:spLocks noGrp="1"/>
          </p:cNvSpPr>
          <p:nvPr>
            <p:ph idx="1"/>
          </p:nvPr>
        </p:nvSpPr>
        <p:spPr>
          <a:xfrm>
            <a:off x="457200" y="1285860"/>
            <a:ext cx="7239000" cy="5169876"/>
          </a:xfrm>
          <a:solidFill>
            <a:schemeClr val="bg1">
              <a:lumMod val="75000"/>
            </a:schemeClr>
          </a:solidFill>
        </p:spPr>
        <p:txBody>
          <a:bodyPr>
            <a:normAutofit fontScale="92500"/>
          </a:bodyPr>
          <a:lstStyle/>
          <a:p>
            <a:pPr marL="514350" indent="-514350" algn="just">
              <a:buFont typeface="+mj-lt"/>
              <a:buAutoNum type="arabicPeriod"/>
            </a:pPr>
            <a:r>
              <a:rPr lang="fa-IR" sz="2500" b="1" u="sng" dirty="0" smtClean="0">
                <a:cs typeface="B Nazanin" pitchFamily="2" charset="-78"/>
              </a:rPr>
              <a:t>تقلید</a:t>
            </a:r>
            <a:r>
              <a:rPr lang="fa-IR" sz="2500" u="sng" dirty="0" smtClean="0">
                <a:cs typeface="B Nazanin" pitchFamily="2" charset="-78"/>
              </a:rPr>
              <a:t>: </a:t>
            </a:r>
            <a:r>
              <a:rPr lang="fa-IR" sz="2500" dirty="0" smtClean="0">
                <a:cs typeface="B Nazanin" pitchFamily="2" charset="-78"/>
              </a:rPr>
              <a:t>چیزی که تنها شبیه به سیستم مورد نظر می باشد مانند گزارش ها یا اطلاعات نمایش داده شده بر روی صفحه نمایش بوسیله یکسری داده های ساختگی</a:t>
            </a:r>
          </a:p>
          <a:p>
            <a:pPr marL="514350" indent="-514350" algn="just">
              <a:buFont typeface="+mj-lt"/>
              <a:buAutoNum type="arabicPeriod"/>
            </a:pPr>
            <a:r>
              <a:rPr lang="fa-IR" sz="2500" b="1" u="sng" dirty="0" smtClean="0">
                <a:cs typeface="B Nazanin" pitchFamily="2" charset="-78"/>
              </a:rPr>
              <a:t>شبیه سازی</a:t>
            </a:r>
            <a:r>
              <a:rPr lang="fa-IR" sz="2500" u="sng" dirty="0" smtClean="0">
                <a:cs typeface="B Nazanin" pitchFamily="2" charset="-78"/>
              </a:rPr>
              <a:t>: </a:t>
            </a:r>
            <a:r>
              <a:rPr lang="fa-IR" sz="2500" dirty="0" smtClean="0">
                <a:cs typeface="B Nazanin" pitchFamily="2" charset="-78"/>
              </a:rPr>
              <a:t>یک برنامه تعاملی که تنها یک ارتباط دو طرفه با کاربر را داراست ولی هیچ پردازش واقعی در سیستم صورت نمی گیرد</a:t>
            </a:r>
          </a:p>
          <a:p>
            <a:pPr marL="514350" indent="-514350" algn="just">
              <a:buFont typeface="+mj-lt"/>
              <a:buAutoNum type="arabicPeriod"/>
            </a:pPr>
            <a:r>
              <a:rPr lang="fa-IR" sz="2500" b="1" u="sng" dirty="0" smtClean="0">
                <a:cs typeface="B Nazanin" pitchFamily="2" charset="-78"/>
              </a:rPr>
              <a:t>مدل قابل انجام</a:t>
            </a:r>
            <a:r>
              <a:rPr lang="fa-IR" sz="2500" u="sng" dirty="0" smtClean="0">
                <a:cs typeface="B Nazanin" pitchFamily="2" charset="-78"/>
              </a:rPr>
              <a:t>: </a:t>
            </a:r>
            <a:r>
              <a:rPr lang="fa-IR" sz="2500" dirty="0" smtClean="0">
                <a:cs typeface="B Nazanin" pitchFamily="2" charset="-78"/>
              </a:rPr>
              <a:t>سیستمی که قسمتی یا تمام پردازش های لازم را دارا بوده ولی بعنوان محصول، مطرح نمی باشد. مدل در حال کار ممکن است بعنوان محصول نهایی شناخته شود، ولی قصد اولیه چنین نبوده است</a:t>
            </a:r>
          </a:p>
          <a:p>
            <a:pPr marL="514350" indent="-514350" algn="just">
              <a:buFont typeface="+mj-lt"/>
              <a:buAutoNum type="arabicPeriod"/>
            </a:pPr>
            <a:r>
              <a:rPr lang="fa-IR" sz="2500" b="1" u="sng" dirty="0" smtClean="0">
                <a:cs typeface="B Nazanin" pitchFamily="2" charset="-78"/>
              </a:rPr>
              <a:t>تحقیق توسعه: </a:t>
            </a:r>
            <a:r>
              <a:rPr lang="fa-IR" sz="2500" dirty="0" smtClean="0">
                <a:cs typeface="B Nazanin" pitchFamily="2" charset="-78"/>
              </a:rPr>
              <a:t>سیستمی که در طی زمان، بمنظور دست یافتن به محصول نهایی پالایش شده است.</a:t>
            </a:r>
          </a:p>
          <a:p>
            <a:pPr marL="514350" indent="-514350" algn="just">
              <a:buNone/>
            </a:pPr>
            <a:r>
              <a:rPr lang="fa-IR" sz="2500" b="1" dirty="0" smtClean="0">
                <a:cs typeface="B Nazanin" pitchFamily="2" charset="-78"/>
              </a:rPr>
              <a:t>سه نوع اول در تجزیه و تحلیل تنها بعنوان ابزار، مطرح هستند در حالیکه نوع چهارم در طی مراحل تجزیه و تحلیل و طرح و اجرا مورد استفاده قرار می گیرد.</a:t>
            </a:r>
          </a:p>
        </p:txBody>
      </p:sp>
    </p:spTree>
  </p:cSld>
  <p:clrMapOvr>
    <a:masterClrMapping/>
  </p:clrMapOvr>
  <p:transition spd="slow">
    <p:pull dir="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822944"/>
          </a:xfrm>
          <a:solidFill>
            <a:schemeClr val="bg1">
              <a:lumMod val="95000"/>
            </a:schemeClr>
          </a:solidFill>
        </p:spPr>
        <p:txBody>
          <a:bodyPr>
            <a:normAutofit/>
          </a:bodyPr>
          <a:lstStyle/>
          <a:p>
            <a:r>
              <a:rPr lang="fa-IR" b="1" dirty="0" smtClean="0">
                <a:cs typeface="B Nazanin" pitchFamily="2" charset="-78"/>
              </a:rPr>
              <a:t>مزاياي ايجاد و توسعه سيستم هاي اطلاعاتي</a:t>
            </a:r>
            <a:endParaRPr lang="fa-IR" b="1" dirty="0">
              <a:cs typeface="B Nazanin" pitchFamily="2" charset="-78"/>
            </a:endParaRPr>
          </a:p>
        </p:txBody>
      </p:sp>
      <p:sp>
        <p:nvSpPr>
          <p:cNvPr id="3" name="Content Placeholder 2"/>
          <p:cNvSpPr>
            <a:spLocks noGrp="1"/>
          </p:cNvSpPr>
          <p:nvPr>
            <p:ph idx="1"/>
          </p:nvPr>
        </p:nvSpPr>
        <p:spPr>
          <a:solidFill>
            <a:schemeClr val="bg1">
              <a:lumMod val="75000"/>
            </a:schemeClr>
          </a:solidFill>
        </p:spPr>
        <p:txBody>
          <a:bodyPr>
            <a:normAutofit/>
          </a:bodyPr>
          <a:lstStyle/>
          <a:p>
            <a:pPr algn="just"/>
            <a:r>
              <a:rPr lang="fa-IR" dirty="0" smtClean="0">
                <a:cs typeface="B Nazanin" pitchFamily="2" charset="-78"/>
              </a:rPr>
              <a:t>برخي از مزاياي توسعه سيستم عبارت اند از:</a:t>
            </a:r>
          </a:p>
          <a:p>
            <a:pPr algn="just"/>
            <a:r>
              <a:rPr lang="fa-IR" dirty="0" smtClean="0">
                <a:cs typeface="B Nazanin" pitchFamily="2" charset="-78"/>
              </a:rPr>
              <a:t>وظيفه يا شغل كاركنان با سرعت بيشتري انجام مي شود</a:t>
            </a:r>
          </a:p>
          <a:p>
            <a:pPr algn="just"/>
            <a:r>
              <a:rPr lang="fa-IR" dirty="0" smtClean="0">
                <a:cs typeface="B Nazanin" pitchFamily="2" charset="-78"/>
              </a:rPr>
              <a:t>به افراد كمتري در مديريت نياز است</a:t>
            </a:r>
          </a:p>
          <a:p>
            <a:pPr algn="just"/>
            <a:r>
              <a:rPr lang="fa-IR" dirty="0" smtClean="0">
                <a:cs typeface="B Nazanin" pitchFamily="2" charset="-78"/>
              </a:rPr>
              <a:t>امنيت اطلعات بهتر خواهد شد</a:t>
            </a:r>
          </a:p>
          <a:p>
            <a:pPr algn="just"/>
            <a:r>
              <a:rPr lang="fa-IR" dirty="0" smtClean="0">
                <a:cs typeface="B Nazanin" pitchFamily="2" charset="-78"/>
              </a:rPr>
              <a:t>هزينه ها كاهش مي يابد</a:t>
            </a:r>
          </a:p>
          <a:p>
            <a:pPr algn="just"/>
            <a:r>
              <a:rPr lang="fa-IR" dirty="0" smtClean="0">
                <a:cs typeface="B Nazanin" pitchFamily="2" charset="-78"/>
              </a:rPr>
              <a:t>رضايت بيشتر ارباب رجوع منجر به كمتر شدن شكايات از سازمان مي شود</a:t>
            </a:r>
          </a:p>
          <a:p>
            <a:pPr algn="just"/>
            <a:r>
              <a:rPr lang="fa-IR" dirty="0" smtClean="0">
                <a:cs typeface="B Nazanin" pitchFamily="2" charset="-78"/>
              </a:rPr>
              <a:t>ارائه سريع تر اطلاعات به مديريت</a:t>
            </a:r>
          </a:p>
          <a:p>
            <a:pPr algn="just"/>
            <a:r>
              <a:rPr lang="fa-IR" dirty="0" smtClean="0">
                <a:cs typeface="B Nazanin" pitchFamily="2" charset="-78"/>
              </a:rPr>
              <a:t>ارائه اطلاعات دقيق و صحيح تر به مديريت</a:t>
            </a:r>
          </a:p>
          <a:p>
            <a:pPr algn="just"/>
            <a:r>
              <a:rPr lang="fa-IR" dirty="0" smtClean="0">
                <a:cs typeface="B Nazanin" pitchFamily="2" charset="-78"/>
              </a:rPr>
              <a:t>ايجاد يك محيط كاري دوستانه تر</a:t>
            </a:r>
            <a:endParaRPr lang="fa-IR" dirty="0">
              <a:cs typeface="B Nazanin" pitchFamily="2" charset="-78"/>
            </a:endParaRPr>
          </a:p>
        </p:txBody>
      </p:sp>
    </p:spTree>
  </p:cSld>
  <p:clrMapOvr>
    <a:masterClrMapping/>
  </p:clrMapOvr>
  <p:transition spd="slow">
    <p:split dir="in"/>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51506"/>
          </a:xfrm>
          <a:solidFill>
            <a:schemeClr val="bg1">
              <a:lumMod val="95000"/>
            </a:schemeClr>
          </a:solidFill>
        </p:spPr>
        <p:txBody>
          <a:bodyPr>
            <a:normAutofit/>
          </a:bodyPr>
          <a:lstStyle/>
          <a:p>
            <a:r>
              <a:rPr lang="fa-IR" b="1" dirty="0" smtClean="0">
                <a:cs typeface="B Nazanin" pitchFamily="2" charset="-78"/>
              </a:rPr>
              <a:t>معايب ايجاد و توسعه سيستم هاي اطلاعاتي</a:t>
            </a:r>
            <a:endParaRPr lang="fa-IR" b="1" dirty="0">
              <a:cs typeface="B Nazanin" pitchFamily="2" charset="-78"/>
            </a:endParaRPr>
          </a:p>
        </p:txBody>
      </p:sp>
      <p:sp>
        <p:nvSpPr>
          <p:cNvPr id="3" name="Content Placeholder 2"/>
          <p:cNvSpPr>
            <a:spLocks noGrp="1"/>
          </p:cNvSpPr>
          <p:nvPr>
            <p:ph idx="1"/>
          </p:nvPr>
        </p:nvSpPr>
        <p:spPr>
          <a:xfrm>
            <a:off x="457200" y="1785925"/>
            <a:ext cx="7329510" cy="3857653"/>
          </a:xfrm>
          <a:solidFill>
            <a:schemeClr val="bg1">
              <a:lumMod val="75000"/>
            </a:schemeClr>
          </a:solidFill>
        </p:spPr>
        <p:txBody>
          <a:bodyPr/>
          <a:lstStyle/>
          <a:p>
            <a:pPr algn="just">
              <a:buNone/>
            </a:pPr>
            <a:endParaRPr lang="fa-IR" dirty="0" smtClean="0">
              <a:cs typeface="B Nazanin" pitchFamily="2" charset="-78"/>
            </a:endParaRPr>
          </a:p>
          <a:p>
            <a:pPr algn="just">
              <a:buNone/>
            </a:pPr>
            <a:r>
              <a:rPr lang="fa-IR" dirty="0" smtClean="0">
                <a:cs typeface="B Nazanin" pitchFamily="2" charset="-78"/>
              </a:rPr>
              <a:t>برخي از معايب احتمالي توسعه سيستم هاي اطلاعاتي عبارتند از:</a:t>
            </a:r>
          </a:p>
          <a:p>
            <a:pPr algn="just"/>
            <a:r>
              <a:rPr lang="fa-IR" dirty="0" smtClean="0">
                <a:cs typeface="B Nazanin" pitchFamily="2" charset="-78"/>
              </a:rPr>
              <a:t>ايجاد يك محيط كاري جديد</a:t>
            </a:r>
          </a:p>
          <a:p>
            <a:pPr algn="just"/>
            <a:r>
              <a:rPr lang="fa-IR" dirty="0" smtClean="0">
                <a:cs typeface="B Nazanin" pitchFamily="2" charset="-78"/>
              </a:rPr>
              <a:t>استخدام كارمندان متخصص</a:t>
            </a:r>
          </a:p>
          <a:p>
            <a:pPr algn="just"/>
            <a:r>
              <a:rPr lang="fa-IR" dirty="0" smtClean="0">
                <a:cs typeface="B Nazanin" pitchFamily="2" charset="-78"/>
              </a:rPr>
              <a:t>آموزش كاركنان</a:t>
            </a:r>
          </a:p>
          <a:p>
            <a:pPr algn="just"/>
            <a:r>
              <a:rPr lang="fa-IR" dirty="0" smtClean="0">
                <a:cs typeface="B Nazanin" pitchFamily="2" charset="-78"/>
              </a:rPr>
              <a:t>هزينه هاي بالاي ناشي از اجراي توسعه، نرم افزار و سخت افزار مورد نياز و هزينه هاي مربوط به راه اندازي سيستم</a:t>
            </a:r>
            <a:endParaRPr lang="fa-IR" dirty="0">
              <a:cs typeface="B Nazanin" pitchFamily="2" charset="-78"/>
            </a:endParaRPr>
          </a:p>
        </p:txBody>
      </p:sp>
    </p:spTree>
  </p:cSld>
  <p:clrMapOvr>
    <a:masterClrMapping/>
  </p:clrMapOvr>
  <p:transition spd="slow">
    <p:wedg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8604"/>
            <a:ext cx="7186634" cy="5697559"/>
          </a:xfrm>
          <a:solidFill>
            <a:schemeClr val="bg1">
              <a:lumMod val="85000"/>
            </a:schemeClr>
          </a:solidFill>
          <a:ln>
            <a:solidFill>
              <a:schemeClr val="bg1">
                <a:lumMod val="95000"/>
              </a:schemeClr>
            </a:solidFill>
          </a:ln>
        </p:spPr>
        <p:txBody>
          <a:bodyPr/>
          <a:lstStyle/>
          <a:p>
            <a:pPr algn="ctr">
              <a:buNone/>
            </a:pPr>
            <a:endParaRPr lang="fa-IR" dirty="0" smtClean="0"/>
          </a:p>
          <a:p>
            <a:pPr algn="ctr">
              <a:buNone/>
            </a:pPr>
            <a:endParaRPr lang="fa-IR" dirty="0" smtClean="0"/>
          </a:p>
          <a:p>
            <a:pPr algn="ctr">
              <a:buNone/>
            </a:pPr>
            <a:r>
              <a:rPr lang="fa-IR" sz="15000" b="1" dirty="0" smtClean="0">
                <a:cs typeface="B Titr" pitchFamily="2" charset="-78"/>
              </a:rPr>
              <a:t>پايان</a:t>
            </a:r>
            <a:endParaRPr lang="fa-IR" sz="15000" b="1" dirty="0">
              <a:cs typeface="B Titr" pitchFamily="2" charset="-78"/>
            </a:endParaRPr>
          </a:p>
        </p:txBody>
      </p:sp>
    </p:spTree>
  </p:cSld>
  <p:clrMapOvr>
    <a:masterClrMapping/>
  </p:clrMapOvr>
  <p:transition spd="slow">
    <p:dissolv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220</TotalTime>
  <Words>2288</Words>
  <Application>Microsoft Office PowerPoint</Application>
  <PresentationFormat>On-screen Show (4:3)</PresentationFormat>
  <Paragraphs>111</Paragraphs>
  <Slides>22</Slides>
  <Notes>1</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Opulent</vt:lpstr>
      <vt:lpstr>فصل یاز دهم</vt:lpstr>
      <vt:lpstr>چرخه حیات توسعه سیستم های اطلاعاتی</vt:lpstr>
      <vt:lpstr>نیاز سنجی و امکان سنجی</vt:lpstr>
      <vt:lpstr>انواع امکان سنجی</vt:lpstr>
      <vt:lpstr>تحلیل سیستم موجود</vt:lpstr>
      <vt:lpstr>Slide 6</vt:lpstr>
      <vt:lpstr>طراحی سیستم جدید</vt:lpstr>
      <vt:lpstr>اجزای فنی طراحی سیستم</vt:lpstr>
      <vt:lpstr>Slide 9</vt:lpstr>
      <vt:lpstr>Slide 10</vt:lpstr>
      <vt:lpstr>       ایجاد سیستم جدید ایجاد یا خرید سخت افزارها و نرم افزار های لازم برای ایجاد سیستم جدید  </vt:lpstr>
      <vt:lpstr>اجرای سیستم جدید</vt:lpstr>
      <vt:lpstr>Slide 13</vt:lpstr>
      <vt:lpstr>Slide 14</vt:lpstr>
      <vt:lpstr>نگهداری و ارزیابی سیستم جدید</vt:lpstr>
      <vt:lpstr>   روشهای توسعه سيستم هاي اطلاعاتي در چرخه حیات</vt:lpstr>
      <vt:lpstr>مدل آبشاری</vt:lpstr>
      <vt:lpstr>مدل نمونه سازی</vt:lpstr>
      <vt:lpstr>انواع مختلف نمونه ها</vt:lpstr>
      <vt:lpstr>مزاياي ايجاد و توسعه سيستم هاي اطلاعاتي</vt:lpstr>
      <vt:lpstr>معايب ايجاد و توسعه سيستم هاي اطلاعاتي</vt:lpstr>
      <vt:lpstr>Slide 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فصل یازدهم</dc:title>
  <dc:creator>hamid</dc:creator>
  <cp:lastModifiedBy>Karami</cp:lastModifiedBy>
  <cp:revision>112</cp:revision>
  <dcterms:created xsi:type="dcterms:W3CDTF">2013-11-14T19:06:35Z</dcterms:created>
  <dcterms:modified xsi:type="dcterms:W3CDTF">2013-11-16T08:29:39Z</dcterms:modified>
</cp:coreProperties>
</file>