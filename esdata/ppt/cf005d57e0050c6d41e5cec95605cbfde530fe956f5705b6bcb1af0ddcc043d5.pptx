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6" r:id="rId2"/>
    <p:sldId id="257" r:id="rId3"/>
    <p:sldId id="259" r:id="rId4"/>
    <p:sldId id="265" r:id="rId5"/>
    <p:sldId id="260" r:id="rId6"/>
    <p:sldId id="261" r:id="rId7"/>
    <p:sldId id="267" r:id="rId8"/>
    <p:sldId id="269" r:id="rId9"/>
    <p:sldId id="271" r:id="rId10"/>
    <p:sldId id="274" r:id="rId11"/>
    <p:sldId id="281" r:id="rId12"/>
    <p:sldId id="275" r:id="rId13"/>
    <p:sldId id="276" r:id="rId14"/>
    <p:sldId id="283" r:id="rId15"/>
    <p:sldId id="277" r:id="rId16"/>
    <p:sldId id="279" r:id="rId17"/>
    <p:sldId id="280" r:id="rId18"/>
    <p:sldId id="262" r:id="rId19"/>
    <p:sldId id="263" r:id="rId20"/>
    <p:sldId id="28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2DBDDE-6BDE-4E4F-A9B9-99E95A9A46BD}" type="datetimeFigureOut">
              <a:rPr lang="en-US" smtClean="0"/>
              <a:t>2/4/2019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A2A55A-3C98-40DC-ACCA-6ACB2AAF6EE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BDC722-605E-4AA1-A7D0-54004B29E697}" type="slidenum">
              <a:rPr lang="en-US" smtClean="0"/>
              <a:pPr/>
              <a:t>13</a:t>
            </a:fld>
            <a:endParaRPr lang="en-US"/>
          </a:p>
        </p:txBody>
      </p:sp>
    </p:spTree>
    <p:extLst>
      <p:ext uri="{BB962C8B-B14F-4D97-AF65-F5344CB8AC3E}">
        <p14:creationId xmlns="" xmlns:p14="http://schemas.microsoft.com/office/powerpoint/2010/main" val="228921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A0F8C82-5FB4-47E4-B178-23CDBCB88448}" type="datetimeFigureOut">
              <a:rPr lang="en-US" smtClean="0"/>
              <a:t>2/2/2019</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2F1814DA-F3BA-431D-98C2-731C5ED7ED09}"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A0F8C82-5FB4-47E4-B178-23CDBCB88448}" type="datetimeFigureOut">
              <a:rPr lang="en-US" smtClean="0"/>
              <a:t>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1814DA-F3BA-431D-98C2-731C5ED7ED0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A0F8C82-5FB4-47E4-B178-23CDBCB88448}" type="datetimeFigureOut">
              <a:rPr lang="en-US" smtClean="0"/>
              <a:t>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1814DA-F3BA-431D-98C2-731C5ED7ED09}"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A0F8C82-5FB4-47E4-B178-23CDBCB88448}" type="datetimeFigureOut">
              <a:rPr lang="en-US" smtClean="0"/>
              <a:t>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1814DA-F3BA-431D-98C2-731C5ED7ED0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A0F8C82-5FB4-47E4-B178-23CDBCB88448}" type="datetimeFigureOut">
              <a:rPr lang="en-US" smtClean="0"/>
              <a:t>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1814DA-F3BA-431D-98C2-731C5ED7ED0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A0F8C82-5FB4-47E4-B178-23CDBCB88448}" type="datetimeFigureOut">
              <a:rPr lang="en-US" smtClean="0"/>
              <a:t>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1814DA-F3BA-431D-98C2-731C5ED7ED0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0F8C82-5FB4-47E4-B178-23CDBCB88448}" type="datetimeFigureOut">
              <a:rPr lang="en-US" smtClean="0"/>
              <a:t>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1814DA-F3BA-431D-98C2-731C5ED7ED0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A0F8C82-5FB4-47E4-B178-23CDBCB88448}" type="datetimeFigureOut">
              <a:rPr lang="en-US" smtClean="0"/>
              <a:t>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1814DA-F3BA-431D-98C2-731C5ED7ED0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A0F8C82-5FB4-47E4-B178-23CDBCB88448}" type="datetimeFigureOut">
              <a:rPr lang="en-US" smtClean="0"/>
              <a:t>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2F1814DA-F3BA-431D-98C2-731C5ED7ED09}"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A0F8C82-5FB4-47E4-B178-23CDBCB88448}" type="datetimeFigureOut">
              <a:rPr lang="en-US" smtClean="0"/>
              <a:t>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1814DA-F3BA-431D-98C2-731C5ED7ED0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A0F8C82-5FB4-47E4-B178-23CDBCB88448}" type="datetimeFigureOut">
              <a:rPr lang="en-US" smtClean="0"/>
              <a:t>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1814DA-F3BA-431D-98C2-731C5ED7ED0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A0F8C82-5FB4-47E4-B178-23CDBCB88448}" type="datetimeFigureOut">
              <a:rPr lang="en-US" smtClean="0"/>
              <a:t>2/2/2019</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F1814DA-F3BA-431D-98C2-731C5ED7ED09}"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047749"/>
            <a:ext cx="7772400" cy="3143251"/>
          </a:xfrm>
        </p:spPr>
        <p:txBody>
          <a:bodyPr>
            <a:noAutofit/>
          </a:bodyPr>
          <a:lstStyle/>
          <a:p>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en-US" sz="4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FUTURISTIC OUTLOOK OF STRATEGIC PARTNERSHIP BETWEEN IRAN  - ISLAMIC REPUBLIC OF IRAN AND EAST AFRICA WITH SPECIAL ATTENTION TO TANZANIA</a:t>
            </a:r>
            <a:endParaRPr lang="en-US" sz="4000" b="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 name="Subtitle 2"/>
          <p:cNvSpPr>
            <a:spLocks noGrp="1"/>
          </p:cNvSpPr>
          <p:nvPr>
            <p:ph type="subTitle" idx="1"/>
          </p:nvPr>
        </p:nvSpPr>
        <p:spPr>
          <a:xfrm>
            <a:off x="533400" y="4572000"/>
            <a:ext cx="7854696" cy="1752600"/>
          </a:xfrm>
        </p:spPr>
        <p:txBody>
          <a:bodyPr/>
          <a:lstStyle/>
          <a:p>
            <a:r>
              <a:rPr lang="en-US" dirty="0" smtClean="0"/>
              <a:t>PROF EGINALD PIUS MIHANJO</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SECTIONNS</a:t>
            </a:r>
            <a:endParaRPr lang="en-US" dirty="0"/>
          </a:p>
        </p:txBody>
      </p:sp>
      <p:sp>
        <p:nvSpPr>
          <p:cNvPr id="3" name="Content Placeholder 2"/>
          <p:cNvSpPr>
            <a:spLocks noGrp="1"/>
          </p:cNvSpPr>
          <p:nvPr>
            <p:ph idx="1"/>
          </p:nvPr>
        </p:nvSpPr>
        <p:spPr/>
        <p:txBody>
          <a:bodyPr/>
          <a:lstStyle/>
          <a:p>
            <a:r>
              <a:rPr lang="en-US" dirty="0" smtClean="0"/>
              <a:t>SITUATING PRESENTATION</a:t>
            </a:r>
          </a:p>
          <a:p>
            <a:r>
              <a:rPr lang="en-US" dirty="0" smtClean="0"/>
              <a:t>IRI EA TANZANIA SITUATION &amp; PARADIGMATIC SHIFT</a:t>
            </a:r>
          </a:p>
          <a:p>
            <a:r>
              <a:rPr lang="en-US" dirty="0" smtClean="0"/>
              <a:t>PRESENTISM STRATEGIC UTILITY </a:t>
            </a:r>
          </a:p>
          <a:p>
            <a:r>
              <a:rPr lang="en-US" dirty="0" smtClean="0"/>
              <a:t>FUTURISTIC STRATEGICALLY FOR SOUTH </a:t>
            </a:r>
            <a:r>
              <a:rPr lang="en-US" dirty="0" err="1" smtClean="0"/>
              <a:t>SOUTH</a:t>
            </a:r>
            <a:r>
              <a:rPr lang="en-US" dirty="0" smtClean="0"/>
              <a:t> PARTNERSHIP COMPETITIVE </a:t>
            </a:r>
            <a:r>
              <a:rPr lang="en-US" dirty="0" smtClean="0"/>
              <a:t>ADVANTAGE </a:t>
            </a:r>
            <a:endParaRPr lang="en-US" dirty="0" smtClean="0"/>
          </a:p>
          <a:p>
            <a:r>
              <a:rPr lang="en-US" dirty="0" smtClean="0"/>
              <a:t>CONCLUSION</a:t>
            </a:r>
            <a:endParaRPr lang="en-US" dirty="0" smtClean="0"/>
          </a:p>
          <a:p>
            <a:r>
              <a:rPr lang="en-US" dirty="0" smtClean="0"/>
              <a:t> </a:t>
            </a:r>
            <a:endParaRPr lang="en-US"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SITUATING </a:t>
            </a:r>
            <a:r>
              <a:rPr lang="en-US" dirty="0" smtClean="0"/>
              <a:t>PRESENTATION</a:t>
            </a:r>
            <a:endParaRPr lang="en-US" dirty="0"/>
          </a:p>
        </p:txBody>
      </p:sp>
      <p:sp>
        <p:nvSpPr>
          <p:cNvPr id="3" name="Content Placeholder 2"/>
          <p:cNvSpPr>
            <a:spLocks noGrp="1"/>
          </p:cNvSpPr>
          <p:nvPr>
            <p:ph idx="1"/>
          </p:nvPr>
        </p:nvSpPr>
        <p:spPr/>
        <p:txBody>
          <a:bodyPr/>
          <a:lstStyle/>
          <a:p>
            <a:r>
              <a:rPr lang="en-US" dirty="0" smtClean="0"/>
              <a:t>TANZANIA IRAN RELATIONS REAL – </a:t>
            </a:r>
          </a:p>
          <a:p>
            <a:r>
              <a:rPr lang="en-US" dirty="0" smtClean="0"/>
              <a:t>PEOPLE HISTORICAL CULTURAL </a:t>
            </a:r>
          </a:p>
          <a:p>
            <a:r>
              <a:rPr lang="en-US" dirty="0" smtClean="0"/>
              <a:t>FRIENDLY SOUTH TO SOUTH NATION STATE</a:t>
            </a:r>
          </a:p>
          <a:p>
            <a:r>
              <a:rPr lang="en-US" dirty="0" smtClean="0"/>
              <a:t>ANTI CAPITALIST IMPERIALIST HARD – SOFT POWER MACHINATIONS </a:t>
            </a:r>
          </a:p>
          <a:p>
            <a:r>
              <a:rPr lang="en-US" dirty="0" smtClean="0"/>
              <a:t>PRESENTED IN MANY OCCASION ACADEMIC FORUMS FROM 2007</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RECENT FORUMS </a:t>
            </a:r>
            <a:endParaRPr lang="en-US" dirty="0"/>
          </a:p>
        </p:txBody>
      </p:sp>
      <p:sp>
        <p:nvSpPr>
          <p:cNvPr id="3" name="Content Placeholder 2"/>
          <p:cNvSpPr>
            <a:spLocks noGrp="1"/>
          </p:cNvSpPr>
          <p:nvPr>
            <p:ph idx="1"/>
          </p:nvPr>
        </p:nvSpPr>
        <p:spPr/>
        <p:txBody>
          <a:bodyPr>
            <a:normAutofit fontScale="92500" lnSpcReduction="10000"/>
          </a:bodyPr>
          <a:lstStyle/>
          <a:p>
            <a:r>
              <a:rPr lang="en-US" sz="2800" dirty="0" smtClean="0"/>
              <a:t>SHIRAZ – EAST AFRICA RELATIONS: A STRATEGIC CASE OF ZANZIBAR  - SUZA, JANUARY 2015</a:t>
            </a:r>
          </a:p>
          <a:p>
            <a:r>
              <a:rPr lang="en-US" dirty="0" smtClean="0"/>
              <a:t>RELATIONS BETWEEN ISLAMIC REVOLUTION OF IRAN AND TANZANIA – DSM,  JANUARY 2015</a:t>
            </a:r>
            <a:endParaRPr lang="en-US" b="1" dirty="0" smtClean="0"/>
          </a:p>
          <a:p>
            <a:r>
              <a:rPr lang="en-US" dirty="0" smtClean="0">
                <a:ln w="9000" cmpd="sng">
                  <a:solidFill>
                    <a:schemeClr val="accent4">
                      <a:shade val="50000"/>
                      <a:satMod val="120000"/>
                    </a:schemeClr>
                  </a:solidFill>
                  <a:prstDash val="solid"/>
                </a:ln>
                <a:effectLst>
                  <a:reflection blurRad="12700" stA="28000" endPos="45000" dist="1000" dir="5400000" sy="-100000" algn="bl" rotWithShape="0"/>
                </a:effectLst>
              </a:rPr>
              <a:t>THE ROLE OF ISLAMIC REVOLUTION OF IRAN (IRI) ON GLOBAL PEACE AFTER REVOLUTION: TANZANIA RELATIONS – DSM, 2016</a:t>
            </a:r>
            <a:endParaRPr lang="en-US" b="1" dirty="0" smtClean="0"/>
          </a:p>
          <a:p>
            <a:r>
              <a:rPr lang="en-US" dirty="0" smtClean="0"/>
              <a:t>STRATEGIC HISTORICAL LINK FOR COMPETITIVE ADVANTAGE: TANZANIA – IRAN RELATIONS IN THE 21 CENTURY – UDSM, APRIL 2018</a:t>
            </a:r>
            <a:br>
              <a:rPr lang="en-US" dirty="0" smtClean="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IRI </a:t>
            </a:r>
            <a:r>
              <a:rPr lang="en-US" dirty="0" smtClean="0"/>
              <a:t>EA TANZANIA SITUATION &amp; PARADIGMATIC SHIFT</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AT PRESENT C</a:t>
            </a:r>
            <a:r>
              <a:rPr lang="en-US" dirty="0" smtClean="0"/>
              <a:t>ONJUNCTURE </a:t>
            </a:r>
            <a:r>
              <a:rPr lang="en-US" dirty="0" smtClean="0"/>
              <a:t>THESE RELATIONS ARE RECOGNIZED BUT NOT WELL ARTICULATED</a:t>
            </a:r>
          </a:p>
          <a:p>
            <a:r>
              <a:rPr lang="en-US" dirty="0" smtClean="0"/>
              <a:t>AT NATION STATE LEVEL STILL FRIENDLY BUT NOT SOUNDING</a:t>
            </a:r>
          </a:p>
          <a:p>
            <a:r>
              <a:rPr lang="en-US" dirty="0" smtClean="0"/>
              <a:t>AT PEOPLE CENTRED LEVEL THE HISTORICAL CULTURAL CONNECTIONS EXIST BUT NOT REAL PRACTICED </a:t>
            </a:r>
          </a:p>
          <a:p>
            <a:r>
              <a:rPr lang="en-US" dirty="0" smtClean="0"/>
              <a:t>A GENERAL FEAR FROM COLONIAL CAPITALIST IMPERIALIST PARADIGM – A SYNDROME OF WEAKENING THE WEAK FROM A PEOPLE CENTRED ECONOMIC REVOLUTION</a:t>
            </a:r>
          </a:p>
          <a:p>
            <a:r>
              <a:rPr lang="en-US" dirty="0" smtClean="0"/>
              <a:t>A CHANGE OF PARADIGM FOR AFRICA, EAST AFRICA, ESPECIALLY TANZANIA IS NEEDED – ALONG IRI LINE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PRESENTISM </a:t>
            </a:r>
            <a:r>
              <a:rPr lang="en-US" dirty="0" smtClean="0"/>
              <a:t>STRATEGIC UTILITY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AT PRESENT THE 5</a:t>
            </a:r>
            <a:r>
              <a:rPr lang="en-US" baseline="30000" dirty="0" smtClean="0"/>
              <a:t>TH</a:t>
            </a:r>
            <a:r>
              <a:rPr lang="en-US" dirty="0" smtClean="0"/>
              <a:t> PHASE GOVT VISION IS TO STAGE AN PEOPLE CENTRED ECONOMIC REVOLUTION MUCH NEEDED FOR ECONOMIC DEVELOPMENT</a:t>
            </a:r>
          </a:p>
          <a:p>
            <a:r>
              <a:rPr lang="en-US" dirty="0" smtClean="0"/>
              <a:t>NYERERE CENTRIC PEOPLE CENTRED DEVELOPMENT NEEDS VIGOUR, MOBILIZATION REVOLUTIONARY SPIRIT NATION WIDE </a:t>
            </a:r>
          </a:p>
          <a:p>
            <a:r>
              <a:rPr lang="en-US" dirty="0" smtClean="0"/>
              <a:t>AN APPROACH IRANIAN DID THOUGH HISTO-CULTURAL ROOTS OF ISLAM SUCCESSFUL DEFEATED IMPERIALIST MACHINATION</a:t>
            </a:r>
          </a:p>
          <a:p>
            <a:r>
              <a:rPr lang="en-US" dirty="0" smtClean="0"/>
              <a:t>OUR ATTEMPT THROUGH THE SAME PARADIGM – UJAMAA NA KUJITEGEMEA WAS NOT SUCCESSFUL BY  IMPERIALIST PETTY BOURGEOIS PLATFORM INFILTRATION</a:t>
            </a:r>
          </a:p>
          <a:p>
            <a:r>
              <a:rPr lang="en-US" dirty="0" smtClean="0"/>
              <a:t>A PEOPLE CENTRED SOUTH </a:t>
            </a:r>
            <a:r>
              <a:rPr lang="en-US" dirty="0" err="1" smtClean="0"/>
              <a:t>SOUTH</a:t>
            </a:r>
            <a:r>
              <a:rPr lang="en-US" dirty="0" smtClean="0"/>
              <a:t> PARTNERSHIP – IRAN GIVEN THE HISTORICAL CULTURAL CONNECTION WILL OFFER A PRACTICAL RETOOLING KIT AND VIGOUR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IRI – TZ </a:t>
            </a:r>
            <a:r>
              <a:rPr lang="en-US" dirty="0" smtClean="0"/>
              <a:t>RELATIONS TOOLING KIT</a:t>
            </a:r>
            <a:endParaRPr lang="en-US" dirty="0"/>
          </a:p>
        </p:txBody>
      </p:sp>
      <p:sp>
        <p:nvSpPr>
          <p:cNvPr id="7" name="Text Placeholder 6"/>
          <p:cNvSpPr>
            <a:spLocks noGrp="1"/>
          </p:cNvSpPr>
          <p:nvPr>
            <p:ph type="body" idx="1"/>
          </p:nvPr>
        </p:nvSpPr>
        <p:spPr/>
        <p:txBody>
          <a:bodyPr/>
          <a:lstStyle/>
          <a:p>
            <a:r>
              <a:rPr lang="en-US" dirty="0" smtClean="0"/>
              <a:t>TANZANIA</a:t>
            </a:r>
            <a:endParaRPr lang="en-US" dirty="0"/>
          </a:p>
        </p:txBody>
      </p:sp>
      <p:sp>
        <p:nvSpPr>
          <p:cNvPr id="8" name="Text Placeholder 7"/>
          <p:cNvSpPr>
            <a:spLocks noGrp="1"/>
          </p:cNvSpPr>
          <p:nvPr>
            <p:ph type="body" sz="half" idx="3"/>
          </p:nvPr>
        </p:nvSpPr>
        <p:spPr>
          <a:xfrm>
            <a:off x="5483225" y="1859757"/>
            <a:ext cx="4041775" cy="654843"/>
          </a:xfrm>
        </p:spPr>
        <p:txBody>
          <a:bodyPr/>
          <a:lstStyle/>
          <a:p>
            <a:r>
              <a:rPr lang="en-US" dirty="0" smtClean="0"/>
              <a:t>IRAN</a:t>
            </a:r>
            <a:endParaRPr lang="en-US" dirty="0"/>
          </a:p>
        </p:txBody>
      </p:sp>
      <p:sp>
        <p:nvSpPr>
          <p:cNvPr id="3" name="Content Placeholder 2"/>
          <p:cNvSpPr>
            <a:spLocks noGrp="1"/>
          </p:cNvSpPr>
          <p:nvPr>
            <p:ph sz="quarter" idx="2"/>
          </p:nvPr>
        </p:nvSpPr>
        <p:spPr/>
        <p:txBody>
          <a:bodyPr/>
          <a:lstStyle/>
          <a:p>
            <a:pPr lvl="0"/>
            <a:endParaRPr lang="en-US" dirty="0" smtClean="0"/>
          </a:p>
          <a:p>
            <a:endParaRPr lang="en-US" dirty="0"/>
          </a:p>
        </p:txBody>
      </p:sp>
      <p:pic>
        <p:nvPicPr>
          <p:cNvPr id="11" name="Content Placeholder 10" descr="IRAN.png"/>
          <p:cNvPicPr>
            <a:picLocks noGrp="1" noChangeAspect="1"/>
          </p:cNvPicPr>
          <p:nvPr>
            <p:ph sz="quarter" idx="4"/>
          </p:nvPr>
        </p:nvPicPr>
        <p:blipFill>
          <a:blip r:embed="rId2"/>
          <a:stretch>
            <a:fillRect/>
          </a:stretch>
        </p:blipFill>
        <p:spPr>
          <a:xfrm>
            <a:off x="5334000" y="2528919"/>
            <a:ext cx="3200400" cy="3109881"/>
          </a:xfrm>
        </p:spPr>
      </p:pic>
      <p:sp>
        <p:nvSpPr>
          <p:cNvPr id="13" name="TextBox 12"/>
          <p:cNvSpPr txBox="1"/>
          <p:nvPr/>
        </p:nvSpPr>
        <p:spPr>
          <a:xfrm>
            <a:off x="3352800" y="2831068"/>
            <a:ext cx="1598515" cy="369332"/>
          </a:xfrm>
          <a:prstGeom prst="rect">
            <a:avLst/>
          </a:prstGeom>
          <a:noFill/>
        </p:spPr>
        <p:txBody>
          <a:bodyPr wrap="none" rtlCol="0">
            <a:spAutoFit/>
          </a:bodyPr>
          <a:lstStyle/>
          <a:p>
            <a:r>
              <a:rPr lang="en-US" dirty="0" smtClean="0"/>
              <a:t>HISTORICAL </a:t>
            </a:r>
            <a:endParaRPr lang="en-US" dirty="0"/>
          </a:p>
        </p:txBody>
      </p:sp>
      <p:sp>
        <p:nvSpPr>
          <p:cNvPr id="14" name="TextBox 13"/>
          <p:cNvSpPr txBox="1"/>
          <p:nvPr/>
        </p:nvSpPr>
        <p:spPr>
          <a:xfrm>
            <a:off x="3429000" y="2602468"/>
            <a:ext cx="1362874" cy="369332"/>
          </a:xfrm>
          <a:prstGeom prst="rect">
            <a:avLst/>
          </a:prstGeom>
          <a:noFill/>
        </p:spPr>
        <p:txBody>
          <a:bodyPr wrap="none" rtlCol="0">
            <a:spAutoFit/>
          </a:bodyPr>
          <a:lstStyle/>
          <a:p>
            <a:r>
              <a:rPr lang="en-US" dirty="0" smtClean="0"/>
              <a:t>CULTURAL</a:t>
            </a:r>
            <a:endParaRPr lang="en-US" dirty="0"/>
          </a:p>
        </p:txBody>
      </p:sp>
      <p:sp>
        <p:nvSpPr>
          <p:cNvPr id="15" name="TextBox 14"/>
          <p:cNvSpPr txBox="1"/>
          <p:nvPr/>
        </p:nvSpPr>
        <p:spPr>
          <a:xfrm>
            <a:off x="3581400" y="3200400"/>
            <a:ext cx="1335622" cy="369332"/>
          </a:xfrm>
          <a:prstGeom prst="rect">
            <a:avLst/>
          </a:prstGeom>
          <a:noFill/>
        </p:spPr>
        <p:txBody>
          <a:bodyPr wrap="none" rtlCol="0">
            <a:spAutoFit/>
          </a:bodyPr>
          <a:lstStyle/>
          <a:p>
            <a:r>
              <a:rPr lang="en-US" dirty="0" smtClean="0"/>
              <a:t>POLITICAL</a:t>
            </a:r>
            <a:endParaRPr lang="en-US" dirty="0"/>
          </a:p>
        </p:txBody>
      </p:sp>
      <p:sp>
        <p:nvSpPr>
          <p:cNvPr id="16" name="TextBox 15"/>
          <p:cNvSpPr txBox="1"/>
          <p:nvPr/>
        </p:nvSpPr>
        <p:spPr>
          <a:xfrm>
            <a:off x="3581400" y="4191000"/>
            <a:ext cx="997389" cy="369332"/>
          </a:xfrm>
          <a:prstGeom prst="rect">
            <a:avLst/>
          </a:prstGeom>
          <a:noFill/>
        </p:spPr>
        <p:txBody>
          <a:bodyPr wrap="none" rtlCol="0">
            <a:spAutoFit/>
          </a:bodyPr>
          <a:lstStyle/>
          <a:p>
            <a:r>
              <a:rPr lang="en-US" dirty="0" smtClean="0"/>
              <a:t>SOCIAL</a:t>
            </a:r>
            <a:endParaRPr lang="en-US" dirty="0"/>
          </a:p>
        </p:txBody>
      </p:sp>
      <p:sp>
        <p:nvSpPr>
          <p:cNvPr id="17" name="TextBox 16"/>
          <p:cNvSpPr txBox="1"/>
          <p:nvPr/>
        </p:nvSpPr>
        <p:spPr>
          <a:xfrm>
            <a:off x="3429000" y="4419600"/>
            <a:ext cx="1576188" cy="369332"/>
          </a:xfrm>
          <a:prstGeom prst="rect">
            <a:avLst/>
          </a:prstGeom>
          <a:noFill/>
        </p:spPr>
        <p:txBody>
          <a:bodyPr wrap="square" rtlCol="0">
            <a:spAutoFit/>
          </a:bodyPr>
          <a:lstStyle/>
          <a:p>
            <a:r>
              <a:rPr lang="en-US" dirty="0" smtClean="0"/>
              <a:t>ECONOMIC</a:t>
            </a:r>
            <a:endParaRPr lang="en-US" dirty="0"/>
          </a:p>
        </p:txBody>
      </p:sp>
      <p:sp>
        <p:nvSpPr>
          <p:cNvPr id="25" name="Right Arrow 24"/>
          <p:cNvSpPr/>
          <p:nvPr/>
        </p:nvSpPr>
        <p:spPr>
          <a:xfrm>
            <a:off x="4724400" y="2895600"/>
            <a:ext cx="5334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Left Arrow 25"/>
          <p:cNvSpPr/>
          <p:nvPr/>
        </p:nvSpPr>
        <p:spPr>
          <a:xfrm>
            <a:off x="3048000" y="2743200"/>
            <a:ext cx="304800" cy="152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26"/>
          <p:cNvSpPr/>
          <p:nvPr/>
        </p:nvSpPr>
        <p:spPr>
          <a:xfrm flipV="1">
            <a:off x="5029200" y="3200400"/>
            <a:ext cx="762000" cy="381000"/>
          </a:xfrm>
          <a:prstGeom prst="rightArrow">
            <a:avLst>
              <a:gd name="adj1" fmla="val 50000"/>
              <a:gd name="adj2" fmla="val 594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p:cNvSpPr/>
          <p:nvPr/>
        </p:nvSpPr>
        <p:spPr>
          <a:xfrm>
            <a:off x="4572000" y="4191000"/>
            <a:ext cx="97840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Left Arrow 28"/>
          <p:cNvSpPr/>
          <p:nvPr/>
        </p:nvSpPr>
        <p:spPr>
          <a:xfrm>
            <a:off x="2895600" y="3200400"/>
            <a:ext cx="609600" cy="304800"/>
          </a:xfrm>
          <a:prstGeom prst="leftArrow">
            <a:avLst>
              <a:gd name="adj1" fmla="val 57692"/>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Left Arrow 29"/>
          <p:cNvSpPr/>
          <p:nvPr/>
        </p:nvSpPr>
        <p:spPr>
          <a:xfrm>
            <a:off x="2971800" y="4267200"/>
            <a:ext cx="609600"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Content Placeholder 6" descr="http://www.ezilon.com/maps/images/africa/political-map-of-Tanzania.gif"/>
          <p:cNvPicPr>
            <a:picLocks/>
          </p:cNvPicPr>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tretch>
            <a:fillRect/>
          </a:stretch>
        </p:blipFill>
        <p:spPr bwMode="auto">
          <a:xfrm>
            <a:off x="304800" y="2590800"/>
            <a:ext cx="2514600" cy="3048000"/>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228600"/>
            <a:ext cx="8991600" cy="1618488"/>
          </a:xfrm>
        </p:spPr>
        <p:txBody>
          <a:bodyPr>
            <a:normAutofit/>
          </a:bodyPr>
          <a:lstStyle/>
          <a:p>
            <a:pPr algn="ctr"/>
            <a:r>
              <a:rPr lang="en-US" dirty="0" smtClean="0"/>
              <a:t>OUR RELATIONS STRATEGIC TOOLKIT  - PEOPLE CENTRIC </a:t>
            </a:r>
            <a:endParaRPr lang="en-US" dirty="0"/>
          </a:p>
        </p:txBody>
      </p:sp>
      <p:sp>
        <p:nvSpPr>
          <p:cNvPr id="6" name="Content Placeholder 5"/>
          <p:cNvSpPr>
            <a:spLocks noGrp="1"/>
          </p:cNvSpPr>
          <p:nvPr>
            <p:ph sz="half" idx="1"/>
          </p:nvPr>
        </p:nvSpPr>
        <p:spPr/>
        <p:txBody>
          <a:bodyPr>
            <a:normAutofit fontScale="85000" lnSpcReduction="20000"/>
          </a:bodyPr>
          <a:lstStyle/>
          <a:p>
            <a:r>
              <a:rPr lang="en-US" dirty="0" smtClean="0"/>
              <a:t>OVER 1000 YRS COOPERATION </a:t>
            </a:r>
          </a:p>
          <a:p>
            <a:pPr lvl="1"/>
            <a:r>
              <a:rPr lang="en-US" dirty="0" smtClean="0"/>
              <a:t>OPPORTUNITIES</a:t>
            </a:r>
          </a:p>
          <a:p>
            <a:pPr lvl="1"/>
            <a:r>
              <a:rPr lang="en-US" dirty="0" smtClean="0"/>
              <a:t>CHALLENGES</a:t>
            </a:r>
          </a:p>
          <a:p>
            <a:r>
              <a:rPr lang="en-US" dirty="0" smtClean="0"/>
              <a:t>CLOSE TIES </a:t>
            </a:r>
          </a:p>
          <a:p>
            <a:pPr lvl="1"/>
            <a:r>
              <a:rPr lang="en-US" dirty="0" smtClean="0"/>
              <a:t>SPIRITUAL </a:t>
            </a:r>
            <a:r>
              <a:rPr lang="en-US" dirty="0" smtClean="0"/>
              <a:t>, BROTHERLY </a:t>
            </a:r>
            <a:r>
              <a:rPr lang="en-US" dirty="0" smtClean="0"/>
              <a:t>– BLOOD TIES</a:t>
            </a:r>
            <a:endParaRPr lang="en-US" dirty="0" smtClean="0"/>
          </a:p>
          <a:p>
            <a:pPr lvl="1"/>
            <a:r>
              <a:rPr lang="en-US" dirty="0" smtClean="0"/>
              <a:t>HISTORICAL, CULTURAL, </a:t>
            </a:r>
            <a:endParaRPr lang="en-US" dirty="0" smtClean="0"/>
          </a:p>
          <a:p>
            <a:pPr lvl="1"/>
            <a:r>
              <a:rPr lang="en-US" dirty="0" smtClean="0"/>
              <a:t>SOCIAL</a:t>
            </a:r>
          </a:p>
          <a:p>
            <a:pPr lvl="1"/>
            <a:r>
              <a:rPr lang="en-US" dirty="0" smtClean="0"/>
              <a:t>ECONOMIC PARTNERSHIP TOOL</a:t>
            </a:r>
          </a:p>
          <a:p>
            <a:pPr lvl="1"/>
            <a:r>
              <a:rPr lang="en-US" dirty="0" smtClean="0"/>
              <a:t>REVOLUTONARY IDEOLOGY MOBILATION TOOL</a:t>
            </a:r>
            <a:endParaRPr lang="en-US" dirty="0" smtClean="0"/>
          </a:p>
          <a:p>
            <a:endParaRPr lang="en-US" dirty="0"/>
          </a:p>
        </p:txBody>
      </p:sp>
      <p:sp>
        <p:nvSpPr>
          <p:cNvPr id="4" name="Content Placeholder 3"/>
          <p:cNvSpPr>
            <a:spLocks noGrp="1"/>
          </p:cNvSpPr>
          <p:nvPr>
            <p:ph sz="half" idx="2"/>
          </p:nvPr>
        </p:nvSpPr>
        <p:spPr/>
        <p:txBody>
          <a:bodyPr>
            <a:normAutofit fontScale="85000" lnSpcReduction="20000"/>
          </a:bodyPr>
          <a:lstStyle/>
          <a:p>
            <a:r>
              <a:rPr lang="en-US" dirty="0" smtClean="0"/>
              <a:t>TANGA </a:t>
            </a:r>
          </a:p>
          <a:p>
            <a:r>
              <a:rPr lang="en-US" dirty="0" smtClean="0"/>
              <a:t>PANGANI</a:t>
            </a:r>
          </a:p>
          <a:p>
            <a:r>
              <a:rPr lang="en-US" dirty="0" smtClean="0"/>
              <a:t>BAGAMOYO</a:t>
            </a:r>
          </a:p>
          <a:p>
            <a:r>
              <a:rPr lang="en-US" dirty="0" smtClean="0"/>
              <a:t>KILWA</a:t>
            </a:r>
          </a:p>
          <a:p>
            <a:r>
              <a:rPr lang="en-US" dirty="0" smtClean="0"/>
              <a:t>LINDI</a:t>
            </a:r>
          </a:p>
          <a:p>
            <a:r>
              <a:rPr lang="en-US" dirty="0" smtClean="0"/>
              <a:t>MIKINDANI</a:t>
            </a:r>
          </a:p>
          <a:p>
            <a:r>
              <a:rPr lang="en-US" dirty="0" smtClean="0"/>
              <a:t>TABORA – LAKE VICTORIA CORRIDOR</a:t>
            </a:r>
          </a:p>
          <a:p>
            <a:r>
              <a:rPr lang="en-US" dirty="0" smtClean="0"/>
              <a:t>KIGOMA – UJIJI – LAKE TANGANYIKA CORRIDOR</a:t>
            </a:r>
          </a:p>
          <a:p>
            <a:r>
              <a:rPr lang="en-US" dirty="0" smtClean="0"/>
              <a:t>MBEYA</a:t>
            </a:r>
          </a:p>
          <a:p>
            <a:r>
              <a:rPr lang="en-US" dirty="0" smtClean="0"/>
              <a:t>IRINGA</a:t>
            </a:r>
          </a:p>
          <a:p>
            <a:r>
              <a:rPr lang="en-US" dirty="0" smtClean="0"/>
              <a:t>LAKE NYASA CORRIDOR</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457200" y="704088"/>
            <a:ext cx="8229600" cy="667512"/>
          </a:xfrm>
        </p:spPr>
        <p:txBody>
          <a:bodyPr>
            <a:normAutofit fontScale="90000"/>
          </a:bodyPr>
          <a:lstStyle/>
          <a:p>
            <a:r>
              <a:rPr lang="en-US" dirty="0" smtClean="0"/>
              <a:t>REALITY OF RELATIONS</a:t>
            </a:r>
            <a:endParaRPr lang="en-US" dirty="0"/>
          </a:p>
        </p:txBody>
      </p:sp>
      <p:sp>
        <p:nvSpPr>
          <p:cNvPr id="19" name="Text Placeholder 18"/>
          <p:cNvSpPr>
            <a:spLocks noGrp="1"/>
          </p:cNvSpPr>
          <p:nvPr>
            <p:ph type="body" idx="1"/>
          </p:nvPr>
        </p:nvSpPr>
        <p:spPr>
          <a:xfrm>
            <a:off x="0" y="1855248"/>
            <a:ext cx="4497388" cy="1268952"/>
          </a:xfrm>
        </p:spPr>
        <p:txBody>
          <a:bodyPr/>
          <a:lstStyle/>
          <a:p>
            <a:r>
              <a:rPr lang="en-GB" dirty="0" smtClean="0"/>
              <a:t>SHIRAZI ELITE CLASS, PART OF MONARCHY POLITICAL </a:t>
            </a:r>
            <a:r>
              <a:rPr lang="en-GB" dirty="0" smtClean="0"/>
              <a:t>CLASS IN ZANZIBAR</a:t>
            </a:r>
            <a:endParaRPr lang="en-GB" dirty="0" smtClean="0"/>
          </a:p>
          <a:p>
            <a:endParaRPr lang="en-US" dirty="0"/>
          </a:p>
        </p:txBody>
      </p:sp>
      <p:sp>
        <p:nvSpPr>
          <p:cNvPr id="20" name="Text Placeholder 19"/>
          <p:cNvSpPr>
            <a:spLocks noGrp="1"/>
          </p:cNvSpPr>
          <p:nvPr>
            <p:ph type="body" sz="half" idx="3"/>
          </p:nvPr>
        </p:nvSpPr>
        <p:spPr>
          <a:xfrm>
            <a:off x="4645025" y="1447801"/>
            <a:ext cx="4041775" cy="1066800"/>
          </a:xfrm>
        </p:spPr>
        <p:txBody>
          <a:bodyPr>
            <a:normAutofit fontScale="85000" lnSpcReduction="10000"/>
          </a:bodyPr>
          <a:lstStyle/>
          <a:p>
            <a:r>
              <a:rPr lang="en-GB" dirty="0" smtClean="0"/>
              <a:t>PROVIDE THE MILITARY </a:t>
            </a:r>
            <a:r>
              <a:rPr lang="en-GB" dirty="0" smtClean="0"/>
              <a:t>THE BALOCHI – ZANZIBAR, TABORA  - MBEYA CORRIDOR</a:t>
            </a:r>
            <a:endParaRPr lang="en-US" dirty="0"/>
          </a:p>
        </p:txBody>
      </p:sp>
      <p:pic>
        <p:nvPicPr>
          <p:cNvPr id="10" name="Content Placeholder 7" descr="http://1.bp.blogspot.com/-2dBX9Z3E1Jw/VFoYZA7uQRI/AAAAAAAABqc/OmxMGnY_B8E/s1600/Ghandi%2Bin%2Bzanzibar.jpg"/>
          <p:cNvPicPr>
            <a:picLocks noGrp="1"/>
          </p:cNvPicPr>
          <p:nvPr>
            <p:ph sz="quarter" idx="2"/>
          </p:nvPr>
        </p:nvPicPr>
        <p:blipFill>
          <a:blip r:embed="rId2" cstate="print"/>
          <a:stretch>
            <a:fillRect/>
          </a:stretch>
        </p:blipFill>
        <p:spPr bwMode="auto">
          <a:xfrm>
            <a:off x="457200" y="3276600"/>
            <a:ext cx="4040188" cy="3200400"/>
          </a:xfrm>
          <a:prstGeom prst="rect">
            <a:avLst/>
          </a:prstGeom>
          <a:noFill/>
          <a:ln w="9525">
            <a:noFill/>
            <a:miter lim="800000"/>
            <a:headEnd/>
            <a:tailEnd/>
          </a:ln>
        </p:spPr>
      </p:pic>
      <p:pic>
        <p:nvPicPr>
          <p:cNvPr id="17" name="Content Placeholder 6" descr="http://www.kevinrdshepherd.info/images/320px-26th_(Baluchistan)_Regiment,_Bombay_Infantry_1897.jpg"/>
          <p:cNvPicPr>
            <a:picLocks noGrp="1"/>
          </p:cNvPicPr>
          <p:nvPr>
            <p:ph sz="quarter" idx="4"/>
          </p:nvPr>
        </p:nvPicPr>
        <p:blipFill>
          <a:blip r:embed="rId3"/>
          <a:stretch>
            <a:fillRect/>
          </a:stretch>
        </p:blipFill>
        <p:spPr bwMode="auto">
          <a:xfrm>
            <a:off x="4648200" y="3004344"/>
            <a:ext cx="4114799" cy="2867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457200"/>
            <a:ext cx="8915400" cy="990600"/>
          </a:xfrm>
        </p:spPr>
        <p:txBody>
          <a:bodyPr>
            <a:normAutofit fontScale="90000"/>
          </a:bodyPr>
          <a:lstStyle/>
          <a:p>
            <a:r>
              <a:rPr lang="en-US" dirty="0" smtClean="0"/>
              <a:t> </a:t>
            </a:r>
            <a:r>
              <a:rPr lang="en-US" dirty="0" smtClean="0"/>
              <a:t>RELATIONS: HISTORICAL PRESENTISM</a:t>
            </a:r>
            <a:endParaRPr lang="en-US" dirty="0"/>
          </a:p>
        </p:txBody>
      </p:sp>
      <p:sp>
        <p:nvSpPr>
          <p:cNvPr id="2" name="Content Placeholder 1"/>
          <p:cNvSpPr>
            <a:spLocks noGrp="1"/>
          </p:cNvSpPr>
          <p:nvPr>
            <p:ph idx="1"/>
          </p:nvPr>
        </p:nvSpPr>
        <p:spPr>
          <a:xfrm>
            <a:off x="228600" y="1481328"/>
            <a:ext cx="8763000" cy="5224272"/>
          </a:xfrm>
        </p:spPr>
        <p:txBody>
          <a:bodyPr>
            <a:normAutofit/>
          </a:bodyPr>
          <a:lstStyle/>
          <a:p>
            <a:r>
              <a:rPr lang="en-GB" dirty="0" smtClean="0"/>
              <a:t>1821 </a:t>
            </a:r>
            <a:r>
              <a:rPr lang="en-GB" dirty="0" smtClean="0"/>
              <a:t>SULTAN SEYYID SAID HIRED AN IRANIAN FLEET CONSISTING MOSTLY BALOCH TO INVADE THE ISLAND</a:t>
            </a:r>
          </a:p>
          <a:p>
            <a:r>
              <a:rPr lang="en-GB" dirty="0" smtClean="0"/>
              <a:t>IN 1873, HALF OF THE SULTAN’S 3000 ZANZIBARI TROOPS ENGAGED IN THE WAR IN UNYANYEMBE AGAINST NYAMWEZI CHIEF MIRAMBO WERE BULUSHI (BALOCH) AND SHIHIRI (HADRAMI) MERCENARIES</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RELATIONS: PEOPLE CENTRIC </a:t>
            </a:r>
            <a:endParaRPr lang="en-US" dirty="0"/>
          </a:p>
        </p:txBody>
      </p:sp>
      <p:sp>
        <p:nvSpPr>
          <p:cNvPr id="3" name="Content Placeholder 2"/>
          <p:cNvSpPr>
            <a:spLocks noGrp="1"/>
          </p:cNvSpPr>
          <p:nvPr>
            <p:ph idx="1"/>
          </p:nvPr>
        </p:nvSpPr>
        <p:spPr/>
        <p:txBody>
          <a:bodyPr>
            <a:normAutofit lnSpcReduction="10000"/>
          </a:bodyPr>
          <a:lstStyle/>
          <a:p>
            <a:r>
              <a:rPr lang="en-US" dirty="0" smtClean="0"/>
              <a:t>CULTURE: </a:t>
            </a:r>
            <a:r>
              <a:rPr lang="en-GB" dirty="0" smtClean="0"/>
              <a:t>IRAN CULTURAL INFLUENCES – ARISTOCRATIC LIFESTYLES PERSIAN ITEMS - CHEREHANI, KARKHANA</a:t>
            </a:r>
          </a:p>
          <a:p>
            <a:r>
              <a:rPr lang="en-GB" dirty="0" smtClean="0"/>
              <a:t>IDENTITY OF THE SHIRAZI PEOPLE IN ZANZIBAR</a:t>
            </a:r>
            <a:endParaRPr lang="en-US" dirty="0" smtClean="0"/>
          </a:p>
          <a:p>
            <a:r>
              <a:rPr lang="en-US" dirty="0" smtClean="0"/>
              <a:t>RELIGION: SUNNI IN EARLY ISLAMIC PERIOD; SHIA ITHNAASHERI PRESENCE IN SWAHILI/SHIRAZI - INTERMARRIAGE</a:t>
            </a:r>
          </a:p>
          <a:p>
            <a:r>
              <a:rPr lang="en-US" dirty="0" smtClean="0"/>
              <a:t>LINGUISTIC: </a:t>
            </a:r>
            <a:r>
              <a:rPr lang="en-GB" dirty="0" smtClean="0"/>
              <a:t>IRAN LINGUISTIC INFLUENCES IN SWAHILI WORDS ESP MILITARY FROM BALOCHI – JEMEDARI, SINGE, AFANDE, BUNDUKI, HABEDARI (ARABIC-PERSIAN-TURKIC)</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PROMOTE </a:t>
            </a:r>
            <a:r>
              <a:rPr lang="en-US" dirty="0" smtClean="0"/>
              <a:t>STRATEGIC PARTNERSHIP </a:t>
            </a:r>
            <a:endParaRPr lang="en-US" dirty="0"/>
          </a:p>
        </p:txBody>
      </p:sp>
      <p:sp>
        <p:nvSpPr>
          <p:cNvPr id="3" name="Content Placeholder 2"/>
          <p:cNvSpPr>
            <a:spLocks noGrp="1"/>
          </p:cNvSpPr>
          <p:nvPr>
            <p:ph idx="1"/>
          </p:nvPr>
        </p:nvSpPr>
        <p:spPr/>
        <p:txBody>
          <a:bodyPr/>
          <a:lstStyle/>
          <a:p>
            <a:r>
              <a:rPr lang="en-US" dirty="0" smtClean="0"/>
              <a:t>STRATEGIC PARTNERSHIP – SOUTH-SOUTH</a:t>
            </a:r>
          </a:p>
          <a:p>
            <a:r>
              <a:rPr lang="en-US" dirty="0" smtClean="0"/>
              <a:t>ALTERNATIVE DEVELOPMENT </a:t>
            </a:r>
            <a:r>
              <a:rPr lang="en-US" dirty="0" smtClean="0"/>
              <a:t>MODEL  - PEOPLE CENTRIC </a:t>
            </a:r>
          </a:p>
          <a:p>
            <a:r>
              <a:rPr lang="en-US" dirty="0" smtClean="0"/>
              <a:t>POOR DEVELOPMENTAL MODEL</a:t>
            </a:r>
          </a:p>
          <a:p>
            <a:r>
              <a:rPr lang="en-US" dirty="0" smtClean="0"/>
              <a:t>INTERNAL </a:t>
            </a:r>
            <a:r>
              <a:rPr lang="en-US" dirty="0" smtClean="0"/>
              <a:t>NON WESTERN/EASTERN </a:t>
            </a:r>
          </a:p>
          <a:p>
            <a:r>
              <a:rPr lang="en-US" dirty="0" smtClean="0"/>
              <a:t>UNIFYING IDEOLOGY SIGNIFICANCE CEREMMONIAL CENTRE – UJAMAA </a:t>
            </a:r>
            <a:r>
              <a:rPr lang="en-US" dirty="0" err="1" smtClean="0"/>
              <a:t>vs</a:t>
            </a:r>
            <a:r>
              <a:rPr lang="en-US" dirty="0" smtClean="0"/>
              <a:t> ISLAM</a:t>
            </a:r>
            <a:endParaRPr lang="en-US" dirty="0"/>
          </a:p>
        </p:txBody>
      </p:sp>
    </p:spTree>
    <p:extLst>
      <p:ext uri="{BB962C8B-B14F-4D97-AF65-F5344CB8AC3E}">
        <p14:creationId xmlns:p14="http://schemas.microsoft.com/office/powerpoint/2010/main" xmlns="" val="2059983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CEREMMONIAL SYMBOLISM CENTRES UNIFYING IDEOLOGY</a:t>
            </a:r>
            <a:endParaRPr lang="en-US" dirty="0"/>
          </a:p>
        </p:txBody>
      </p:sp>
      <p:sp>
        <p:nvSpPr>
          <p:cNvPr id="5" name="Text Placeholder 4"/>
          <p:cNvSpPr>
            <a:spLocks noGrp="1"/>
          </p:cNvSpPr>
          <p:nvPr>
            <p:ph type="body" idx="1"/>
          </p:nvPr>
        </p:nvSpPr>
        <p:spPr/>
        <p:txBody>
          <a:bodyPr>
            <a:normAutofit fontScale="92500" lnSpcReduction="10000"/>
          </a:bodyPr>
          <a:lstStyle/>
          <a:p>
            <a:r>
              <a:rPr lang="en-US" dirty="0" smtClean="0"/>
              <a:t>ISLAM - AYATOLLAH KHOMEINI </a:t>
            </a:r>
            <a:endParaRPr lang="en-US" dirty="0"/>
          </a:p>
        </p:txBody>
      </p:sp>
      <p:sp>
        <p:nvSpPr>
          <p:cNvPr id="7" name="Text Placeholder 6"/>
          <p:cNvSpPr>
            <a:spLocks noGrp="1"/>
          </p:cNvSpPr>
          <p:nvPr>
            <p:ph type="body" sz="half" idx="3"/>
          </p:nvPr>
        </p:nvSpPr>
        <p:spPr/>
        <p:txBody>
          <a:bodyPr>
            <a:normAutofit/>
          </a:bodyPr>
          <a:lstStyle/>
          <a:p>
            <a:r>
              <a:rPr lang="en-US" dirty="0" smtClean="0"/>
              <a:t>UJAMAA – MWL NYERERE</a:t>
            </a:r>
            <a:endParaRPr lang="en-US" dirty="0"/>
          </a:p>
        </p:txBody>
      </p:sp>
      <p:pic>
        <p:nvPicPr>
          <p:cNvPr id="9" name="Picture 2"/>
          <p:cNvPicPr>
            <a:picLocks noGrp="1" noChangeAspect="1" noChangeArrowheads="1"/>
          </p:cNvPicPr>
          <p:nvPr>
            <p:ph sz="quarter" idx="2"/>
          </p:nvPr>
        </p:nvPicPr>
        <p:blipFill>
          <a:blip r:embed="rId3">
            <a:extLst>
              <a:ext uri="{28A0092B-C50C-407E-A947-70E740481C1C}">
                <a14:useLocalDpi xmlns="" xmlns:a14="http://schemas.microsoft.com/office/drawing/2010/main" val="0"/>
              </a:ext>
            </a:extLst>
          </a:blip>
          <a:srcRect/>
          <a:stretch>
            <a:fillRect/>
          </a:stretch>
        </p:blipFill>
        <p:spPr bwMode="auto">
          <a:xfrm>
            <a:off x="457200" y="2209800"/>
            <a:ext cx="4040188" cy="2971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 name="Content Placeholder 9"/>
          <p:cNvPicPr>
            <a:picLocks noGrp="1" noChangeAspect="1"/>
          </p:cNvPicPr>
          <p:nvPr>
            <p:ph sz="quarter" idx="4"/>
          </p:nvPr>
        </p:nvPicPr>
        <p:blipFill>
          <a:blip r:embed="rId4" cstate="print">
            <a:extLst>
              <a:ext uri="{28A0092B-C50C-407E-A947-70E740481C1C}">
                <a14:useLocalDpi xmlns="" xmlns:a14="http://schemas.microsoft.com/office/drawing/2010/main" val="0"/>
              </a:ext>
            </a:extLst>
          </a:blip>
          <a:stretch>
            <a:fillRect/>
          </a:stretch>
        </p:blipFill>
        <p:spPr>
          <a:xfrm>
            <a:off x="4645025" y="2286001"/>
            <a:ext cx="4041775" cy="2971799"/>
          </a:xfrm>
        </p:spPr>
      </p:pic>
      <p:sp>
        <p:nvSpPr>
          <p:cNvPr id="8" name="TextBox 7"/>
          <p:cNvSpPr txBox="1"/>
          <p:nvPr/>
        </p:nvSpPr>
        <p:spPr>
          <a:xfrm>
            <a:off x="2057400" y="6172200"/>
            <a:ext cx="4596114" cy="400110"/>
          </a:xfrm>
          <a:prstGeom prst="rect">
            <a:avLst/>
          </a:prstGeom>
          <a:noFill/>
        </p:spPr>
        <p:txBody>
          <a:bodyPr wrap="square" rtlCol="0">
            <a:spAutoFit/>
          </a:bodyPr>
          <a:lstStyle/>
          <a:p>
            <a:r>
              <a:rPr lang="en-US" sz="2000" b="1" dirty="0" smtClean="0"/>
              <a:t>MAGUFULIPHILIA - TANZAPHILIA</a:t>
            </a:r>
            <a:endParaRPr lang="en-US" sz="2000" b="1" dirty="0"/>
          </a:p>
        </p:txBody>
      </p:sp>
      <p:sp>
        <p:nvSpPr>
          <p:cNvPr id="11" name="Down Arrow 10"/>
          <p:cNvSpPr/>
          <p:nvPr/>
        </p:nvSpPr>
        <p:spPr>
          <a:xfrm>
            <a:off x="3124200" y="5105400"/>
            <a:ext cx="2819400" cy="990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83824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04088"/>
            <a:ext cx="8763000" cy="1143000"/>
          </a:xfrm>
        </p:spPr>
        <p:txBody>
          <a:bodyPr>
            <a:normAutofit fontScale="90000"/>
          </a:bodyPr>
          <a:lstStyle/>
          <a:p>
            <a:pPr algn="ctr"/>
            <a:r>
              <a:rPr lang="en-US" dirty="0" smtClean="0"/>
              <a:t>OUR COMMON ROOTS TO </a:t>
            </a:r>
            <a:r>
              <a:rPr lang="en-US" dirty="0" smtClean="0"/>
              <a:t>STRATEGIC </a:t>
            </a:r>
            <a:r>
              <a:rPr lang="en-US" dirty="0" smtClean="0"/>
              <a:t>PARTNERSHIP</a:t>
            </a:r>
            <a:endParaRPr lang="en-US" dirty="0"/>
          </a:p>
        </p:txBody>
      </p:sp>
      <p:sp>
        <p:nvSpPr>
          <p:cNvPr id="3" name="Content Placeholder 2"/>
          <p:cNvSpPr>
            <a:spLocks noGrp="1"/>
          </p:cNvSpPr>
          <p:nvPr>
            <p:ph idx="1"/>
          </p:nvPr>
        </p:nvSpPr>
        <p:spPr/>
        <p:txBody>
          <a:bodyPr>
            <a:normAutofit/>
          </a:bodyPr>
          <a:lstStyle/>
          <a:p>
            <a:r>
              <a:rPr lang="en-US" dirty="0" smtClean="0"/>
              <a:t>SIGNIFICANT STRATEGIC HISTORICAL </a:t>
            </a:r>
            <a:r>
              <a:rPr lang="en-US" dirty="0" smtClean="0"/>
              <a:t>, GEOPOLITICAL </a:t>
            </a:r>
            <a:r>
              <a:rPr lang="en-US" dirty="0" smtClean="0"/>
              <a:t>LOCATION </a:t>
            </a:r>
            <a:endParaRPr lang="en-US" dirty="0" smtClean="0"/>
          </a:p>
          <a:p>
            <a:r>
              <a:rPr lang="en-US" dirty="0" smtClean="0"/>
              <a:t>LONG SOUTH </a:t>
            </a:r>
            <a:r>
              <a:rPr lang="en-US" dirty="0" err="1" smtClean="0"/>
              <a:t>SOUTH</a:t>
            </a:r>
            <a:r>
              <a:rPr lang="en-US" dirty="0" smtClean="0"/>
              <a:t> NON ALIGNED GROUP</a:t>
            </a:r>
          </a:p>
          <a:p>
            <a:r>
              <a:rPr lang="en-US" dirty="0" smtClean="0"/>
              <a:t>SUPPORT EACH OTHER IN SITUATION OF STRESS – ISOLATION GLOBALLY – UJAMAA, ISLAMIST IDEOLOGY  - WAR, </a:t>
            </a:r>
          </a:p>
          <a:p>
            <a:r>
              <a:rPr lang="en-US" dirty="0" smtClean="0"/>
              <a:t>SOUTH </a:t>
            </a:r>
            <a:r>
              <a:rPr lang="en-US" dirty="0" err="1" smtClean="0"/>
              <a:t>SOUTH</a:t>
            </a:r>
            <a:r>
              <a:rPr lang="en-US" dirty="0" smtClean="0"/>
              <a:t> PARTNER SINCE REVOLUTION - RUBADA</a:t>
            </a:r>
          </a:p>
          <a:p>
            <a:endParaRPr lang="en-US" dirty="0"/>
          </a:p>
        </p:txBody>
      </p:sp>
    </p:spTree>
    <p:extLst>
      <p:ext uri="{BB962C8B-B14F-4D97-AF65-F5344CB8AC3E}">
        <p14:creationId xmlns:p14="http://schemas.microsoft.com/office/powerpoint/2010/main" xmlns="" val="1873448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STRATECIC PARTNERNING </a:t>
            </a:r>
            <a:r>
              <a:rPr lang="en-US" dirty="0" smtClean="0"/>
              <a:t>POTENTIAL HEAVYWEIGHTS</a:t>
            </a:r>
            <a:endParaRPr lang="en-US" dirty="0"/>
          </a:p>
        </p:txBody>
      </p:sp>
      <p:sp>
        <p:nvSpPr>
          <p:cNvPr id="6" name="Text Placeholder 5"/>
          <p:cNvSpPr>
            <a:spLocks noGrp="1"/>
          </p:cNvSpPr>
          <p:nvPr>
            <p:ph type="body" idx="1"/>
          </p:nvPr>
        </p:nvSpPr>
        <p:spPr/>
        <p:txBody>
          <a:bodyPr/>
          <a:lstStyle/>
          <a:p>
            <a:r>
              <a:rPr lang="en-US" dirty="0" smtClean="0"/>
              <a:t>IRI – REGIONAL TERRAIN</a:t>
            </a:r>
            <a:endParaRPr lang="en-US" dirty="0"/>
          </a:p>
        </p:txBody>
      </p:sp>
      <p:sp>
        <p:nvSpPr>
          <p:cNvPr id="7" name="Text Placeholder 6"/>
          <p:cNvSpPr>
            <a:spLocks noGrp="1"/>
          </p:cNvSpPr>
          <p:nvPr>
            <p:ph type="body" sz="half" idx="3"/>
          </p:nvPr>
        </p:nvSpPr>
        <p:spPr/>
        <p:txBody>
          <a:bodyPr/>
          <a:lstStyle/>
          <a:p>
            <a:r>
              <a:rPr lang="en-US" dirty="0" smtClean="0"/>
              <a:t>TZ REGIONAL TERRAIN</a:t>
            </a:r>
            <a:endParaRPr lang="en-US" dirty="0"/>
          </a:p>
        </p:txBody>
      </p:sp>
      <p:sp>
        <p:nvSpPr>
          <p:cNvPr id="5" name="Content Placeholder 4"/>
          <p:cNvSpPr>
            <a:spLocks noGrp="1"/>
          </p:cNvSpPr>
          <p:nvPr>
            <p:ph sz="quarter" idx="2"/>
          </p:nvPr>
        </p:nvSpPr>
        <p:spPr/>
        <p:txBody>
          <a:bodyPr>
            <a:normAutofit fontScale="85000" lnSpcReduction="20000"/>
          </a:bodyPr>
          <a:lstStyle/>
          <a:p>
            <a:r>
              <a:rPr lang="en-US" dirty="0" smtClean="0"/>
              <a:t>IRI POWER IN PERSIAN GULF</a:t>
            </a:r>
          </a:p>
          <a:p>
            <a:r>
              <a:rPr lang="en-US" dirty="0" smtClean="0"/>
              <a:t>DRIVER OF CHANGE IN MIDDLE EAST, THE STANS, SOUTHERN CENTRAL EASTERN EUROPE</a:t>
            </a:r>
          </a:p>
          <a:p>
            <a:r>
              <a:rPr lang="en-US" dirty="0" smtClean="0"/>
              <a:t>POWER IN ISLAMIC STATES</a:t>
            </a:r>
          </a:p>
          <a:p>
            <a:r>
              <a:rPr lang="en-US" dirty="0" smtClean="0"/>
              <a:t>DRIVER OF SOUTH - SOUTH COOPERATION </a:t>
            </a:r>
          </a:p>
          <a:p>
            <a:r>
              <a:rPr lang="en-US" dirty="0" smtClean="0"/>
              <a:t>DRIVER INDEPENDENT NATIONAL DEVELOPMENT</a:t>
            </a:r>
          </a:p>
          <a:p>
            <a:r>
              <a:rPr lang="en-US" dirty="0" smtClean="0"/>
              <a:t>POWER BALANCE PERSIAN-MIDDLE EAST GLOBAL GEOPOLITICS, COLD WAR, POST COLD WAR </a:t>
            </a:r>
            <a:endParaRPr lang="en-US" dirty="0"/>
          </a:p>
        </p:txBody>
      </p:sp>
      <p:sp>
        <p:nvSpPr>
          <p:cNvPr id="9" name="Content Placeholder 6"/>
          <p:cNvSpPr>
            <a:spLocks noGrp="1"/>
          </p:cNvSpPr>
          <p:nvPr>
            <p:ph sz="quarter" idx="4"/>
          </p:nvPr>
        </p:nvSpPr>
        <p:spPr/>
        <p:txBody>
          <a:bodyPr/>
          <a:lstStyle/>
          <a:p>
            <a:r>
              <a:rPr lang="en-US" dirty="0" smtClean="0"/>
              <a:t>EAC STATES</a:t>
            </a:r>
          </a:p>
          <a:p>
            <a:r>
              <a:rPr lang="en-US" dirty="0" smtClean="0"/>
              <a:t>SADC STATES</a:t>
            </a:r>
          </a:p>
          <a:p>
            <a:r>
              <a:rPr lang="en-US" dirty="0" smtClean="0"/>
              <a:t>GREAT LAKES REGION</a:t>
            </a:r>
          </a:p>
          <a:p>
            <a:r>
              <a:rPr lang="en-US" dirty="0" smtClean="0"/>
              <a:t>COMESA </a:t>
            </a:r>
          </a:p>
          <a:p>
            <a:r>
              <a:rPr lang="en-US" dirty="0" smtClean="0"/>
              <a:t>AU</a:t>
            </a:r>
          </a:p>
          <a:p>
            <a:r>
              <a:rPr lang="en-US" dirty="0" smtClean="0"/>
              <a:t>SOUTH – GLOBAL STATES</a:t>
            </a:r>
            <a:endParaRPr lang="en-US" dirty="0"/>
          </a:p>
        </p:txBody>
      </p:sp>
    </p:spTree>
    <p:extLst>
      <p:ext uri="{BB962C8B-B14F-4D97-AF65-F5344CB8AC3E}">
        <p14:creationId xmlns:p14="http://schemas.microsoft.com/office/powerpoint/2010/main" xmlns="" val="831167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04088"/>
            <a:ext cx="8458200" cy="1143000"/>
          </a:xfrm>
        </p:spPr>
        <p:txBody>
          <a:bodyPr>
            <a:normAutofit/>
          </a:bodyPr>
          <a:lstStyle/>
          <a:p>
            <a:r>
              <a:rPr lang="en-US" dirty="0" smtClean="0"/>
              <a:t>IRAN INVESTMENT OTLOOK</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xmlns="" val="0"/>
              </a:ext>
            </a:extLst>
          </a:blip>
          <a:stretch>
            <a:fillRect/>
          </a:stretch>
        </p:blipFill>
        <p:spPr bwMode="auto">
          <a:xfrm>
            <a:off x="1614816" y="1905000"/>
            <a:ext cx="5914367" cy="4403725"/>
          </a:xfrm>
          <a:prstGeom prst="rect">
            <a:avLst/>
          </a:prstGeom>
          <a:noFill/>
          <a:ln>
            <a:noFill/>
          </a:ln>
        </p:spPr>
      </p:pic>
      <p:sp>
        <p:nvSpPr>
          <p:cNvPr id="5" name="TextBox 4"/>
          <p:cNvSpPr txBox="1"/>
          <p:nvPr/>
        </p:nvSpPr>
        <p:spPr>
          <a:xfrm>
            <a:off x="685800" y="2514600"/>
            <a:ext cx="1317027" cy="369332"/>
          </a:xfrm>
          <a:prstGeom prst="rect">
            <a:avLst/>
          </a:prstGeom>
          <a:noFill/>
        </p:spPr>
        <p:txBody>
          <a:bodyPr wrap="none" rtlCol="0">
            <a:spAutoFit/>
          </a:bodyPr>
          <a:lstStyle/>
          <a:p>
            <a:r>
              <a:rPr lang="en-US" b="1" dirty="0" smtClean="0">
                <a:solidFill>
                  <a:srgbClr val="92D050"/>
                </a:solidFill>
              </a:rPr>
              <a:t>INTO STANS</a:t>
            </a:r>
            <a:endParaRPr lang="en-US" b="1" dirty="0">
              <a:solidFill>
                <a:srgbClr val="92D050"/>
              </a:solidFill>
            </a:endParaRPr>
          </a:p>
        </p:txBody>
      </p:sp>
      <p:sp>
        <p:nvSpPr>
          <p:cNvPr id="6" name="Right Arrow 5"/>
          <p:cNvSpPr/>
          <p:nvPr/>
        </p:nvSpPr>
        <p:spPr>
          <a:xfrm rot="16391506">
            <a:off x="2802797" y="5077613"/>
            <a:ext cx="1368765"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p:cNvSpPr/>
          <p:nvPr/>
        </p:nvSpPr>
        <p:spPr>
          <a:xfrm rot="14933035">
            <a:off x="3230725" y="3698291"/>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530858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STANS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IRAN IS SITUATED IN VOLATILE BUT RICH PERSIAN GULF</a:t>
            </a:r>
          </a:p>
          <a:p>
            <a:r>
              <a:rPr lang="en-US" dirty="0" smtClean="0"/>
              <a:t>HAS MANY ADVANTAGES - INFLUENCE IN STANS COUNTRIES, RUSSIA, CENTRAL AND EASTERN EUROPE AND THE MIDDLE EAST.</a:t>
            </a:r>
          </a:p>
          <a:p>
            <a:r>
              <a:rPr lang="en-US" dirty="0" smtClean="0"/>
              <a:t>STANS INCLUDES AFGHANISTAN, KAZAKHSTAN, KYRGYZSTAN, PAKISTAN, TAJIKISTAN, TURKMENISTAN AND UZBEKISTAN</a:t>
            </a:r>
          </a:p>
          <a:p>
            <a:r>
              <a:rPr lang="en-US" dirty="0" smtClean="0"/>
              <a:t>SOME FORMER USSR, A ZONE OF CONTENTION OF INTEREST. </a:t>
            </a:r>
          </a:p>
          <a:p>
            <a:r>
              <a:rPr lang="en-US" dirty="0" smtClean="0"/>
              <a:t>IRAN - GOLESTAN, KHUZESTAN AND KURDISTAN</a:t>
            </a:r>
          </a:p>
        </p:txBody>
      </p:sp>
    </p:spTree>
    <p:extLst>
      <p:ext uri="{BB962C8B-B14F-4D97-AF65-F5344CB8AC3E}">
        <p14:creationId xmlns:p14="http://schemas.microsoft.com/office/powerpoint/2010/main" xmlns="" val="3742745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1905000"/>
          </a:xfrm>
        </p:spPr>
        <p:txBody>
          <a:bodyPr>
            <a:normAutofit fontScale="90000"/>
          </a:bodyPr>
          <a:lstStyle/>
          <a:p>
            <a:r>
              <a:rPr lang="en-US" sz="4000" dirty="0" smtClean="0"/>
              <a:t>FUTURISTIC </a:t>
            </a:r>
            <a:r>
              <a:rPr lang="en-US" sz="4000" dirty="0" smtClean="0"/>
              <a:t>STRATEGIC </a:t>
            </a:r>
            <a:r>
              <a:rPr lang="en-US" sz="4000" dirty="0" smtClean="0"/>
              <a:t>SOUTH </a:t>
            </a:r>
            <a:r>
              <a:rPr lang="en-US" sz="4000" dirty="0" err="1" smtClean="0"/>
              <a:t>SOUTH</a:t>
            </a:r>
            <a:r>
              <a:rPr lang="en-US" sz="4000" dirty="0" smtClean="0"/>
              <a:t> PARTNERSHIP </a:t>
            </a:r>
            <a:r>
              <a:rPr lang="en-US" sz="4000" dirty="0" smtClean="0"/>
              <a:t>FOR COMPETITIVE </a:t>
            </a:r>
            <a:r>
              <a:rPr lang="en-US" sz="4000" dirty="0" smtClean="0"/>
              <a:t>ADVANTAGE </a:t>
            </a:r>
            <a:br>
              <a:rPr lang="en-US" sz="4000" dirty="0" smtClean="0"/>
            </a:br>
            <a:endParaRPr lang="en-US" sz="4000" dirty="0"/>
          </a:p>
        </p:txBody>
      </p:sp>
      <p:sp>
        <p:nvSpPr>
          <p:cNvPr id="3" name="Content Placeholder 2"/>
          <p:cNvSpPr>
            <a:spLocks noGrp="1"/>
          </p:cNvSpPr>
          <p:nvPr>
            <p:ph idx="1"/>
          </p:nvPr>
        </p:nvSpPr>
        <p:spPr>
          <a:xfrm>
            <a:off x="457200" y="2209800"/>
            <a:ext cx="8229600" cy="4419600"/>
          </a:xfrm>
        </p:spPr>
        <p:txBody>
          <a:bodyPr>
            <a:normAutofit/>
          </a:bodyPr>
          <a:lstStyle/>
          <a:p>
            <a:r>
              <a:rPr lang="en-US" dirty="0" smtClean="0"/>
              <a:t>ERA OF COMPETITIVE IMPERIALIST  NON POLAR WORLD</a:t>
            </a:r>
          </a:p>
          <a:p>
            <a:r>
              <a:rPr lang="en-US" dirty="0" smtClean="0"/>
              <a:t>OPPORTUNITY  FOR AFRICA  PEOPLE TO UNITE AND PARTNER/WORK WITH WEAK TO ACHIEVE ECONOMIC LIBERATION</a:t>
            </a:r>
          </a:p>
          <a:p>
            <a:r>
              <a:rPr lang="en-US" dirty="0" smtClean="0"/>
              <a:t>THE FUTURE LIES IN FOCUSING SUCH OPPORTUNITIES </a:t>
            </a:r>
          </a:p>
          <a:p>
            <a:r>
              <a:rPr lang="en-US" dirty="0" smtClean="0"/>
              <a:t>ECONOMIC REVOLUTION STEMS FROM PEOLE CENTRIC CONNECTION OPTION AND PARTNERSHIPS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fontScale="92500"/>
          </a:bodyPr>
          <a:lstStyle/>
          <a:p>
            <a:r>
              <a:rPr lang="en-US" dirty="0" smtClean="0"/>
              <a:t>IRAN TO EAST AFRICA ESPECIALLY TANZANIA OFFER AN OPPORTUNITY FOR PEOPLE CENTRIC ECONOMIC LIBERATION</a:t>
            </a:r>
          </a:p>
          <a:p>
            <a:r>
              <a:rPr lang="en-US" dirty="0" smtClean="0"/>
              <a:t>ACHIEVING ECONOMIC LIBERATION FOR THE WEAK REQUIRES BOTH THE WEAK/SOUTH PARTNERSHIP IN STRATEGIES  AND IN CHANGE OF PARADIGM AGAINST CAPITALIST IMPERIALIST  DECEPTION STRAGIES/MACHINATION ON REVOLUTIONARY MOBILAZATION TOOLS – BE IT IDEOLOGICAL, RELIGIOUS, CULTURAL, HISTORICAL – UNITY OF PURPOSE BE MANTAINED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 y="704088"/>
            <a:ext cx="8763000" cy="4477512"/>
          </a:xfrm>
        </p:spPr>
        <p:txBody>
          <a:bodyPr>
            <a:normAutofit/>
          </a:bodyPr>
          <a:lstStyle/>
          <a:p>
            <a:r>
              <a:rPr lang="en-US" sz="2400" dirty="0" smtClean="0"/>
              <a:t>U</a:t>
            </a:r>
            <a:r>
              <a:rPr lang="en-US" sz="2400" dirty="0" smtClean="0"/>
              <a:t>NIFYING </a:t>
            </a:r>
            <a:r>
              <a:rPr lang="en-US" sz="2400" dirty="0" smtClean="0"/>
              <a:t>IDEOLOGIES   </a:t>
            </a:r>
            <a:r>
              <a:rPr lang="en-US" sz="2400" dirty="0" smtClean="0"/>
              <a:t>ARE LIFEBLOOD </a:t>
            </a:r>
            <a:r>
              <a:rPr lang="en-US" sz="2400" dirty="0" smtClean="0"/>
              <a:t>OF NATIONS DEVELOPMENT – ISLAM, UJAMAA JUST LIKE WESTERN WORLD THE IDEOLOGY OF WESTERN DEMOCRACY </a:t>
            </a:r>
            <a:br>
              <a:rPr lang="en-US" sz="2400" dirty="0" smtClean="0"/>
            </a:br>
            <a:r>
              <a:rPr lang="en-US" sz="2400" dirty="0" smtClean="0"/>
              <a:t>TZ IRAN PRIDE STEMS FROM OUR HISTORY - INCULCATES NATION PRIDE, PROMOTES NATIONAL INTERESTS AND INTENSIFIES SOLIDARITY</a:t>
            </a:r>
            <a:br>
              <a:rPr lang="en-US" sz="2400" dirty="0" smtClean="0"/>
            </a:br>
            <a:r>
              <a:rPr lang="en-US" sz="2400" dirty="0" smtClean="0"/>
              <a:t>OVER 1000 YEARS TIES MUST BUILT TRUST IN DIPLOMACY, COOPERATION IS OUR STRATEGIC PARTNERSHIP SPRING BOARD </a:t>
            </a:r>
            <a:br>
              <a:rPr lang="en-US" sz="2400" dirty="0" smtClean="0"/>
            </a:br>
            <a:r>
              <a:rPr lang="en-US" sz="2400" dirty="0" smtClean="0"/>
              <a:t>PEOPLES CONNECTIVITY MUST OPEN ECONOMIC REVOLUTION AND DEVOLOPMENT</a:t>
            </a:r>
            <a:br>
              <a:rPr lang="en-US" sz="2400" dirty="0" smtClean="0"/>
            </a:br>
            <a:endParaRPr lang="en-US" sz="2400" dirty="0"/>
          </a:p>
        </p:txBody>
      </p:sp>
      <p:sp>
        <p:nvSpPr>
          <p:cNvPr id="8" name="TextBox 7"/>
          <p:cNvSpPr txBox="1"/>
          <p:nvPr/>
        </p:nvSpPr>
        <p:spPr>
          <a:xfrm rot="19255023">
            <a:off x="1292877" y="5617778"/>
            <a:ext cx="2615721" cy="369332"/>
          </a:xfrm>
          <a:prstGeom prst="rect">
            <a:avLst/>
          </a:prstGeom>
          <a:noFill/>
        </p:spPr>
        <p:txBody>
          <a:bodyPr wrap="square" rtlCol="0">
            <a:spAutoFit/>
          </a:bodyPr>
          <a:lstStyle/>
          <a:p>
            <a:r>
              <a:rPr lang="en-US" dirty="0" smtClean="0"/>
              <a:t>THANK YOU</a:t>
            </a:r>
            <a:endParaRPr lang="en-US" dirty="0"/>
          </a:p>
        </p:txBody>
      </p:sp>
      <p:sp>
        <p:nvSpPr>
          <p:cNvPr id="9" name="TextBox 8"/>
          <p:cNvSpPr txBox="1"/>
          <p:nvPr/>
        </p:nvSpPr>
        <p:spPr>
          <a:xfrm rot="2978103">
            <a:off x="6029878" y="5808626"/>
            <a:ext cx="1767921" cy="369332"/>
          </a:xfrm>
          <a:prstGeom prst="rect">
            <a:avLst/>
          </a:prstGeom>
          <a:noFill/>
        </p:spPr>
        <p:txBody>
          <a:bodyPr wrap="square" rtlCol="0">
            <a:spAutoFit/>
          </a:bodyPr>
          <a:lstStyle/>
          <a:p>
            <a:r>
              <a:rPr lang="en-US" dirty="0" smtClean="0"/>
              <a:t>ASANTE SANA</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2640</TotalTime>
  <Words>860</Words>
  <Application>Microsoft Office PowerPoint</Application>
  <PresentationFormat>On-screen Show (4:3)</PresentationFormat>
  <Paragraphs>122</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Flow</vt:lpstr>
      <vt:lpstr>        FUTURISTIC OUTLOOK OF STRATEGIC PARTNERSHIP BETWEEN IRAN  - ISLAMIC REPUBLIC OF IRAN AND EAST AFRICA WITH SPECIAL ATTENTION TO TANZANIA</vt:lpstr>
      <vt:lpstr>SECTIONNS</vt:lpstr>
      <vt:lpstr>SITUATING PRESENTATION</vt:lpstr>
      <vt:lpstr>RECENT FORUMS </vt:lpstr>
      <vt:lpstr>         IRI EA TANZANIA SITUATION &amp; PARADIGMATIC SHIFT </vt:lpstr>
      <vt:lpstr>PRESENTISM STRATEGIC UTILITY  </vt:lpstr>
      <vt:lpstr>IRI – TZ RELATIONS TOOLING KIT</vt:lpstr>
      <vt:lpstr>OUR RELATIONS STRATEGIC TOOLKIT  - PEOPLE CENTRIC </vt:lpstr>
      <vt:lpstr>REALITY OF RELATIONS</vt:lpstr>
      <vt:lpstr> RELATIONS: HISTORICAL PRESENTISM</vt:lpstr>
      <vt:lpstr>RELATIONS: PEOPLE CENTRIC </vt:lpstr>
      <vt:lpstr>WHY PROMOTE STRATEGIC PARTNERSHIP </vt:lpstr>
      <vt:lpstr>CEREMMONIAL SYMBOLISM CENTRES UNIFYING IDEOLOGY</vt:lpstr>
      <vt:lpstr>OUR COMMON ROOTS TO STRATEGIC PARTNERSHIP</vt:lpstr>
      <vt:lpstr>STRATECIC PARTNERNING POTENTIAL HEAVYWEIGHTS</vt:lpstr>
      <vt:lpstr>IRAN INVESTMENT OTLOOK</vt:lpstr>
      <vt:lpstr>THE STANS</vt:lpstr>
      <vt:lpstr>FUTURISTIC STRATEGIC SOUTH SOUTH PARTNERSHIP FOR COMPETITIVE ADVANTAGE  </vt:lpstr>
      <vt:lpstr>CONCLUSION</vt:lpstr>
      <vt:lpstr>UNIFYING IDEOLOGIES   ARE LIFEBLOOD OF NATIONS DEVELOPMENT – ISLAM, UJAMAA JUST LIKE WESTERN WORLD THE IDEOLOGY OF WESTERN DEMOCRACY  TZ IRAN PRIDE STEMS FROM OUR HISTORY - INCULCATES NATION PRIDE, PROMOTES NATIONAL INTERESTS AND INTENSIFIES SOLIDARITY OVER 1000 YEARS TIES MUST BUILT TRUST IN DIPLOMACY, COOPERATION IS OUR STRATEGIC PARTNERSHIP SPRING BOARD  PEOPLES CONNECTIVITY MUST OPEN ECONOMIC REVOLUTION AND DEVOLOPMENT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FUTURISTIC OUTLOOK OF STRATEGIC PARTNERSHIP BETWEEN IRAN  - ISLAMIC REPUBLIC OF IRAN AND EAST AFRICA WITH SPECIAL ATTENTION TO TANZANIA</dc:title>
  <dc:creator>dell</dc:creator>
  <cp:lastModifiedBy>dell</cp:lastModifiedBy>
  <cp:revision>3</cp:revision>
  <dcterms:created xsi:type="dcterms:W3CDTF">2019-02-02T10:19:30Z</dcterms:created>
  <dcterms:modified xsi:type="dcterms:W3CDTF">2019-02-04T06:20:14Z</dcterms:modified>
</cp:coreProperties>
</file>