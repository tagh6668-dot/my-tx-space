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6" r:id="rId6"/>
    <p:sldId id="267" r:id="rId7"/>
    <p:sldId id="268" r:id="rId8"/>
    <p:sldId id="269" r:id="rId9"/>
    <p:sldId id="278" r:id="rId10"/>
    <p:sldId id="262" r:id="rId11"/>
    <p:sldId id="271" r:id="rId12"/>
    <p:sldId id="272" r:id="rId13"/>
    <p:sldId id="273" r:id="rId14"/>
    <p:sldId id="274" r:id="rId15"/>
    <p:sldId id="275" r:id="rId16"/>
    <p:sldId id="276" r:id="rId17"/>
    <p:sldId id="277" r:id="rId18"/>
    <p:sldId id="282"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8BE1B4-E930-4C1A-94DF-770B5E73170E}" type="datetimeFigureOut">
              <a:rPr lang="en-US" smtClean="0"/>
              <a:t>23/02/2017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3387966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8BE1B4-E930-4C1A-94DF-770B5E73170E}" type="datetimeFigureOut">
              <a:rPr lang="en-US" smtClean="0"/>
              <a:t>23/02/2017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122970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8BE1B4-E930-4C1A-94DF-770B5E73170E}" type="datetimeFigureOut">
              <a:rPr lang="en-US" smtClean="0"/>
              <a:t>23/02/2017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4038099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8BE1B4-E930-4C1A-94DF-770B5E73170E}" type="datetimeFigureOut">
              <a:rPr lang="en-US" smtClean="0"/>
              <a:t>23/02/2017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2218366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8BE1B4-E930-4C1A-94DF-770B5E73170E}" type="datetimeFigureOut">
              <a:rPr lang="en-US" smtClean="0"/>
              <a:t>23/02/2017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417600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8BE1B4-E930-4C1A-94DF-770B5E73170E}" type="datetimeFigureOut">
              <a:rPr lang="en-US" smtClean="0"/>
              <a:t>23/02/2017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3129789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8BE1B4-E930-4C1A-94DF-770B5E73170E}" type="datetimeFigureOut">
              <a:rPr lang="en-US" smtClean="0"/>
              <a:t>23/02/2017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3508568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8BE1B4-E930-4C1A-94DF-770B5E73170E}" type="datetimeFigureOut">
              <a:rPr lang="en-US" smtClean="0"/>
              <a:t>23/02/2017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1185856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8BE1B4-E930-4C1A-94DF-770B5E73170E}" type="datetimeFigureOut">
              <a:rPr lang="en-US" smtClean="0"/>
              <a:t>23/02/2017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2142602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8BE1B4-E930-4C1A-94DF-770B5E73170E}" type="datetimeFigureOut">
              <a:rPr lang="en-US" smtClean="0"/>
              <a:t>23/02/2017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2452775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8BE1B4-E930-4C1A-94DF-770B5E73170E}" type="datetimeFigureOut">
              <a:rPr lang="en-US" smtClean="0"/>
              <a:t>23/02/2017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AFB926-2B0B-4F90-A00B-4E9B176BFDCB}" type="slidenum">
              <a:rPr lang="en-US" smtClean="0"/>
              <a:t>‹#›</a:t>
            </a:fld>
            <a:endParaRPr lang="en-US"/>
          </a:p>
        </p:txBody>
      </p:sp>
    </p:spTree>
    <p:extLst>
      <p:ext uri="{BB962C8B-B14F-4D97-AF65-F5344CB8AC3E}">
        <p14:creationId xmlns:p14="http://schemas.microsoft.com/office/powerpoint/2010/main" val="910281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BE1B4-E930-4C1A-94DF-770B5E73170E}" type="datetimeFigureOut">
              <a:rPr lang="en-US" smtClean="0"/>
              <a:t>23/02/2017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FB926-2B0B-4F90-A00B-4E9B176BFDCB}" type="slidenum">
              <a:rPr lang="en-US" smtClean="0"/>
              <a:t>‹#›</a:t>
            </a:fld>
            <a:endParaRPr lang="en-US"/>
          </a:p>
        </p:txBody>
      </p:sp>
    </p:spTree>
    <p:extLst>
      <p:ext uri="{BB962C8B-B14F-4D97-AF65-F5344CB8AC3E}">
        <p14:creationId xmlns:p14="http://schemas.microsoft.com/office/powerpoint/2010/main" val="2386856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ezsoftech.com/islamic/salman.asp" TargetMode="External"/><Relationship Id="rId2" Type="http://schemas.openxmlformats.org/officeDocument/2006/relationships/hyperlink" Target="http://www.ezsoftech.com/stories/imam.ali.asp" TargetMode="External"/><Relationship Id="rId1" Type="http://schemas.openxmlformats.org/officeDocument/2006/relationships/slideLayout" Target="../slideLayouts/slideLayout2.xml"/><Relationship Id="rId5" Type="http://schemas.openxmlformats.org/officeDocument/2006/relationships/hyperlink" Target="http://www.ezsoftech.com/stories/companion7.asp" TargetMode="External"/><Relationship Id="rId4" Type="http://schemas.openxmlformats.org/officeDocument/2006/relationships/hyperlink" Target="http://www.ezsoftech.com/stories/companion2.as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How can Muslims defeat Divisive and Fascist Forces in India and in the world?</a:t>
            </a:r>
            <a:endParaRPr lang="en-US" dirty="0"/>
          </a:p>
        </p:txBody>
      </p:sp>
    </p:spTree>
    <p:extLst>
      <p:ext uri="{BB962C8B-B14F-4D97-AF65-F5344CB8AC3E}">
        <p14:creationId xmlns:p14="http://schemas.microsoft.com/office/powerpoint/2010/main" val="15309295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67408"/>
            <a:ext cx="10515600" cy="763459"/>
          </a:xfrm>
        </p:spPr>
        <p:txBody>
          <a:bodyPr>
            <a:normAutofit/>
          </a:bodyPr>
          <a:lstStyle/>
          <a:p>
            <a:pPr algn="ctr"/>
            <a:r>
              <a:rPr lang="en-US" sz="3200" b="1" dirty="0" smtClean="0"/>
              <a:t>Recent Incidents related to Muslims in India</a:t>
            </a:r>
            <a:endParaRPr lang="en-US" sz="3200" b="1" dirty="0"/>
          </a:p>
        </p:txBody>
      </p:sp>
      <p:sp>
        <p:nvSpPr>
          <p:cNvPr id="3" name="Content Placeholder 2"/>
          <p:cNvSpPr>
            <a:spLocks noGrp="1"/>
          </p:cNvSpPr>
          <p:nvPr>
            <p:ph idx="1"/>
          </p:nvPr>
        </p:nvSpPr>
        <p:spPr>
          <a:xfrm>
            <a:off x="838200" y="1416908"/>
            <a:ext cx="10515600" cy="4226011"/>
          </a:xfrm>
        </p:spPr>
        <p:txBody>
          <a:bodyPr>
            <a:normAutofit fontScale="62500" lnSpcReduction="20000"/>
          </a:bodyPr>
          <a:lstStyle/>
          <a:p>
            <a:pPr marL="0" indent="0" algn="ctr">
              <a:buNone/>
            </a:pPr>
            <a:r>
              <a:rPr lang="en-US" dirty="0" smtClean="0"/>
              <a:t>Did we respond to the following incidents properly….</a:t>
            </a:r>
          </a:p>
          <a:p>
            <a:pPr marL="0" indent="0" algn="ctr">
              <a:buNone/>
            </a:pPr>
            <a:r>
              <a:rPr lang="en-US" u="sng" dirty="0" smtClean="0"/>
              <a:t>Or  Who should protest or convey our anger to the Doers…</a:t>
            </a:r>
          </a:p>
          <a:p>
            <a:pPr marL="0" indent="0">
              <a:buNone/>
            </a:pPr>
            <a:endParaRPr lang="en-US" dirty="0" smtClean="0"/>
          </a:p>
          <a:p>
            <a:pPr marL="0" indent="0">
              <a:buNone/>
            </a:pPr>
            <a:endParaRPr lang="en-US" dirty="0" smtClean="0"/>
          </a:p>
          <a:p>
            <a:r>
              <a:rPr lang="en-US" dirty="0" smtClean="0"/>
              <a:t>Changed the name of Aurangazeb Road to Abdul Kalam Road in Delhi</a:t>
            </a:r>
          </a:p>
          <a:p>
            <a:r>
              <a:rPr lang="en-US" dirty="0" err="1" smtClean="0"/>
              <a:t>Aqlaq</a:t>
            </a:r>
            <a:r>
              <a:rPr lang="en-US" dirty="0" smtClean="0"/>
              <a:t> Ahmad was lynched on suspicion that he consumed Beef</a:t>
            </a:r>
          </a:p>
          <a:p>
            <a:r>
              <a:rPr lang="en-US" dirty="0" smtClean="0"/>
              <a:t>Dr. Zakir Naik case is blown out of proportion</a:t>
            </a:r>
          </a:p>
          <a:p>
            <a:r>
              <a:rPr lang="en-US" dirty="0" smtClean="0"/>
              <a:t>8  allegedly SIMI </a:t>
            </a:r>
            <a:r>
              <a:rPr lang="en-US" dirty="0"/>
              <a:t>members </a:t>
            </a:r>
            <a:r>
              <a:rPr lang="en-US" dirty="0" smtClean="0"/>
              <a:t>were killed in Fake Encounter in Bhopal.</a:t>
            </a:r>
          </a:p>
          <a:p>
            <a:endParaRPr lang="en-US" dirty="0" smtClean="0"/>
          </a:p>
          <a:p>
            <a:r>
              <a:rPr lang="en-US" dirty="0"/>
              <a:t>every one agreed it was fake encounter, yet no one reacted or acted in dignified and democratic manner to express </a:t>
            </a:r>
            <a:r>
              <a:rPr lang="en-US" dirty="0" smtClean="0"/>
              <a:t>pain </a:t>
            </a:r>
            <a:r>
              <a:rPr lang="en-US" dirty="0"/>
              <a:t>and </a:t>
            </a:r>
            <a:r>
              <a:rPr lang="en-US" dirty="0" smtClean="0"/>
              <a:t>anguish </a:t>
            </a:r>
            <a:r>
              <a:rPr lang="en-US" dirty="0" smtClean="0"/>
              <a:t>for the injustices done to the </a:t>
            </a:r>
            <a:r>
              <a:rPr lang="en-US" dirty="0" smtClean="0"/>
              <a:t>Community.  </a:t>
            </a:r>
          </a:p>
          <a:p>
            <a:r>
              <a:rPr lang="en-US" dirty="0" smtClean="0"/>
              <a:t>It </a:t>
            </a:r>
            <a:r>
              <a:rPr lang="en-US" dirty="0"/>
              <a:t>appears no one knows whose problem are these. Who should react to these incidents and what is our role individually and collectively?. </a:t>
            </a:r>
          </a:p>
          <a:p>
            <a:r>
              <a:rPr lang="en-US" dirty="0" smtClean="0"/>
              <a:t>Surely every one is pained but not thinking further….</a:t>
            </a:r>
          </a:p>
          <a:p>
            <a:endParaRPr lang="en-US" dirty="0" smtClean="0"/>
          </a:p>
          <a:p>
            <a:endParaRPr lang="en-US" dirty="0"/>
          </a:p>
        </p:txBody>
      </p:sp>
    </p:spTree>
    <p:extLst>
      <p:ext uri="{BB962C8B-B14F-4D97-AF65-F5344CB8AC3E}">
        <p14:creationId xmlns:p14="http://schemas.microsoft.com/office/powerpoint/2010/main" val="20309398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Muslims are living…</a:t>
            </a:r>
            <a:endParaRPr lang="en-US" dirty="0"/>
          </a:p>
        </p:txBody>
      </p:sp>
      <p:sp>
        <p:nvSpPr>
          <p:cNvPr id="3" name="Content Placeholder 2"/>
          <p:cNvSpPr>
            <a:spLocks noGrp="1"/>
          </p:cNvSpPr>
          <p:nvPr>
            <p:ph idx="1"/>
          </p:nvPr>
        </p:nvSpPr>
        <p:spPr/>
        <p:txBody>
          <a:bodyPr>
            <a:normAutofit fontScale="92500" lnSpcReduction="10000"/>
          </a:bodyPr>
          <a:lstStyle/>
          <a:p>
            <a:r>
              <a:rPr lang="en-US" dirty="0"/>
              <a:t>We are busy in our daily chores so much, not able to perceive symptoms of coming dangers. </a:t>
            </a:r>
            <a:endParaRPr lang="en-US" dirty="0" smtClean="0"/>
          </a:p>
          <a:p>
            <a:r>
              <a:rPr lang="en-US" dirty="0" smtClean="0"/>
              <a:t>It </a:t>
            </a:r>
            <a:r>
              <a:rPr lang="en-US" dirty="0"/>
              <a:t>is good to leave all this to destiny and God to do </a:t>
            </a:r>
            <a:r>
              <a:rPr lang="en-US" dirty="0" smtClean="0"/>
              <a:t>the best</a:t>
            </a:r>
            <a:r>
              <a:rPr lang="en-US" dirty="0"/>
              <a:t>, but Islam teaches us to sense future dangers and prepare ourselves… </a:t>
            </a:r>
            <a:endParaRPr lang="en-US" dirty="0" smtClean="0"/>
          </a:p>
          <a:p>
            <a:r>
              <a:rPr lang="en-US" dirty="0" smtClean="0"/>
              <a:t>If </a:t>
            </a:r>
            <a:r>
              <a:rPr lang="en-US" dirty="0"/>
              <a:t>someone says tomorrow water shall not come </a:t>
            </a:r>
            <a:r>
              <a:rPr lang="en-US" dirty="0" smtClean="0"/>
              <a:t>for two </a:t>
            </a:r>
            <a:r>
              <a:rPr lang="en-US" dirty="0"/>
              <a:t>hours in our home, then a sensible person collects water in </a:t>
            </a:r>
            <a:r>
              <a:rPr lang="en-US" dirty="0" smtClean="0"/>
              <a:t>a bucket</a:t>
            </a:r>
            <a:r>
              <a:rPr lang="en-US" dirty="0"/>
              <a:t>. </a:t>
            </a:r>
            <a:endParaRPr lang="en-US" dirty="0" smtClean="0"/>
          </a:p>
          <a:p>
            <a:r>
              <a:rPr lang="en-US" dirty="0" smtClean="0"/>
              <a:t>If he </a:t>
            </a:r>
            <a:r>
              <a:rPr lang="en-US" dirty="0"/>
              <a:t>is told that water shall not come for two days, he shall collect water in a drum.  According to gravity of the problem, one prepares contingency plan</a:t>
            </a:r>
            <a:r>
              <a:rPr lang="en-US" dirty="0" smtClean="0"/>
              <a:t>.</a:t>
            </a:r>
          </a:p>
          <a:p>
            <a:r>
              <a:rPr lang="en-US" dirty="0" smtClean="0"/>
              <a:t>If injustice done is accepted as norm, then slavery is not very far..</a:t>
            </a:r>
          </a:p>
          <a:p>
            <a:r>
              <a:rPr lang="en-US" dirty="0"/>
              <a:t>Injustice anywhere is a threat to justice everywhere. </a:t>
            </a:r>
            <a:endParaRPr lang="en-US" dirty="0"/>
          </a:p>
          <a:p>
            <a:endParaRPr lang="en-US" dirty="0"/>
          </a:p>
        </p:txBody>
      </p:sp>
    </p:spTree>
    <p:extLst>
      <p:ext uri="{BB962C8B-B14F-4D97-AF65-F5344CB8AC3E}">
        <p14:creationId xmlns:p14="http://schemas.microsoft.com/office/powerpoint/2010/main" val="4230077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Status of Muslim Mind</a:t>
            </a:r>
            <a:endParaRPr lang="en-US" dirty="0"/>
          </a:p>
        </p:txBody>
      </p:sp>
      <p:sp>
        <p:nvSpPr>
          <p:cNvPr id="3" name="Content Placeholder 2"/>
          <p:cNvSpPr>
            <a:spLocks noGrp="1"/>
          </p:cNvSpPr>
          <p:nvPr>
            <p:ph idx="1"/>
          </p:nvPr>
        </p:nvSpPr>
        <p:spPr/>
        <p:txBody>
          <a:bodyPr/>
          <a:lstStyle/>
          <a:p>
            <a:r>
              <a:rPr lang="en-US" dirty="0"/>
              <a:t>At present the status of mind of majority of Muslims of India is like paralysis of thought and absence of any feeling. Some </a:t>
            </a:r>
            <a:r>
              <a:rPr lang="en-US" b="1" dirty="0"/>
              <a:t>do </a:t>
            </a:r>
            <a:r>
              <a:rPr lang="en-US" b="1" dirty="0" smtClean="0"/>
              <a:t>sense </a:t>
            </a:r>
            <a:r>
              <a:rPr lang="en-US" dirty="0"/>
              <a:t>the </a:t>
            </a:r>
            <a:r>
              <a:rPr lang="en-US" dirty="0" smtClean="0"/>
              <a:t>on coming problems </a:t>
            </a:r>
            <a:r>
              <a:rPr lang="en-US" dirty="0"/>
              <a:t>but leave it to God as it is beyond their capacity.</a:t>
            </a:r>
          </a:p>
          <a:p>
            <a:r>
              <a:rPr lang="en-US" dirty="0" smtClean="0"/>
              <a:t>It is like, someone </a:t>
            </a:r>
            <a:r>
              <a:rPr lang="en-US" dirty="0"/>
              <a:t>is asked what would be his reaction if someone slaps him on right cheek, what would he </a:t>
            </a:r>
            <a:r>
              <a:rPr lang="en-US" dirty="0" smtClean="0"/>
              <a:t>do?  </a:t>
            </a:r>
            <a:r>
              <a:rPr lang="en-US" dirty="0"/>
              <a:t>he is just </a:t>
            </a:r>
            <a:r>
              <a:rPr lang="en-US" dirty="0" smtClean="0"/>
              <a:t>standing with Blank face, thinking </a:t>
            </a:r>
            <a:r>
              <a:rPr lang="en-US" dirty="0"/>
              <a:t>to answer what would be his reaction, should he slap him back, run away or call someone to defend him. </a:t>
            </a:r>
          </a:p>
          <a:p>
            <a:r>
              <a:rPr lang="en-US" dirty="0"/>
              <a:t>What does absolute silence give you the message? Mind is totally blocked not in a position to imagine any answer and not in a position to foresee problems likely to occur in the present scenario.  </a:t>
            </a:r>
          </a:p>
          <a:p>
            <a:endParaRPr lang="en-US" dirty="0"/>
          </a:p>
        </p:txBody>
      </p:sp>
    </p:spTree>
    <p:extLst>
      <p:ext uri="{BB962C8B-B14F-4D97-AF65-F5344CB8AC3E}">
        <p14:creationId xmlns:p14="http://schemas.microsoft.com/office/powerpoint/2010/main" val="38758986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51" y="2671720"/>
            <a:ext cx="10515600" cy="1793188"/>
          </a:xfrm>
        </p:spPr>
        <p:txBody>
          <a:bodyPr>
            <a:normAutofit fontScale="90000"/>
          </a:bodyPr>
          <a:lstStyle/>
          <a:p>
            <a:pPr algn="ctr"/>
            <a:r>
              <a:rPr lang="en-US" dirty="0" smtClean="0"/>
              <a:t/>
            </a:r>
            <a:br>
              <a:rPr lang="en-US" dirty="0" smtClean="0"/>
            </a:br>
            <a:r>
              <a:rPr lang="en-US" dirty="0"/>
              <a:t/>
            </a:r>
            <a:br>
              <a:rPr lang="en-US" dirty="0"/>
            </a:br>
            <a:r>
              <a:rPr lang="en-US" dirty="0" smtClean="0"/>
              <a:t>But </a:t>
            </a:r>
            <a:br>
              <a:rPr lang="en-US" dirty="0" smtClean="0"/>
            </a:br>
            <a:r>
              <a:rPr lang="en-US" b="1" dirty="0" smtClean="0"/>
              <a:t>If </a:t>
            </a:r>
            <a:r>
              <a:rPr lang="en-US" b="1" dirty="0"/>
              <a:t>we fail to plan means we are planning to fail</a:t>
            </a:r>
            <a:r>
              <a:rPr lang="en-US" b="1" dirty="0" smtClean="0"/>
              <a:t>…</a:t>
            </a:r>
            <a:r>
              <a:rPr lang="en-US" b="1" dirty="0"/>
              <a:t/>
            </a:r>
            <a:br>
              <a:rPr lang="en-US" b="1" dirty="0"/>
            </a:br>
            <a:endParaRPr lang="en-US" b="1" dirty="0"/>
          </a:p>
        </p:txBody>
      </p:sp>
    </p:spTree>
    <p:extLst>
      <p:ext uri="{BB962C8B-B14F-4D97-AF65-F5344CB8AC3E}">
        <p14:creationId xmlns:p14="http://schemas.microsoft.com/office/powerpoint/2010/main" val="17828115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should we do..</a:t>
            </a:r>
            <a:endParaRPr lang="en-US" dirty="0"/>
          </a:p>
        </p:txBody>
      </p:sp>
      <p:sp>
        <p:nvSpPr>
          <p:cNvPr id="3" name="Content Placeholder 2"/>
          <p:cNvSpPr>
            <a:spLocks noGrp="1"/>
          </p:cNvSpPr>
          <p:nvPr>
            <p:ph idx="1"/>
          </p:nvPr>
        </p:nvSpPr>
        <p:spPr/>
        <p:txBody>
          <a:bodyPr>
            <a:normAutofit/>
          </a:bodyPr>
          <a:lstStyle/>
          <a:p>
            <a:pPr marL="0" indent="0" algn="ctr">
              <a:buNone/>
            </a:pPr>
            <a:r>
              <a:rPr lang="en-US" sz="4000" dirty="0" smtClean="0"/>
              <a:t>It </a:t>
            </a:r>
            <a:r>
              <a:rPr lang="en-US" sz="4000" dirty="0"/>
              <a:t>is high time </a:t>
            </a:r>
            <a:r>
              <a:rPr lang="en-US" sz="4000" dirty="0" smtClean="0"/>
              <a:t>each of us has </a:t>
            </a:r>
            <a:r>
              <a:rPr lang="en-US" sz="4000" dirty="0"/>
              <a:t>to think according to his understanding, foresee what the future dangers are and prepare ourselves to meet them accordingly in different situations</a:t>
            </a:r>
            <a:r>
              <a:rPr lang="en-US" sz="4000" dirty="0" smtClean="0"/>
              <a:t>.</a:t>
            </a:r>
          </a:p>
          <a:p>
            <a:pPr marL="0" indent="0" algn="ctr">
              <a:buNone/>
            </a:pPr>
            <a:endParaRPr lang="en-US" sz="4000" dirty="0" smtClean="0"/>
          </a:p>
          <a:p>
            <a:pPr marL="0" indent="0" algn="ctr">
              <a:buNone/>
            </a:pPr>
            <a:r>
              <a:rPr lang="en-US" sz="4000" dirty="0" smtClean="0"/>
              <a:t>We need to think What can I do.. If I cannot do any thing, who also can do it..</a:t>
            </a:r>
            <a:endParaRPr lang="en-US" sz="4000" dirty="0"/>
          </a:p>
          <a:p>
            <a:endParaRPr lang="en-US" sz="4000" dirty="0"/>
          </a:p>
        </p:txBody>
      </p:sp>
    </p:spTree>
    <p:extLst>
      <p:ext uri="{BB962C8B-B14F-4D97-AF65-F5344CB8AC3E}">
        <p14:creationId xmlns:p14="http://schemas.microsoft.com/office/powerpoint/2010/main" val="14832092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The </a:t>
            </a:r>
            <a:r>
              <a:rPr lang="en-US" b="1" u="sng" dirty="0" smtClean="0"/>
              <a:t>Solutions</a:t>
            </a:r>
            <a:endParaRPr lang="en-US" dirty="0"/>
          </a:p>
        </p:txBody>
      </p:sp>
      <p:sp>
        <p:nvSpPr>
          <p:cNvPr id="3" name="Content Placeholder 2"/>
          <p:cNvSpPr>
            <a:spLocks noGrp="1"/>
          </p:cNvSpPr>
          <p:nvPr>
            <p:ph idx="1"/>
          </p:nvPr>
        </p:nvSpPr>
        <p:spPr/>
        <p:txBody>
          <a:bodyPr/>
          <a:lstStyle/>
          <a:p>
            <a:endParaRPr lang="en-US" dirty="0" smtClean="0"/>
          </a:p>
          <a:p>
            <a:r>
              <a:rPr lang="en-US" dirty="0" smtClean="0"/>
              <a:t>Today </a:t>
            </a:r>
            <a:r>
              <a:rPr lang="en-US" dirty="0"/>
              <a:t>there is one solution, we need to follow the following Hadeeth sincerely, Inshallah we can fail the fascist and divisive forces in India and any where</a:t>
            </a:r>
            <a:r>
              <a:rPr lang="en-US" dirty="0" smtClean="0"/>
              <a:t>..</a:t>
            </a:r>
          </a:p>
          <a:p>
            <a:endParaRPr lang="en-US" dirty="0"/>
          </a:p>
          <a:p>
            <a:r>
              <a:rPr lang="en-US" dirty="0"/>
              <a:t>In a Hadeeth </a:t>
            </a:r>
            <a:r>
              <a:rPr lang="en-US" dirty="0" smtClean="0"/>
              <a:t>Prophet </a:t>
            </a:r>
            <a:r>
              <a:rPr lang="en-US" dirty="0"/>
              <a:t>SAW said </a:t>
            </a:r>
            <a:r>
              <a:rPr lang="en-US" b="1" u="sng" dirty="0"/>
              <a:t>take care of your neighbor</a:t>
            </a:r>
            <a:r>
              <a:rPr lang="en-US" dirty="0"/>
              <a:t>.</a:t>
            </a:r>
          </a:p>
        </p:txBody>
      </p:sp>
    </p:spTree>
    <p:extLst>
      <p:ext uri="{BB962C8B-B14F-4D97-AF65-F5344CB8AC3E}">
        <p14:creationId xmlns:p14="http://schemas.microsoft.com/office/powerpoint/2010/main" val="6182339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 the deep meaning of Words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u="sng" dirty="0" smtClean="0"/>
              <a:t>Who </a:t>
            </a:r>
            <a:r>
              <a:rPr lang="en-US" b="1" u="sng" dirty="0"/>
              <a:t>is a Neighbor</a:t>
            </a:r>
          </a:p>
          <a:p>
            <a:r>
              <a:rPr lang="en-US" dirty="0" smtClean="0"/>
              <a:t>First </a:t>
            </a:r>
            <a:r>
              <a:rPr lang="en-US" dirty="0"/>
              <a:t>of all </a:t>
            </a:r>
            <a:r>
              <a:rPr lang="en-US" dirty="0" smtClean="0"/>
              <a:t>we need to understand who </a:t>
            </a:r>
            <a:r>
              <a:rPr lang="en-US" dirty="0"/>
              <a:t>is </a:t>
            </a:r>
            <a:r>
              <a:rPr lang="en-US" dirty="0" smtClean="0"/>
              <a:t>our neighbor ?</a:t>
            </a:r>
          </a:p>
          <a:p>
            <a:r>
              <a:rPr lang="en-US" dirty="0" smtClean="0"/>
              <a:t>Neighbor </a:t>
            </a:r>
            <a:r>
              <a:rPr lang="en-US" dirty="0"/>
              <a:t>is any </a:t>
            </a:r>
            <a:r>
              <a:rPr lang="en-US" dirty="0" smtClean="0"/>
              <a:t>person be he a Muslim</a:t>
            </a:r>
            <a:r>
              <a:rPr lang="en-US" dirty="0"/>
              <a:t>, </a:t>
            </a:r>
            <a:r>
              <a:rPr lang="en-US" dirty="0" smtClean="0"/>
              <a:t>a Non-Muslim </a:t>
            </a:r>
            <a:r>
              <a:rPr lang="en-US" dirty="0"/>
              <a:t>or </a:t>
            </a:r>
            <a:r>
              <a:rPr lang="en-US" dirty="0" smtClean="0"/>
              <a:t>an atheist</a:t>
            </a:r>
            <a:r>
              <a:rPr lang="en-US" dirty="0"/>
              <a:t>, </a:t>
            </a:r>
            <a:r>
              <a:rPr lang="en-US" dirty="0" smtClean="0"/>
              <a:t>may be from another Maslak or </a:t>
            </a:r>
            <a:r>
              <a:rPr lang="en-US" dirty="0" err="1" smtClean="0"/>
              <a:t>Mazhab</a:t>
            </a:r>
            <a:r>
              <a:rPr lang="en-US" dirty="0" smtClean="0"/>
              <a:t>.</a:t>
            </a:r>
          </a:p>
          <a:p>
            <a:pPr marL="0" indent="0">
              <a:buNone/>
            </a:pPr>
            <a:endParaRPr lang="en-US" b="1" u="sng" dirty="0" smtClean="0"/>
          </a:p>
          <a:p>
            <a:pPr marL="0" indent="0">
              <a:buNone/>
            </a:pPr>
            <a:r>
              <a:rPr lang="en-US" b="1" u="sng" dirty="0" smtClean="0"/>
              <a:t>Extent of Neighborhood..</a:t>
            </a:r>
            <a:endParaRPr lang="en-US" b="1" u="sng" dirty="0"/>
          </a:p>
          <a:p>
            <a:r>
              <a:rPr lang="en-US" dirty="0" smtClean="0"/>
              <a:t>Every one </a:t>
            </a:r>
            <a:r>
              <a:rPr lang="en-US" dirty="0"/>
              <a:t>living in 40 houses in all </a:t>
            </a:r>
            <a:r>
              <a:rPr lang="en-US" dirty="0" smtClean="0"/>
              <a:t>five directions( right, Left, </a:t>
            </a:r>
            <a:r>
              <a:rPr lang="en-US" dirty="0"/>
              <a:t>F</a:t>
            </a:r>
            <a:r>
              <a:rPr lang="en-US" dirty="0" smtClean="0"/>
              <a:t>ront, Back and vertical) </a:t>
            </a:r>
            <a:r>
              <a:rPr lang="en-US" dirty="0"/>
              <a:t>next to your </a:t>
            </a:r>
            <a:r>
              <a:rPr lang="en-US" dirty="0" smtClean="0"/>
              <a:t>home, </a:t>
            </a:r>
            <a:r>
              <a:rPr lang="en-US" dirty="0"/>
              <a:t>effectively a whole neighborhood</a:t>
            </a:r>
            <a:r>
              <a:rPr lang="en-US" dirty="0" smtClean="0"/>
              <a:t>.</a:t>
            </a:r>
          </a:p>
          <a:p>
            <a:r>
              <a:rPr lang="en-US" dirty="0" smtClean="0"/>
              <a:t>All </a:t>
            </a:r>
            <a:r>
              <a:rPr lang="en-US" dirty="0" err="1" smtClean="0"/>
              <a:t>Musallis</a:t>
            </a:r>
            <a:r>
              <a:rPr lang="en-US" dirty="0" smtClean="0"/>
              <a:t> in your Mosque, Colleagues in your office are also your Neighbors.</a:t>
            </a:r>
            <a:endParaRPr lang="en-US" dirty="0"/>
          </a:p>
          <a:p>
            <a:endParaRPr lang="en-US" dirty="0"/>
          </a:p>
        </p:txBody>
      </p:sp>
    </p:spTree>
    <p:extLst>
      <p:ext uri="{BB962C8B-B14F-4D97-AF65-F5344CB8AC3E}">
        <p14:creationId xmlns:p14="http://schemas.microsoft.com/office/powerpoint/2010/main" val="705214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How to take Care of a Neighbor</a:t>
            </a:r>
          </a:p>
          <a:p>
            <a:r>
              <a:rPr lang="en-US" dirty="0" smtClean="0"/>
              <a:t>What </a:t>
            </a:r>
            <a:r>
              <a:rPr lang="en-US" dirty="0"/>
              <a:t>is the meaning of taking care of neighbor ? </a:t>
            </a:r>
          </a:p>
          <a:p>
            <a:r>
              <a:rPr lang="en-US" dirty="0"/>
              <a:t>It is answered in another hadeeth, which says if your neighbor sleeps empty stomach, then your faith </a:t>
            </a:r>
            <a:r>
              <a:rPr lang="en-US" dirty="0" smtClean="0"/>
              <a:t>is doubtful</a:t>
            </a:r>
            <a:r>
              <a:rPr lang="en-US" dirty="0"/>
              <a:t>, means you are not a Muslim</a:t>
            </a:r>
            <a:r>
              <a:rPr lang="en-US" dirty="0" smtClean="0"/>
              <a:t>.</a:t>
            </a:r>
          </a:p>
          <a:p>
            <a:r>
              <a:rPr lang="en-US" dirty="0"/>
              <a:t>Then how will you know whether your neighbor is hungry, </a:t>
            </a:r>
            <a:r>
              <a:rPr lang="en-US" dirty="0" smtClean="0"/>
              <a:t>when </a:t>
            </a:r>
            <a:r>
              <a:rPr lang="en-US" dirty="0"/>
              <a:t>you reach out to his heart, only then you shall know if he is hungry or what are his dire needs.</a:t>
            </a:r>
          </a:p>
          <a:p>
            <a:r>
              <a:rPr lang="en-US" dirty="0"/>
              <a:t>If one is able to reach to the heart of neighbors in all directions,  we </a:t>
            </a:r>
            <a:r>
              <a:rPr lang="en-US" dirty="0" smtClean="0"/>
              <a:t>shall become </a:t>
            </a:r>
            <a:r>
              <a:rPr lang="en-US" dirty="0"/>
              <a:t>eligible to be called </a:t>
            </a:r>
            <a:r>
              <a:rPr lang="en-US" dirty="0" smtClean="0"/>
              <a:t>Muslims. We have rise to Humanity level ignoring every thing else.</a:t>
            </a:r>
          </a:p>
          <a:p>
            <a:r>
              <a:rPr lang="en-US" dirty="0" smtClean="0"/>
              <a:t>Other </a:t>
            </a:r>
            <a:r>
              <a:rPr lang="en-US" dirty="0"/>
              <a:t>wise we not walking the talk</a:t>
            </a:r>
            <a:r>
              <a:rPr lang="en-US" dirty="0" smtClean="0"/>
              <a:t>.. We are namesake Muslims…</a:t>
            </a:r>
            <a:endParaRPr lang="en-US" dirty="0"/>
          </a:p>
          <a:p>
            <a:endParaRPr lang="en-US" dirty="0"/>
          </a:p>
          <a:p>
            <a:endParaRPr lang="en-US" dirty="0"/>
          </a:p>
        </p:txBody>
      </p:sp>
    </p:spTree>
    <p:extLst>
      <p:ext uri="{BB962C8B-B14F-4D97-AF65-F5344CB8AC3E}">
        <p14:creationId xmlns:p14="http://schemas.microsoft.com/office/powerpoint/2010/main" val="36594328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the Quran says about neighbors</a:t>
            </a:r>
            <a:endParaRPr lang="en-US" dirty="0"/>
          </a:p>
        </p:txBody>
      </p:sp>
      <p:sp>
        <p:nvSpPr>
          <p:cNvPr id="3" name="Content Placeholder 2"/>
          <p:cNvSpPr>
            <a:spLocks noGrp="1"/>
          </p:cNvSpPr>
          <p:nvPr>
            <p:ph idx="1"/>
          </p:nvPr>
        </p:nvSpPr>
        <p:spPr/>
        <p:txBody>
          <a:bodyPr>
            <a:normAutofit/>
          </a:bodyPr>
          <a:lstStyle/>
          <a:p>
            <a:r>
              <a:rPr lang="en-US" dirty="0"/>
              <a:t>Noble Qur'an tells us that all of mankind is descended from one couple, Adam and Eve. Thus we are all brothers and sisters, and our differences in languages and colors are but a mercy that we might know one another. Language and race should never be a reason for discriminating against people.</a:t>
            </a:r>
          </a:p>
          <a:p>
            <a:r>
              <a:rPr lang="en-US" dirty="0"/>
              <a:t>A Muslim should maintain good relations with his relatives, but he should not unjustly favor them over others. </a:t>
            </a:r>
            <a:endParaRPr lang="en-US" dirty="0" smtClean="0"/>
          </a:p>
          <a:p>
            <a:r>
              <a:rPr lang="en-US" dirty="0" smtClean="0"/>
              <a:t>Further</a:t>
            </a:r>
            <a:r>
              <a:rPr lang="en-US" dirty="0"/>
              <a:t>, a Muslim must be good to his neighbors, no matter their religion. </a:t>
            </a:r>
          </a:p>
        </p:txBody>
      </p:sp>
    </p:spTree>
    <p:extLst>
      <p:ext uri="{BB962C8B-B14F-4D97-AF65-F5344CB8AC3E}">
        <p14:creationId xmlns:p14="http://schemas.microsoft.com/office/powerpoint/2010/main" val="9142971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An </a:t>
            </a:r>
            <a:r>
              <a:rPr lang="en-US" dirty="0" err="1"/>
              <a:t>Ansar</a:t>
            </a:r>
            <a:r>
              <a:rPr lang="en-US" dirty="0"/>
              <a:t> (emigrant) came to Prophet Muhammad (peace and blessings be upon him) and said that he has recently purchased a house in a particular area and that his nearest person was such that he had no hope of any goodness from him and that he felt unsafe from his mischief. </a:t>
            </a:r>
            <a:endParaRPr lang="en-US" dirty="0" smtClean="0"/>
          </a:p>
          <a:p>
            <a:r>
              <a:rPr lang="en-US" dirty="0" smtClean="0"/>
              <a:t>Prophet </a:t>
            </a:r>
            <a:r>
              <a:rPr lang="en-US" dirty="0"/>
              <a:t>Muhammad (peace and blessings be upon him) told </a:t>
            </a:r>
            <a:r>
              <a:rPr lang="en-US" dirty="0">
                <a:hlinkClick r:id="rId2"/>
              </a:rPr>
              <a:t>Imam Ali (as)</a:t>
            </a:r>
            <a:r>
              <a:rPr lang="en-US" dirty="0"/>
              <a:t>, </a:t>
            </a:r>
            <a:r>
              <a:rPr lang="en-US" dirty="0">
                <a:hlinkClick r:id="rId3"/>
              </a:rPr>
              <a:t>Salman Al-Farsi</a:t>
            </a:r>
            <a:r>
              <a:rPr lang="en-US" dirty="0"/>
              <a:t>, </a:t>
            </a:r>
            <a:r>
              <a:rPr lang="en-US" dirty="0">
                <a:hlinkClick r:id="rId4"/>
              </a:rPr>
              <a:t>Abu </a:t>
            </a:r>
            <a:r>
              <a:rPr lang="en-US" dirty="0" err="1">
                <a:hlinkClick r:id="rId4"/>
              </a:rPr>
              <a:t>Zar</a:t>
            </a:r>
            <a:r>
              <a:rPr lang="en-US" dirty="0">
                <a:hlinkClick r:id="rId4"/>
              </a:rPr>
              <a:t> </a:t>
            </a:r>
            <a:r>
              <a:rPr lang="en-US" dirty="0" err="1">
                <a:hlinkClick r:id="rId4"/>
              </a:rPr>
              <a:t>Ghaffari</a:t>
            </a:r>
            <a:r>
              <a:rPr lang="en-US" dirty="0"/>
              <a:t> and </a:t>
            </a:r>
            <a:r>
              <a:rPr lang="en-US" dirty="0" err="1">
                <a:hlinkClick r:id="rId5"/>
              </a:rPr>
              <a:t>Miqdad</a:t>
            </a:r>
            <a:r>
              <a:rPr lang="en-US" dirty="0">
                <a:hlinkClick r:id="rId5"/>
              </a:rPr>
              <a:t> ibn Aswad</a:t>
            </a:r>
            <a:r>
              <a:rPr lang="en-US" dirty="0"/>
              <a:t> to go to the Mosque and announce: "He is not a believer whose neighbor is unsafe from his mischief." </a:t>
            </a:r>
            <a:endParaRPr lang="en-US" dirty="0" smtClean="0"/>
          </a:p>
          <a:p>
            <a:r>
              <a:rPr lang="en-US" dirty="0" smtClean="0"/>
              <a:t>They </a:t>
            </a:r>
            <a:r>
              <a:rPr lang="en-US" dirty="0"/>
              <a:t>announced it thrice and then to Prophet Muhammad (peace and blessings be upon him) pointed towards forty doors to his right and forty to the left indicating that forty houses in every direction constitute ones neighborhood. One is obliged to observe their rights.</a:t>
            </a:r>
          </a:p>
          <a:p>
            <a:endParaRPr lang="en-US" dirty="0"/>
          </a:p>
        </p:txBody>
      </p:sp>
    </p:spTree>
    <p:extLst>
      <p:ext uri="{BB962C8B-B14F-4D97-AF65-F5344CB8AC3E}">
        <p14:creationId xmlns:p14="http://schemas.microsoft.com/office/powerpoint/2010/main" val="11538077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Concern for Neighbor</a:t>
            </a:r>
            <a:endParaRPr lang="en-US" dirty="0"/>
          </a:p>
        </p:txBody>
      </p:sp>
      <p:sp>
        <p:nvSpPr>
          <p:cNvPr id="3" name="Content Placeholder 2"/>
          <p:cNvSpPr>
            <a:spLocks noGrp="1"/>
          </p:cNvSpPr>
          <p:nvPr>
            <p:ph idx="1"/>
          </p:nvPr>
        </p:nvSpPr>
        <p:spPr/>
        <p:txBody>
          <a:bodyPr/>
          <a:lstStyle/>
          <a:p>
            <a:r>
              <a:rPr lang="en-US" dirty="0"/>
              <a:t>This concern for our neighbors can take many forms. It means to ensure that our neighbors have the basic </a:t>
            </a:r>
            <a:r>
              <a:rPr lang="en-US" dirty="0" smtClean="0"/>
              <a:t>necessities.</a:t>
            </a:r>
          </a:p>
          <a:p>
            <a:r>
              <a:rPr lang="en-US" dirty="0" smtClean="0"/>
              <a:t>A </a:t>
            </a:r>
            <a:r>
              <a:rPr lang="en-US" dirty="0"/>
              <a:t>Muslim should not eat if his or her neighbor is going hungry. It means that Muslims should wish for their neighbors what they wish for themselves. It means sharing their happiness and sorrow. </a:t>
            </a:r>
            <a:endParaRPr lang="en-US" dirty="0" smtClean="0"/>
          </a:p>
          <a:p>
            <a:r>
              <a:rPr lang="en-US" dirty="0" smtClean="0"/>
              <a:t>Further</a:t>
            </a:r>
            <a:r>
              <a:rPr lang="en-US" dirty="0"/>
              <a:t>, it means to not spy on them and respect their privacy, to not gossip about them, to not harm them in any </a:t>
            </a:r>
            <a:r>
              <a:rPr lang="en-US" dirty="0" smtClean="0"/>
              <a:t>way.</a:t>
            </a:r>
          </a:p>
          <a:p>
            <a:r>
              <a:rPr lang="en-US" dirty="0" smtClean="0"/>
              <a:t>To </a:t>
            </a:r>
            <a:r>
              <a:rPr lang="en-US" dirty="0"/>
              <a:t>keep common use areas - such as apartment building entrances, streets and sidewalks - clean.</a:t>
            </a:r>
          </a:p>
          <a:p>
            <a:endParaRPr lang="en-US" dirty="0"/>
          </a:p>
        </p:txBody>
      </p:sp>
    </p:spTree>
    <p:extLst>
      <p:ext uri="{BB962C8B-B14F-4D97-AF65-F5344CB8AC3E}">
        <p14:creationId xmlns:p14="http://schemas.microsoft.com/office/powerpoint/2010/main" val="29922094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Prophet said about a </a:t>
            </a:r>
            <a:r>
              <a:rPr lang="en-US" dirty="0" err="1" smtClean="0"/>
              <a:t>neigbor</a:t>
            </a:r>
            <a:endParaRPr lang="en-US" dirty="0"/>
          </a:p>
        </p:txBody>
      </p:sp>
      <p:sp>
        <p:nvSpPr>
          <p:cNvPr id="3" name="Content Placeholder 2"/>
          <p:cNvSpPr>
            <a:spLocks noGrp="1"/>
          </p:cNvSpPr>
          <p:nvPr>
            <p:ph idx="1"/>
          </p:nvPr>
        </p:nvSpPr>
        <p:spPr/>
        <p:txBody>
          <a:bodyPr/>
          <a:lstStyle/>
          <a:p>
            <a:r>
              <a:rPr lang="en-US" dirty="0"/>
              <a:t>Prophet Muhammad (peace and blessings be upon him) was told of a woman who prayed during night and fasted a lot during day and gave alms generously, but whose neighbors complained of her abusive tongue. He said that she would be in Hellfire. </a:t>
            </a:r>
            <a:endParaRPr lang="en-US" dirty="0" smtClean="0"/>
          </a:p>
          <a:p>
            <a:r>
              <a:rPr lang="en-US" dirty="0" smtClean="0"/>
              <a:t>When </a:t>
            </a:r>
            <a:r>
              <a:rPr lang="en-US" dirty="0"/>
              <a:t>Prophet Muhammad (peace and blessings be upon him) was told of another woman who did not do all those extra acts of worship other than just compulsory (</a:t>
            </a:r>
            <a:r>
              <a:rPr lang="en-US" dirty="0" err="1"/>
              <a:t>Wajib</a:t>
            </a:r>
            <a:r>
              <a:rPr lang="en-US" dirty="0"/>
              <a:t>) but whose neighbors were happy with her, he said that she would be in Paradise. </a:t>
            </a:r>
            <a:endParaRPr lang="en-US" dirty="0" smtClean="0"/>
          </a:p>
          <a:p>
            <a:r>
              <a:rPr lang="en-US" dirty="0" smtClean="0"/>
              <a:t>Thus </a:t>
            </a:r>
            <a:r>
              <a:rPr lang="en-US" dirty="0"/>
              <a:t>we see the importance of being good to our neighbors, both in actions and words.</a:t>
            </a:r>
          </a:p>
          <a:p>
            <a:endParaRPr lang="en-US" dirty="0"/>
          </a:p>
        </p:txBody>
      </p:sp>
    </p:spTree>
    <p:extLst>
      <p:ext uri="{BB962C8B-B14F-4D97-AF65-F5344CB8AC3E}">
        <p14:creationId xmlns:p14="http://schemas.microsoft.com/office/powerpoint/2010/main" val="35614711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err="1" smtClean="0"/>
              <a:t>Hadees</a:t>
            </a:r>
            <a:r>
              <a:rPr lang="en-US" dirty="0" smtClean="0"/>
              <a:t> regarding neighbor</a:t>
            </a:r>
            <a:endParaRPr lang="en-US" dirty="0"/>
          </a:p>
        </p:txBody>
      </p:sp>
      <p:sp>
        <p:nvSpPr>
          <p:cNvPr id="3" name="Content Placeholder 2"/>
          <p:cNvSpPr>
            <a:spLocks noGrp="1"/>
          </p:cNvSpPr>
          <p:nvPr>
            <p:ph idx="1"/>
          </p:nvPr>
        </p:nvSpPr>
        <p:spPr/>
        <p:txBody>
          <a:bodyPr/>
          <a:lstStyle/>
          <a:p>
            <a:r>
              <a:rPr lang="en-US" dirty="0"/>
              <a:t>Prophet Muhammad </a:t>
            </a:r>
            <a:r>
              <a:rPr lang="en-US" dirty="0" smtClean="0"/>
              <a:t>(PBUH) </a:t>
            </a:r>
            <a:r>
              <a:rPr lang="en-US" dirty="0"/>
              <a:t>on the rights of the </a:t>
            </a:r>
            <a:r>
              <a:rPr lang="en-US" dirty="0" smtClean="0"/>
              <a:t>neighbor, </a:t>
            </a:r>
            <a:r>
              <a:rPr lang="en-US" dirty="0"/>
              <a:t>said: "It is to help him if he asks your help, to lend him if he asks to borrow from you, to satisfy his needs if he becomes poor, to console him if he is visited by an affliction, to congratulate him if is met with good fortune, to visit him if he becomes ill, to attend his funeral if he dies, not to make your house higher than his without his consent lest you deny him the breeze, to offer him fruit when you buy some or to take it to your home secretly if you do not do that, nor to send out your children with it so as not to upset his children, nor to bother him by the tempting smell of your food unless you send him some."</a:t>
            </a:r>
          </a:p>
          <a:p>
            <a:endParaRPr lang="en-US" dirty="0"/>
          </a:p>
        </p:txBody>
      </p:sp>
    </p:spTree>
    <p:extLst>
      <p:ext uri="{BB962C8B-B14F-4D97-AF65-F5344CB8AC3E}">
        <p14:creationId xmlns:p14="http://schemas.microsoft.com/office/powerpoint/2010/main" val="30965196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shall we do it.. </a:t>
            </a:r>
            <a:br>
              <a:rPr lang="en-US" dirty="0" smtClean="0"/>
            </a:br>
            <a:r>
              <a:rPr lang="en-US" dirty="0" smtClean="0"/>
              <a:t>How to implement this </a:t>
            </a:r>
            <a:r>
              <a:rPr lang="en-US" dirty="0" err="1" smtClean="0"/>
              <a:t>Hadees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How many neighbors do you have .. Forty houses in every directions makes it a total of 200 houses..</a:t>
            </a:r>
          </a:p>
          <a:p>
            <a:endParaRPr lang="en-US" dirty="0" smtClean="0"/>
          </a:p>
          <a:p>
            <a:r>
              <a:rPr lang="en-US" dirty="0" smtClean="0"/>
              <a:t>Visit 5 neighbors every day, in 40 days a cycle shall be over.. Repeat it Inshallah, every visit shall bring you closer to your neighbor.</a:t>
            </a:r>
          </a:p>
          <a:p>
            <a:r>
              <a:rPr lang="en-US" dirty="0" smtClean="0"/>
              <a:t>In every Salah get introduced to 2 </a:t>
            </a:r>
            <a:r>
              <a:rPr lang="en-US" dirty="0" err="1" smtClean="0"/>
              <a:t>musallis</a:t>
            </a:r>
            <a:r>
              <a:rPr lang="en-US" dirty="0" smtClean="0"/>
              <a:t> in either side.. Know them and their welfare..  Same thing in your office ..</a:t>
            </a:r>
            <a:br>
              <a:rPr lang="en-US" dirty="0" smtClean="0"/>
            </a:br>
            <a:r>
              <a:rPr lang="en-US" dirty="0" smtClean="0"/>
              <a:t/>
            </a:r>
            <a:br>
              <a:rPr lang="en-US" dirty="0" smtClean="0"/>
            </a:br>
            <a:r>
              <a:rPr lang="en-US" dirty="0" smtClean="0"/>
              <a:t>If we take care of neighbors like this we shall surely defeat the divisive and fascist forces not only in India and in the whole World. And then they all shall become our friends and surely they will not remain our enemies.</a:t>
            </a:r>
            <a:br>
              <a:rPr lang="en-US" dirty="0" smtClean="0"/>
            </a:br>
            <a:r>
              <a:rPr lang="en-US" dirty="0" smtClean="0"/>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41518121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to do now:</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1. Start visiting 5 neighbors from today  and  encourage every person you meet to follow this Hadeeth.</a:t>
            </a:r>
            <a:br>
              <a:rPr lang="en-US" dirty="0" smtClean="0"/>
            </a:br>
            <a:endParaRPr lang="en-US" dirty="0" smtClean="0"/>
          </a:p>
          <a:p>
            <a:r>
              <a:rPr lang="en-US" dirty="0" smtClean="0"/>
              <a:t>2. Make Masjid – a real place of interaction – Hence meet at least two new </a:t>
            </a:r>
            <a:r>
              <a:rPr lang="en-US" dirty="0" err="1" smtClean="0"/>
              <a:t>musallis</a:t>
            </a:r>
            <a:r>
              <a:rPr lang="en-US" dirty="0" smtClean="0"/>
              <a:t> after every </a:t>
            </a:r>
            <a:r>
              <a:rPr lang="en-US" dirty="0" err="1" smtClean="0"/>
              <a:t>salah</a:t>
            </a:r>
            <a:r>
              <a:rPr lang="en-US" dirty="0" smtClean="0"/>
              <a:t>.  The rule should be to notice if some </a:t>
            </a:r>
            <a:r>
              <a:rPr lang="en-US" dirty="0" err="1" smtClean="0"/>
              <a:t>Musalli</a:t>
            </a:r>
            <a:r>
              <a:rPr lang="en-US" dirty="0" smtClean="0"/>
              <a:t> is absent in </a:t>
            </a:r>
            <a:r>
              <a:rPr lang="en-US" dirty="0" err="1" smtClean="0"/>
              <a:t>Fajar</a:t>
            </a:r>
            <a:r>
              <a:rPr lang="en-US" dirty="0" smtClean="0"/>
              <a:t>, Call him if he again is  absent in </a:t>
            </a:r>
            <a:r>
              <a:rPr lang="en-US" dirty="0" err="1" smtClean="0"/>
              <a:t>salat</a:t>
            </a:r>
            <a:r>
              <a:rPr lang="en-US" dirty="0" smtClean="0"/>
              <a:t> </a:t>
            </a:r>
            <a:r>
              <a:rPr lang="en-US" dirty="0" err="1" smtClean="0"/>
              <a:t>ul</a:t>
            </a:r>
            <a:r>
              <a:rPr lang="en-US" dirty="0" smtClean="0"/>
              <a:t> </a:t>
            </a:r>
            <a:r>
              <a:rPr lang="en-US" dirty="0" err="1" smtClean="0"/>
              <a:t>Zuhar</a:t>
            </a:r>
            <a:r>
              <a:rPr lang="en-US" dirty="0" smtClean="0"/>
              <a:t>.</a:t>
            </a:r>
            <a:br>
              <a:rPr lang="en-US" dirty="0" smtClean="0"/>
            </a:br>
            <a:endParaRPr lang="en-US" dirty="0" smtClean="0"/>
          </a:p>
          <a:p>
            <a:r>
              <a:rPr lang="en-US" dirty="0" smtClean="0"/>
              <a:t>3. Make your workplace a place of friendly community by developing cordial relations with maximum possible colleagues.</a:t>
            </a:r>
            <a:br>
              <a:rPr lang="en-US" dirty="0" smtClean="0"/>
            </a:br>
            <a:endParaRPr lang="en-US" dirty="0" smtClean="0"/>
          </a:p>
          <a:p>
            <a:r>
              <a:rPr lang="en-US" dirty="0" smtClean="0"/>
              <a:t>4. </a:t>
            </a:r>
            <a:r>
              <a:rPr lang="en-US" dirty="0" smtClean="0"/>
              <a:t>Please do this for the pleasure of Allah and continue follow your own priorities…</a:t>
            </a:r>
          </a:p>
          <a:p>
            <a:r>
              <a:rPr lang="en-US" dirty="0" smtClean="0"/>
              <a:t>5. Encourage </a:t>
            </a:r>
            <a:r>
              <a:rPr lang="en-US" dirty="0" smtClean="0"/>
              <a:t>every one you meet to understand this Hadeeth and start following right away..</a:t>
            </a:r>
            <a:br>
              <a:rPr lang="en-US" dirty="0" smtClean="0"/>
            </a:br>
            <a:r>
              <a:rPr lang="en-US" dirty="0" smtClean="0"/>
              <a:t/>
            </a:r>
            <a:br>
              <a:rPr lang="en-US" dirty="0" smtClean="0"/>
            </a:br>
            <a:endParaRPr lang="en-US" dirty="0" smtClean="0"/>
          </a:p>
          <a:p>
            <a:endParaRPr lang="en-US" dirty="0" smtClean="0"/>
          </a:p>
          <a:p>
            <a:endParaRPr lang="en-US" dirty="0"/>
          </a:p>
        </p:txBody>
      </p:sp>
    </p:spTree>
    <p:extLst>
      <p:ext uri="{BB962C8B-B14F-4D97-AF65-F5344CB8AC3E}">
        <p14:creationId xmlns:p14="http://schemas.microsoft.com/office/powerpoint/2010/main" val="31759923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45000">
              <a:schemeClr val="accent1">
                <a:lumMod val="45000"/>
                <a:lumOff val="55000"/>
              </a:schemeClr>
            </a:gs>
            <a:gs pos="77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Jazak</a:t>
            </a:r>
            <a:r>
              <a:rPr lang="en-US" dirty="0" smtClean="0"/>
              <a:t> Allah</a:t>
            </a:r>
            <a:endParaRPr lang="en-US" dirty="0"/>
          </a:p>
        </p:txBody>
      </p:sp>
      <p:sp>
        <p:nvSpPr>
          <p:cNvPr id="3" name="Content Placeholder 2"/>
          <p:cNvSpPr>
            <a:spLocks noGrp="1"/>
          </p:cNvSpPr>
          <p:nvPr>
            <p:ph idx="1"/>
          </p:nvPr>
        </p:nvSpPr>
        <p:spPr/>
        <p:txBody>
          <a:bodyPr/>
          <a:lstStyle/>
          <a:p>
            <a:endParaRPr lang="en-US" dirty="0" smtClean="0"/>
          </a:p>
          <a:p>
            <a:r>
              <a:rPr lang="en-US" dirty="0" smtClean="0"/>
              <a:t>Please give your feedback ….</a:t>
            </a:r>
          </a:p>
          <a:p>
            <a:endParaRPr lang="en-US" dirty="0"/>
          </a:p>
          <a:p>
            <a:r>
              <a:rPr lang="en-US" dirty="0" smtClean="0"/>
              <a:t>If we do this, can we not defeat the Divisive and Fascist Forces?</a:t>
            </a:r>
          </a:p>
          <a:p>
            <a:endParaRPr lang="en-US" dirty="0"/>
          </a:p>
        </p:txBody>
      </p:sp>
    </p:spTree>
    <p:extLst>
      <p:ext uri="{BB962C8B-B14F-4D97-AF65-F5344CB8AC3E}">
        <p14:creationId xmlns:p14="http://schemas.microsoft.com/office/powerpoint/2010/main" val="40456942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8816" y="421674"/>
            <a:ext cx="8956590" cy="1019947"/>
          </a:xfrm>
        </p:spPr>
        <p:txBody>
          <a:bodyPr/>
          <a:lstStyle/>
          <a:p>
            <a:pPr algn="r" rtl="1"/>
            <a:r>
              <a:rPr lang="ar-SA" sz="2400" dirty="0">
                <a:latin typeface="Andalus" panose="02020603050405020304" pitchFamily="18" charset="-78"/>
                <a:cs typeface="Andalus" panose="02020603050405020304" pitchFamily="18" charset="-78"/>
              </a:rPr>
              <a:t>إِنَّ اللَّهَ يَأْمُرُ بِالْعَدْلِ وَالْإِحْسَانِ وَإِيتَاءِ ذِي الْقُرْبَىٰ وَيَنْهَىٰ عَنِ الْفَحْشَاءِ وَالْمُنكَرِ وَالْبَغْيِ ۚ يَعِظُكُمْ لَعَلَّكُمْ </a:t>
            </a:r>
            <a:r>
              <a:rPr lang="ar-SA" sz="2400" dirty="0" smtClean="0">
                <a:latin typeface="Andalus" panose="02020603050405020304" pitchFamily="18" charset="-78"/>
                <a:cs typeface="Andalus" panose="02020603050405020304" pitchFamily="18" charset="-78"/>
              </a:rPr>
              <a:t>تَذَكَّرُونَ</a:t>
            </a:r>
            <a:r>
              <a:rPr lang="en-US" sz="2400" dirty="0">
                <a:latin typeface="Andalus" panose="02020603050405020304" pitchFamily="18" charset="-78"/>
                <a:cs typeface="Andalus" panose="02020603050405020304" pitchFamily="18" charset="-78"/>
              </a:rPr>
              <a:t> </a:t>
            </a:r>
            <a:r>
              <a:rPr lang="en-US" sz="2400" dirty="0" smtClean="0">
                <a:latin typeface="Andalus" panose="02020603050405020304" pitchFamily="18" charset="-78"/>
                <a:cs typeface="Andalus" panose="02020603050405020304" pitchFamily="18" charset="-78"/>
              </a:rPr>
              <a:t> </a:t>
            </a:r>
            <a:r>
              <a:rPr lang="en-US" sz="2400" dirty="0" smtClean="0">
                <a:latin typeface="Albertus Medium" panose="020E0602030304020304" pitchFamily="34" charset="0"/>
              </a:rPr>
              <a:t>…..</a:t>
            </a:r>
          </a:p>
          <a:p>
            <a:endParaRPr lang="en-US" dirty="0"/>
          </a:p>
        </p:txBody>
      </p:sp>
      <p:sp>
        <p:nvSpPr>
          <p:cNvPr id="4" name="Rectangle 1"/>
          <p:cNvSpPr>
            <a:spLocks noChangeArrowheads="1"/>
          </p:cNvSpPr>
          <p:nvPr/>
        </p:nvSpPr>
        <p:spPr bwMode="auto">
          <a:xfrm>
            <a:off x="1029729" y="1624902"/>
            <a:ext cx="8855677" cy="17311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Indeed, Allah orders justice and good conduct and giving to relatives and forbids immorality and bad conduct and oppression. He admonishes you that perhaps you will be reminded.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1260388" y="3217666"/>
            <a:ext cx="6647935" cy="2679836"/>
          </a:xfrm>
          <a:prstGeom prst="rect">
            <a:avLst/>
          </a:prstGeom>
        </p:spPr>
        <p:txBody>
          <a:bodyPr wrap="square">
            <a:spAutoFit/>
          </a:bodyPr>
          <a:lstStyle/>
          <a:p>
            <a:pPr>
              <a:lnSpc>
                <a:spcPct val="107000"/>
              </a:lnSpc>
              <a:spcAft>
                <a:spcPts val="800"/>
              </a:spcAft>
            </a:pPr>
            <a:r>
              <a:rPr lang="en-US" dirty="0">
                <a:latin typeface="Times New Roman" panose="02020603050405020304" pitchFamily="18" charset="0"/>
                <a:ea typeface="Calibri" panose="020F0502020204030204" pitchFamily="34" charset="0"/>
                <a:cs typeface="Arial" panose="020B0604020202020204" pitchFamily="34" charset="0"/>
              </a:rPr>
              <a:t>The Prophet (PBUH) said</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By Allah, he is not a believer!</a:t>
            </a: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   By Allah, he is not a believer</a:t>
            </a:r>
            <a:br>
              <a:rPr lang="en-US" dirty="0">
                <a:latin typeface="Calibri" panose="020F0502020204030204" pitchFamily="34" charset="0"/>
                <a:ea typeface="Calibri" panose="020F0502020204030204" pitchFamily="34" charset="0"/>
                <a:cs typeface="Arial" panose="020B0604020202020204" pitchFamily="34" charset="0"/>
              </a:rPr>
            </a:br>
            <a:r>
              <a:rPr lang="en-US" dirty="0">
                <a:latin typeface="Calibri" panose="020F0502020204030204" pitchFamily="34" charset="0"/>
                <a:ea typeface="Calibri" panose="020F0502020204030204" pitchFamily="34" charset="0"/>
                <a:cs typeface="Arial" panose="020B0604020202020204" pitchFamily="34" charset="0"/>
              </a:rPr>
              <a:t>   By Allah, he is not a believer!</a:t>
            </a: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It was asked,” Who is that,</a:t>
            </a: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O Messenger of Allah:  He said,</a:t>
            </a: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One whose neighbor does not </a:t>
            </a:r>
            <a:r>
              <a:rPr lang="en-US" dirty="0" smtClean="0">
                <a:latin typeface="Calibri" panose="020F0502020204030204" pitchFamily="34" charset="0"/>
                <a:ea typeface="Calibri" panose="020F0502020204030204" pitchFamily="34" charset="0"/>
                <a:cs typeface="Arial" panose="020B0604020202020204" pitchFamily="34" charset="0"/>
              </a:rPr>
              <a:t>feel safe </a:t>
            </a:r>
            <a:r>
              <a:rPr lang="en-US" dirty="0">
                <a:latin typeface="Calibri" panose="020F0502020204030204" pitchFamily="34" charset="0"/>
                <a:ea typeface="Calibri" panose="020F0502020204030204" pitchFamily="34" charset="0"/>
                <a:cs typeface="Arial" panose="020B0604020202020204" pitchFamily="34" charset="0"/>
              </a:rPr>
              <a:t>from his evil..</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72443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Challenge….</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sz="4800" dirty="0" smtClean="0"/>
              <a:t>This solution is a to pre-empt a Tsunami…</a:t>
            </a:r>
          </a:p>
          <a:p>
            <a:endParaRPr lang="en-US" dirty="0" smtClean="0"/>
          </a:p>
          <a:p>
            <a:r>
              <a:rPr lang="en-US" dirty="0" smtClean="0"/>
              <a:t>So the effort also should be equally Serious, Potent and Widespread</a:t>
            </a:r>
          </a:p>
          <a:p>
            <a:pPr marL="0" indent="0">
              <a:buNone/>
            </a:pPr>
            <a:endParaRPr lang="en-US" dirty="0"/>
          </a:p>
        </p:txBody>
      </p:sp>
    </p:spTree>
    <p:extLst>
      <p:ext uri="{BB962C8B-B14F-4D97-AF65-F5344CB8AC3E}">
        <p14:creationId xmlns:p14="http://schemas.microsoft.com/office/powerpoint/2010/main" val="18318278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870</TotalTime>
  <Words>1523</Words>
  <Application>Microsoft Office PowerPoint</Application>
  <PresentationFormat>Widescreen</PresentationFormat>
  <Paragraphs>96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Albertus Medium</vt:lpstr>
      <vt:lpstr>Andalus</vt:lpstr>
      <vt:lpstr>Arial</vt:lpstr>
      <vt:lpstr>Calibri</vt:lpstr>
      <vt:lpstr>Calibri Light</vt:lpstr>
      <vt:lpstr>Times New Roman</vt:lpstr>
      <vt:lpstr>Office Theme</vt:lpstr>
      <vt:lpstr>How can Muslims defeat Divisive and Fascist Forces in India and in the world?</vt:lpstr>
      <vt:lpstr>Recent Incidents related to Muslims in India</vt:lpstr>
      <vt:lpstr>How Muslims are living…</vt:lpstr>
      <vt:lpstr>Status of Muslim Mind</vt:lpstr>
      <vt:lpstr>  But  If we fail to plan means we are planning to fail… </vt:lpstr>
      <vt:lpstr>What should we do..</vt:lpstr>
      <vt:lpstr>The Solutions</vt:lpstr>
      <vt:lpstr>Understand the deep meaning of Words</vt:lpstr>
      <vt:lpstr>PowerPoint Presentation</vt:lpstr>
      <vt:lpstr>What the Quran says about neighbors</vt:lpstr>
      <vt:lpstr>PowerPoint Presentation</vt:lpstr>
      <vt:lpstr>Concern for Neighbor</vt:lpstr>
      <vt:lpstr>What Prophet said about a neigbor</vt:lpstr>
      <vt:lpstr>A Hadees regarding neighbor</vt:lpstr>
      <vt:lpstr>How shall we do it..  How to implement this Hadees</vt:lpstr>
      <vt:lpstr>What to do now:</vt:lpstr>
      <vt:lpstr>Jazak Allah</vt:lpstr>
      <vt:lpstr>PowerPoint Presentation</vt:lpstr>
      <vt:lpstr>Big Challenge….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can Muslims defeat Divisive and Fascist Forces in India and in the world?</dc:title>
  <dc:creator>Mohammad Sayeeduddin</dc:creator>
  <cp:lastModifiedBy>Mohammad Sayeeduddin</cp:lastModifiedBy>
  <cp:revision>29</cp:revision>
  <dcterms:created xsi:type="dcterms:W3CDTF">2017-02-22T18:15:22Z</dcterms:created>
  <dcterms:modified xsi:type="dcterms:W3CDTF">2017-02-24T09:26:51Z</dcterms:modified>
</cp:coreProperties>
</file>