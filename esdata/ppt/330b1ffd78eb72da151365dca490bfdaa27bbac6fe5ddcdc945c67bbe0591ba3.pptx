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9"/>
  </p:notesMasterIdLst>
  <p:sldIdLst>
    <p:sldId id="256" r:id="rId2"/>
    <p:sldId id="257" r:id="rId3"/>
    <p:sldId id="281" r:id="rId4"/>
    <p:sldId id="285" r:id="rId5"/>
    <p:sldId id="283" r:id="rId6"/>
    <p:sldId id="258" r:id="rId7"/>
    <p:sldId id="294" r:id="rId8"/>
    <p:sldId id="291" r:id="rId9"/>
    <p:sldId id="259" r:id="rId10"/>
    <p:sldId id="289" r:id="rId11"/>
    <p:sldId id="296" r:id="rId12"/>
    <p:sldId id="297" r:id="rId13"/>
    <p:sldId id="298" r:id="rId14"/>
    <p:sldId id="299" r:id="rId15"/>
    <p:sldId id="275" r:id="rId16"/>
    <p:sldId id="302" r:id="rId17"/>
    <p:sldId id="30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B0DAD-C7B8-48BC-B388-EAC96FF6BBAD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D5F6A-6630-4F07-8749-6800378C3DF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DC722-605E-4AA1-A7D0-54004B29E6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921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2D2D8A2-167E-4251-B75B-208F9D2A9C82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EC6AC61-E6AF-435E-A550-628861BA4A4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0"/>
            <a:ext cx="8382000" cy="3733800"/>
          </a:xfrm>
        </p:spPr>
        <p:txBody>
          <a:bodyPr>
            <a:normAutofit fontScale="90000"/>
          </a:bodyPr>
          <a:lstStyle/>
          <a:p>
            <a:r>
              <a:rPr lang="en-US" sz="5300" dirty="0" smtClean="0"/>
              <a:t>REINVENTING NEW ERA ON THE RELATIONS </a:t>
            </a:r>
            <a:r>
              <a:rPr lang="en-US" sz="5300" smtClean="0"/>
              <a:t>BETWEEN </a:t>
            </a:r>
            <a:r>
              <a:rPr lang="en-US" sz="5300" smtClean="0"/>
              <a:t>IRAN (IRI) AND </a:t>
            </a:r>
            <a:r>
              <a:rPr lang="en-US" sz="5300" dirty="0" smtClean="0"/>
              <a:t>TANZANIA </a:t>
            </a:r>
            <a:r>
              <a:rPr lang="en-US" sz="5300" smtClean="0"/>
              <a:t>AS AN OPPORTUNITY</a:t>
            </a:r>
            <a:r>
              <a:rPr lang="en-US" sz="5300" dirty="0" smtClean="0"/>
              <a:t>: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 CASE OF BALOCHI COMMUNITY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24400"/>
            <a:ext cx="6400800" cy="1752600"/>
          </a:xfrm>
        </p:spPr>
        <p:txBody>
          <a:bodyPr/>
          <a:lstStyle/>
          <a:p>
            <a:r>
              <a:rPr lang="en-US" dirty="0" smtClean="0"/>
              <a:t>PROF EGINALD PIUS MIHANJO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REALITY OF TZ IRAN 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HISTORIOGRAPHICAL NARRATIVES, DEBATES,  NOTES,  SOURCES MANY </a:t>
            </a:r>
          </a:p>
          <a:p>
            <a:r>
              <a:rPr lang="en-US" dirty="0" smtClean="0"/>
              <a:t>BUT CONFIRMS IRANIAN HAVE SPIRITUAL BLOOD TIES/ RELATIONS WITH TANZANIANS SINCE CENTURIES BACK </a:t>
            </a:r>
          </a:p>
          <a:p>
            <a:r>
              <a:rPr lang="en-US" dirty="0" smtClean="0"/>
              <a:t>THIS IS UNDISPUTABLE, A REALITY – ARE TANZANIANS WITH IRANIAN TIES</a:t>
            </a:r>
          </a:p>
          <a:p>
            <a:r>
              <a:rPr lang="en-US" dirty="0" smtClean="0"/>
              <a:t>CONNECT PERSIAN, SHIRAZI, BALUCHI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THIS IS AN OPPORTUNITY, FOR USE, USE IT FOR PEOPLE CENTRED ECONOMIC REVOLUTION, DEVELOPMENT, LIBERATION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TANZANIA MAP.pn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19200" y="762000"/>
            <a:ext cx="7924800" cy="6096000"/>
          </a:xfrm>
        </p:spPr>
      </p:pic>
      <p:sp>
        <p:nvSpPr>
          <p:cNvPr id="7" name="TextBox 6"/>
          <p:cNvSpPr txBox="1"/>
          <p:nvPr/>
        </p:nvSpPr>
        <p:spPr>
          <a:xfrm>
            <a:off x="381000" y="2286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TZ - IRAN PEOPLE CENTERED  TIES CORRIDOR MAP</a:t>
            </a:r>
            <a:endParaRPr lang="en-US" sz="2400" b="1" dirty="0"/>
          </a:p>
        </p:txBody>
      </p:sp>
      <p:sp>
        <p:nvSpPr>
          <p:cNvPr id="9" name="Down Arrow 8"/>
          <p:cNvSpPr/>
          <p:nvPr/>
        </p:nvSpPr>
        <p:spPr>
          <a:xfrm>
            <a:off x="7086600" y="2590800"/>
            <a:ext cx="1600200" cy="3505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/>
          <p:cNvSpPr/>
          <p:nvPr/>
        </p:nvSpPr>
        <p:spPr>
          <a:xfrm>
            <a:off x="838200" y="2895600"/>
            <a:ext cx="6553200" cy="1371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2971800" y="1905000"/>
            <a:ext cx="1905000" cy="1371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>
            <a:off x="4648200" y="5562600"/>
            <a:ext cx="2743200" cy="762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19600" y="3962400"/>
            <a:ext cx="16764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-Right Arrow 15"/>
          <p:cNvSpPr/>
          <p:nvPr/>
        </p:nvSpPr>
        <p:spPr>
          <a:xfrm rot="1520307">
            <a:off x="5742902" y="2156291"/>
            <a:ext cx="1870195" cy="59606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-228600"/>
            <a:ext cx="8991600" cy="161848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OUR RELATIONS STRATEGIC TOOLKIT  - PEOPLE CENTRIC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09600" y="1905000"/>
            <a:ext cx="3886200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OVER 1000 YRS COOPERATION </a:t>
            </a:r>
          </a:p>
          <a:p>
            <a:pPr lvl="1"/>
            <a:r>
              <a:rPr lang="en-US" dirty="0" smtClean="0"/>
              <a:t>OPPORTUNITIES</a:t>
            </a:r>
          </a:p>
          <a:p>
            <a:pPr lvl="1"/>
            <a:r>
              <a:rPr lang="en-US" dirty="0" smtClean="0"/>
              <a:t>CHALLENGES</a:t>
            </a:r>
          </a:p>
          <a:p>
            <a:r>
              <a:rPr lang="en-US" dirty="0" smtClean="0"/>
              <a:t>CLOSE TIES </a:t>
            </a:r>
          </a:p>
          <a:p>
            <a:pPr lvl="1"/>
            <a:r>
              <a:rPr lang="en-US" dirty="0" smtClean="0"/>
              <a:t>SPIRITUAL , BROTHERLY – BLOOD TIES</a:t>
            </a:r>
          </a:p>
          <a:p>
            <a:pPr lvl="1"/>
            <a:r>
              <a:rPr lang="en-US" dirty="0" smtClean="0"/>
              <a:t>HISTORICAL, CULTURAL, </a:t>
            </a:r>
          </a:p>
          <a:p>
            <a:pPr lvl="1"/>
            <a:r>
              <a:rPr lang="en-US" dirty="0" smtClean="0"/>
              <a:t>SOCIAL</a:t>
            </a:r>
          </a:p>
          <a:p>
            <a:pPr lvl="1"/>
            <a:r>
              <a:rPr lang="en-US" dirty="0" smtClean="0"/>
              <a:t>ECONOMIC PARTNERSHIP TOOL</a:t>
            </a:r>
          </a:p>
          <a:p>
            <a:pPr lvl="1"/>
            <a:r>
              <a:rPr lang="en-US" dirty="0" smtClean="0"/>
              <a:t>REVOLUTONARY IDEOLOGY MOBILATION TOOL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44901" y="1905000"/>
            <a:ext cx="3886200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TANGA </a:t>
            </a:r>
          </a:p>
          <a:p>
            <a:r>
              <a:rPr lang="en-US" dirty="0" smtClean="0"/>
              <a:t>PANGANI</a:t>
            </a:r>
          </a:p>
          <a:p>
            <a:r>
              <a:rPr lang="en-US" dirty="0" smtClean="0"/>
              <a:t>BAGAMOYO</a:t>
            </a:r>
          </a:p>
          <a:p>
            <a:r>
              <a:rPr lang="en-US" dirty="0" smtClean="0"/>
              <a:t>KILWA</a:t>
            </a:r>
          </a:p>
          <a:p>
            <a:r>
              <a:rPr lang="en-US" dirty="0" smtClean="0"/>
              <a:t>LINDI</a:t>
            </a:r>
          </a:p>
          <a:p>
            <a:r>
              <a:rPr lang="en-US" dirty="0" smtClean="0"/>
              <a:t>MIKINDANI</a:t>
            </a:r>
          </a:p>
          <a:p>
            <a:r>
              <a:rPr lang="en-US" dirty="0" smtClean="0"/>
              <a:t>TABORA – LAKE VICTORIA CORRIDOR</a:t>
            </a:r>
          </a:p>
          <a:p>
            <a:r>
              <a:rPr lang="en-US" dirty="0" smtClean="0"/>
              <a:t>KIGOMA – UJIJI – LAKE TANGANYIKA CORRIDOR</a:t>
            </a:r>
          </a:p>
          <a:p>
            <a:r>
              <a:rPr lang="en-US" dirty="0" smtClean="0"/>
              <a:t>MBEYA</a:t>
            </a:r>
          </a:p>
          <a:p>
            <a:r>
              <a:rPr lang="en-US" dirty="0" smtClean="0"/>
              <a:t>IRINGA</a:t>
            </a:r>
          </a:p>
          <a:p>
            <a:r>
              <a:rPr lang="en-US" dirty="0" smtClean="0"/>
              <a:t>LAKE NYASA CORRIDOR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IRI – TZ RELATIONS TOOLING KIT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endParaRPr lang="en-US" dirty="0"/>
          </a:p>
        </p:txBody>
      </p:sp>
      <p:pic>
        <p:nvPicPr>
          <p:cNvPr id="11" name="Content Placeholder 10" descr="IRAN.pn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800600" y="2570703"/>
            <a:ext cx="3886200" cy="3316794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 smtClean="0"/>
              <a:t>TANZANIA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5483225" y="1859757"/>
            <a:ext cx="4041775" cy="654843"/>
          </a:xfrm>
        </p:spPr>
        <p:txBody>
          <a:bodyPr/>
          <a:lstStyle/>
          <a:p>
            <a:r>
              <a:rPr lang="en-US" dirty="0" smtClean="0"/>
              <a:t>IRAN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52800" y="2831068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HISTORICAL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429000" y="2602468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CULTURAL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81400" y="320040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POLITICAL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581400" y="419100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SOCIAL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429000" y="4419600"/>
            <a:ext cx="157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ECONOMIC</a:t>
            </a:r>
            <a:endParaRPr lang="en-US" dirty="0"/>
          </a:p>
        </p:txBody>
      </p:sp>
      <p:sp>
        <p:nvSpPr>
          <p:cNvPr id="25" name="Right Arrow 24"/>
          <p:cNvSpPr/>
          <p:nvPr/>
        </p:nvSpPr>
        <p:spPr>
          <a:xfrm>
            <a:off x="4724400" y="2895600"/>
            <a:ext cx="5334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/>
          <p:cNvSpPr/>
          <p:nvPr/>
        </p:nvSpPr>
        <p:spPr>
          <a:xfrm>
            <a:off x="3048000" y="2743200"/>
            <a:ext cx="304800" cy="152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 flipV="1">
            <a:off x="5029200" y="3200400"/>
            <a:ext cx="762000" cy="381000"/>
          </a:xfrm>
          <a:prstGeom prst="rightArrow">
            <a:avLst>
              <a:gd name="adj1" fmla="val 50000"/>
              <a:gd name="adj2" fmla="val 594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4572000" y="4191000"/>
            <a:ext cx="97840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Arrow 28"/>
          <p:cNvSpPr/>
          <p:nvPr/>
        </p:nvSpPr>
        <p:spPr>
          <a:xfrm>
            <a:off x="2895600" y="3200400"/>
            <a:ext cx="609600" cy="304800"/>
          </a:xfrm>
          <a:prstGeom prst="leftArrow">
            <a:avLst>
              <a:gd name="adj1" fmla="val 5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Arrow 29"/>
          <p:cNvSpPr/>
          <p:nvPr/>
        </p:nvSpPr>
        <p:spPr>
          <a:xfrm>
            <a:off x="2971800" y="4267200"/>
            <a:ext cx="6096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6" descr="http://www.ezilon.com/maps/images/africa/political-map-of-Tanzania.gif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 bwMode="auto">
          <a:xfrm>
            <a:off x="304800" y="2514600"/>
            <a:ext cx="2514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RETOOLING RELATIONS INTO FUTURISTIC STRATEGIC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344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RELATIONS HAVE TO BE RETOOLED AS OPPORTUNITY NOW</a:t>
            </a:r>
          </a:p>
          <a:p>
            <a:r>
              <a:rPr lang="en-US" dirty="0" smtClean="0"/>
              <a:t>ERA OF COMPETITIVE CAPTALIST IMPERIALIST  NON POLAR WORLD</a:t>
            </a:r>
          </a:p>
          <a:p>
            <a:r>
              <a:rPr lang="en-US" dirty="0" smtClean="0"/>
              <a:t>OPPORTUNITY  FOR AFRICA  PEOPLE TO UNITE &amp; PARTNER/WORK WITH WEAK TO ACHIEVE ECONOMIC LIBERATION – SOUTH </a:t>
            </a:r>
            <a:r>
              <a:rPr lang="en-US" dirty="0" err="1" smtClean="0"/>
              <a:t>SOUTH</a:t>
            </a:r>
            <a:endParaRPr lang="en-US" dirty="0" smtClean="0"/>
          </a:p>
          <a:p>
            <a:r>
              <a:rPr lang="en-US" dirty="0" smtClean="0"/>
              <a:t>THE FUTURE LIES IN FOCUSING SUCH OPPORTUNITIES </a:t>
            </a:r>
          </a:p>
          <a:p>
            <a:r>
              <a:rPr lang="en-US" dirty="0" smtClean="0"/>
              <a:t>ECONOMIC REVOLUTION STEMS FROM PEOLE CENTRIC CONNECTION OPTION AND PARTNERSHIPS</a:t>
            </a:r>
          </a:p>
          <a:p>
            <a:r>
              <a:rPr lang="en-US" dirty="0" smtClean="0"/>
              <a:t>FIND PEOPLE MOBILIZATIONAL IDEOLOGY  FOR REVOLUTIONARY TIES   </a:t>
            </a:r>
            <a:r>
              <a:rPr lang="en-US" b="1" dirty="0" smtClean="0">
                <a:solidFill>
                  <a:srgbClr val="FF0000"/>
                </a:solidFill>
              </a:rPr>
              <a:t>UNIFYING IDEOLOGIES   ARE LIFEBLOOD OF NATIONS DEVELOPMENT – ISLAM, UJAMAA JUST LIKE WESTERN WORLD THE IDEOLOGY OF WESTERN DEMOCRACY 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CEREMMONIAL SYMBOLISM CENTRES UNIFYING IDEOLOGY</a:t>
            </a:r>
            <a:endParaRPr lang="en-US" dirty="0"/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609600" y="2933700"/>
            <a:ext cx="3886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00600" y="2799762"/>
            <a:ext cx="3886200" cy="285867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ISLAM - AYATOLLAH KHOMEINI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UJAMAA – MWL NYERERE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57400" y="6172200"/>
            <a:ext cx="459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MAGUFULIPHILIA - TANZAPHILIA</a:t>
            </a:r>
            <a:endParaRPr lang="en-US" sz="2000" b="1" dirty="0"/>
          </a:p>
        </p:txBody>
      </p:sp>
      <p:sp>
        <p:nvSpPr>
          <p:cNvPr id="11" name="Down Arrow 10"/>
          <p:cNvSpPr/>
          <p:nvPr/>
        </p:nvSpPr>
        <p:spPr>
          <a:xfrm>
            <a:off x="3124200" y="5105400"/>
            <a:ext cx="28194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82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AVOID DECEPTIONS SOFT POWER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IRAN TO </a:t>
            </a:r>
            <a:r>
              <a:rPr lang="en-US" dirty="0" smtClean="0"/>
              <a:t>TANZANIA </a:t>
            </a:r>
            <a:r>
              <a:rPr lang="en-US" dirty="0" smtClean="0"/>
              <a:t>OFFER AN OPPORTUNITY FOR PEOPLE CENTRIC ECONOMIC LIBERATION</a:t>
            </a:r>
          </a:p>
          <a:p>
            <a:r>
              <a:rPr lang="en-US" dirty="0" smtClean="0"/>
              <a:t>ACHIEVING ECONOMIC LIBERATION FOR THE WEAK REQUIRES </a:t>
            </a:r>
            <a:r>
              <a:rPr lang="en-US" dirty="0" smtClean="0"/>
              <a:t>THE WEAK/SOUTH </a:t>
            </a:r>
            <a:r>
              <a:rPr lang="en-US" dirty="0" smtClean="0"/>
              <a:t>PARTNERSHIP IN STRATEGIES </a:t>
            </a:r>
            <a:endParaRPr lang="en-US" dirty="0" smtClean="0"/>
          </a:p>
          <a:p>
            <a:r>
              <a:rPr lang="en-US" dirty="0" smtClean="0"/>
              <a:t>REQUIRES </a:t>
            </a:r>
            <a:r>
              <a:rPr lang="en-US" dirty="0" smtClean="0"/>
              <a:t>CHANGE </a:t>
            </a:r>
            <a:r>
              <a:rPr lang="en-US" dirty="0" smtClean="0"/>
              <a:t>OF PARADIGM </a:t>
            </a:r>
            <a:r>
              <a:rPr lang="en-US" dirty="0" smtClean="0"/>
              <a:t>GET OUT OF BOX</a:t>
            </a:r>
          </a:p>
          <a:p>
            <a:r>
              <a:rPr lang="en-US" dirty="0" smtClean="0"/>
              <a:t>AGAINST </a:t>
            </a:r>
            <a:r>
              <a:rPr lang="en-US" dirty="0" smtClean="0"/>
              <a:t>CAPITALIST IMPERIALIST  DECEPTION </a:t>
            </a:r>
            <a:r>
              <a:rPr lang="en-US" dirty="0" smtClean="0"/>
              <a:t>PROPAGANDA STRATEGIES/MACHINATION VS </a:t>
            </a:r>
            <a:r>
              <a:rPr lang="en-US" dirty="0" smtClean="0"/>
              <a:t>REVOLUTIONARY MOBILAZATION TOOLS – BE IT IDEOLOGICAL, RELIGIOUS, CULTURAL, </a:t>
            </a:r>
            <a:r>
              <a:rPr lang="en-US" dirty="0" smtClean="0"/>
              <a:t>HISTORICAL</a:t>
            </a:r>
          </a:p>
          <a:p>
            <a:r>
              <a:rPr lang="en-US" dirty="0" smtClean="0"/>
              <a:t>MAINTAIN - </a:t>
            </a:r>
            <a:r>
              <a:rPr lang="en-US" dirty="0" smtClean="0"/>
              <a:t>UNITY </a:t>
            </a:r>
            <a:r>
              <a:rPr lang="en-US" dirty="0" smtClean="0"/>
              <a:t>OF PURPOSE </a:t>
            </a: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CASE OF THE BALOCHI AS AN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4953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PERSIANS, SHIRAZI, BALOCHI, BALUCHI FACTOR LONG HISTORY </a:t>
            </a:r>
          </a:p>
          <a:p>
            <a:r>
              <a:rPr lang="en-US" dirty="0" smtClean="0"/>
              <a:t>BALOCHI FACTOR – HAS FAR REACHING EXTENSION OVER TANZANIA – ZANZIBARVAND INTERIOR MAINLAND TANZANIA </a:t>
            </a:r>
          </a:p>
          <a:p>
            <a:r>
              <a:rPr lang="en-US" dirty="0" smtClean="0"/>
              <a:t>AS MILITARY FORCE, POLITICAL ADMINISTRATOR, WITH LONG LASTING SOCIAL ECONOMIC IMPACT</a:t>
            </a:r>
            <a:endParaRPr lang="en-US" dirty="0"/>
          </a:p>
        </p:txBody>
      </p:sp>
      <p:pic>
        <p:nvPicPr>
          <p:cNvPr id="5" name="Content Placeholder 6" descr="http://www.kevinrdshepherd.info/images/320px-26th_(Baluchistan)_Regiment,_Bombay_Infantry_1897.jpg"/>
          <p:cNvPicPr>
            <a:picLocks noGrp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5421312" y="2441575"/>
            <a:ext cx="273367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257800" y="1676400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PROVIDE THE MILITARY THE BALOCHI – ZANZIBAR, TABORA  - MBEYA CORRIDOR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NARRATIVE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 1821 SULTAN SEYYID SAID BIN SULTAN AL BUSAIDI HIRED AN IRANIAN FLEET TO INVADE THE ISLAND AND PORT STATES OF EAST AFRICA </a:t>
            </a:r>
          </a:p>
          <a:p>
            <a:r>
              <a:rPr lang="en-GB" dirty="0" smtClean="0"/>
              <a:t>FLEET COMPOSED MOSTLY OF BALOCH AND SINDHI/CUTCHI MERCENARIES FEW ARAB, PERSIAN AND PATHAN OFFICERS</a:t>
            </a:r>
          </a:p>
          <a:p>
            <a:r>
              <a:rPr lang="en-GB" dirty="0" smtClean="0"/>
              <a:t>MOST OF THESE AND THEIR FAMILIES FROM IRAN AND INDIA, SETTLED IN THE COASTAL TOWNS AROUND FORTS</a:t>
            </a:r>
          </a:p>
          <a:p>
            <a:r>
              <a:rPr lang="en-GB" dirty="0" smtClean="0"/>
              <a:t>NEWLY BUILT CAMPS - SAA-TEENI OUTSIDE ZANZIBAR CITY, FORT JESUS IN MOMBASA AND THE BALOCH CAVALLERY IN ZANZIBAR CITY AT SITE OF PRESENT HAILE SELASSIE SCHOOL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EXPANSION OF ZANZIBAR TRADE AND POLITICAL INFLUENCE IN THE INTERIOR MADE BALOCH SQUADRONS PENETRATE TABORA AND KIGOMA ON LAKE TANGANYIKA</a:t>
            </a:r>
          </a:p>
          <a:p>
            <a:r>
              <a:rPr lang="en-GB" dirty="0" smtClean="0"/>
              <a:t>IN 1873, HALF OF THE SULTAN’S 3000 ZANZIBARI TROOPS ENGAGED IN THE WAR IN UNYANYEMBE AGAINST THE NYAMWEZI RULER CHIEF MIRAMBO WERE BULUSHI (BALOCH) AND SHIHIRI (HADRAMI) MERCENARIES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1557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BALOCH SOLDIERS JOINED TRADE CARAVANS AS GUARDS, REACHED CONGO WITH TRADER TIPPU TIP - HAMED BIN MUHAMMAD AL-MURJEBI,</a:t>
            </a:r>
          </a:p>
          <a:p>
            <a:r>
              <a:rPr lang="en-GB" dirty="0" smtClean="0"/>
              <a:t>HAS UNDER HIS COMMAND 1600 ARMED MEN IN HIS CARAVANS AND DEPOTS, FREEMEN AND SLAVES</a:t>
            </a:r>
          </a:p>
          <a:p>
            <a:r>
              <a:rPr lang="en-GB" dirty="0" smtClean="0"/>
              <a:t>TIPPU TIP BECAME THE FIRST AND ONLY ZANZIBARI GOVERNOR OF THE COPPER PROVINCE OF KATANGA - SHABA PROVINCE - IN EASTERN CONGO</a:t>
            </a:r>
          </a:p>
          <a:p>
            <a:r>
              <a:rPr lang="en-GB" dirty="0" smtClean="0"/>
              <a:t>BECAME ALSO THE FIRST BELGIAN GOVERNOR OF KATANGA FOR A SHORT TIME AFTER THE EUROPEAN SCRAMBLE OF AFRICA WAS CONCLUDED IN 1890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3828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KNOWN AS BULUSHI (PL. MABULUSHI) SPOKE SWAHILI  MIX BALOCHI AND SWAHILI, BALOCH SETTLERS INTERMARRIED WITH OTHER MUSLIMS OF EAST AFRICA OF DIVERSE ETHNIC ORIGIN AND ADOPTED SWAHILI </a:t>
            </a:r>
          </a:p>
          <a:p>
            <a:r>
              <a:rPr lang="en-GB" dirty="0" smtClean="0"/>
              <a:t>BALOCH HOUSEHOLDS RECEIVED NEW ARRIVALS FROM THEIR OLD COUNTRY, THE IRANIAN BALUCHISTAN, PRESERVES ‘BALOCH’ IDENTITY </a:t>
            </a:r>
          </a:p>
          <a:p>
            <a:r>
              <a:rPr lang="en-GB" b="1" dirty="0" smtClean="0">
                <a:solidFill>
                  <a:srgbClr val="FF0000"/>
                </a:solidFill>
              </a:rPr>
              <a:t>GERMAN ADMINISTRATION FURTHER SPREAD BALOCHI - USED THEM, SWAHILI, ARABS, MUSLIM IN THEIR ADMINISTRATION</a:t>
            </a:r>
            <a:r>
              <a:rPr lang="en-GB" b="1" dirty="0" smtClean="0">
                <a:solidFill>
                  <a:srgbClr val="FF0000"/>
                </a:solidFill>
              </a:rPr>
              <a:t> - LIWALI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6484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BALOCHI LEGACIES AND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CULTURAL HISTORICAL RELATIONS CONNECTED WELL INTO SOCIAL POLITICAL ECONOMIC LIFE – </a:t>
            </a:r>
            <a:r>
              <a:rPr lang="en-GB" dirty="0" smtClean="0"/>
              <a:t>SWAHILIZATION, ISLAMIZATION TO TRADE ECONOMIC VENTURE AND POLITICAL CLASS TO POST COLONIAL PERIOD </a:t>
            </a:r>
          </a:p>
          <a:p>
            <a:r>
              <a:rPr lang="en-GB" dirty="0" smtClean="0"/>
              <a:t>DESPITE BRITISH POLICIES AND POST INDEPENDENCE AFRICANIZATION </a:t>
            </a:r>
            <a:r>
              <a:rPr lang="en-GB" dirty="0" smtClean="0"/>
              <a:t>STAYED AS TANZANIANS ECONOMICALLY VISIBLE </a:t>
            </a:r>
            <a:r>
              <a:rPr lang="en-GB" dirty="0" smtClean="0"/>
              <a:t>SUCH AS MR. ROSTAM AZIZ ESPECIALLY IN </a:t>
            </a:r>
            <a:r>
              <a:rPr lang="en-GB" dirty="0" smtClean="0"/>
              <a:t>T</a:t>
            </a:r>
            <a:r>
              <a:rPr lang="en-GB" dirty="0" smtClean="0"/>
              <a:t>ABORA, USANGU, NJOMBE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6357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STRATEGIC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828800"/>
            <a:ext cx="8610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USE THIS TO CONNECT THE PEOPLE OF THE TWO COUNTRIES INTO MEANINGFUL DEVELOPMENT ARCHITECTURE</a:t>
            </a:r>
          </a:p>
          <a:p>
            <a:r>
              <a:rPr lang="en-US" dirty="0" smtClean="0"/>
              <a:t>IDENTIFY THEM  AT GRAASSROOT COMMUNITY LEVEL ESPECIALLY THE YOUNG GENERATION AND CONNECT THEM IN ECONOMIC VENTURE WITH IRANIAN RELATIONS – ECONOMIC, TECHNOLOGICAL, KNOWLEDGE BASE VENTURE</a:t>
            </a:r>
            <a:r>
              <a:rPr lang="en-US" dirty="0" smtClean="0"/>
              <a:t> </a:t>
            </a:r>
          </a:p>
          <a:p>
            <a:r>
              <a:rPr lang="en-US" dirty="0" smtClean="0"/>
              <a:t>APRIL  2007 AS CFR – DSP MEETING IN IRAN - GOVERNMENT, MUNICIPAL AND CHAMBER OF COMMERCE OFFICIALS AIMED AT THIS OPENING UP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DEPUTY MIN OF FOREIGN RELATIONS, HON. DR. M. MOHAMMAD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DIRECTOR OF AFRICAN AND ARAB STUDIES HE AMBAS GHADRI; DIRECTOR OF INSTITUTE OF POLICY AND INTERNATIONAL STUDIES (IPIS) DR. SEYED RASOUL MOUSAVI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CHAMBER OF COMMERCE IN SHIRAZ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9006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TAKE NATIONAL INTERESTS GOALS CLOSER </a:t>
            </a:r>
          </a:p>
          <a:p>
            <a:r>
              <a:rPr lang="en-US" dirty="0" smtClean="0"/>
              <a:t>TAPE THE STRATEGIC ADVANTAGES OF LONG HISTORICAL RELATIONS INTO PEOPLE CENTRIC ECONOMIC, TECHNOLOGICAL AND KNOWLEDGE BASE ADVANTAGE</a:t>
            </a:r>
          </a:p>
          <a:p>
            <a:r>
              <a:rPr lang="en-US" dirty="0" smtClean="0"/>
              <a:t>TAKE ADVANTAGE OF THE GEOPOLITICAL POSITIONING OF ONE ANOTHER TO BENEFIT FROM THE GEOGRAPHIC STRATEGIC OPPORTUNITIES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IT IS NOT TOO LATE, IT IS RATHER TIMELY, TAKE CHARGE OF HISTORICAL OPPORTUNITY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PUT IT AMONG THE YOUTH AS A STRATEGIC REVOLUTIONARY MOVE AGAINST COUNTER REVOLUTIONARIES FOR CONTINUED MANTAINANCE OF </a:t>
            </a:r>
            <a:r>
              <a:rPr lang="en-US" b="1" dirty="0" err="1" smtClean="0">
                <a:solidFill>
                  <a:srgbClr val="0070C0"/>
                </a:solidFill>
              </a:rPr>
              <a:t>OF</a:t>
            </a:r>
            <a:r>
              <a:rPr lang="en-US" b="1" dirty="0" smtClean="0">
                <a:solidFill>
                  <a:srgbClr val="0070C0"/>
                </a:solidFill>
              </a:rPr>
              <a:t> HISTORICAL CULTURAL BLOOD RELATIONS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6536203">
            <a:off x="3228109" y="5809136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THANK YOU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rot="13630719">
            <a:off x="4143833" y="5829695"/>
            <a:ext cx="16900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ASANTE SANA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796</TotalTime>
  <Words>918</Words>
  <Application>Microsoft Office PowerPoint</Application>
  <PresentationFormat>On-screen Show (4:3)</PresentationFormat>
  <Paragraphs>97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Median</vt:lpstr>
      <vt:lpstr>REINVENTING NEW ERA ON THE RELATIONS BETWEEN IRAN (IRI) AND TANZANIA AS AN OPPORTUNITY:  A CASE OF BALOCHI COMMUNITY </vt:lpstr>
      <vt:lpstr>REALITY OF TZ IRAN RELATION</vt:lpstr>
      <vt:lpstr>Slide 3</vt:lpstr>
      <vt:lpstr>OUR RELATIONS STRATEGIC TOOLKIT  - PEOPLE CENTRIC </vt:lpstr>
      <vt:lpstr>IRI – TZ RELATIONS TOOLING KIT</vt:lpstr>
      <vt:lpstr>RETOOLING RELATIONS INTO FUTURISTIC STRATEGIC OPPORTUNITY</vt:lpstr>
      <vt:lpstr>CEREMMONIAL SYMBOLISM CENTRES UNIFYING IDEOLOGY</vt:lpstr>
      <vt:lpstr>AVOID DECEPTIONS SOFT POWER </vt:lpstr>
      <vt:lpstr>CASE OF THE BALOCHI AS AN OPPORTUNITY</vt:lpstr>
      <vt:lpstr>HISTORY NARRATIVE</vt:lpstr>
      <vt:lpstr>CONTD </vt:lpstr>
      <vt:lpstr>CONTD  </vt:lpstr>
      <vt:lpstr>CONTD </vt:lpstr>
      <vt:lpstr>BALOCHI LEGACIES AND OPPORTUNITY</vt:lpstr>
      <vt:lpstr>STRATEGIC OPPORTUNITY</vt:lpstr>
      <vt:lpstr>SUM UP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REINVENTING NEW ERA ON RELATIONS BETWEEN ISLAMIC REPUBLIC OF IRAN AND TANZANIA AS OPPORTUNITY:  A CASE OF BALOCHI COMMUNITY </dc:title>
  <dc:creator>dell</dc:creator>
  <cp:lastModifiedBy>dell</cp:lastModifiedBy>
  <cp:revision>2</cp:revision>
  <dcterms:created xsi:type="dcterms:W3CDTF">2019-02-06T20:25:54Z</dcterms:created>
  <dcterms:modified xsi:type="dcterms:W3CDTF">2019-02-07T09:42:21Z</dcterms:modified>
</cp:coreProperties>
</file>