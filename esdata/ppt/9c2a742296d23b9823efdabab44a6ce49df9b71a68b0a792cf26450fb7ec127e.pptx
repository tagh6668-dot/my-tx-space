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44" r:id="rId1"/>
  </p:sldMasterIdLst>
  <p:notesMasterIdLst>
    <p:notesMasterId r:id="rId24"/>
  </p:notesMasterIdLst>
  <p:sldIdLst>
    <p:sldId id="256" r:id="rId2"/>
    <p:sldId id="257" r:id="rId3"/>
    <p:sldId id="278" r:id="rId4"/>
    <p:sldId id="258" r:id="rId5"/>
    <p:sldId id="259" r:id="rId6"/>
    <p:sldId id="276" r:id="rId7"/>
    <p:sldId id="260" r:id="rId8"/>
    <p:sldId id="277" r:id="rId9"/>
    <p:sldId id="261" r:id="rId10"/>
    <p:sldId id="262" r:id="rId11"/>
    <p:sldId id="263" r:id="rId12"/>
    <p:sldId id="264" r:id="rId13"/>
    <p:sldId id="265" r:id="rId14"/>
    <p:sldId id="280" r:id="rId15"/>
    <p:sldId id="266" r:id="rId16"/>
    <p:sldId id="269" r:id="rId17"/>
    <p:sldId id="271" r:id="rId18"/>
    <p:sldId id="272" r:id="rId19"/>
    <p:sldId id="279" r:id="rId20"/>
    <p:sldId id="273" r:id="rId21"/>
    <p:sldId id="274" r:id="rId22"/>
    <p:sldId id="270" r:id="rId23"/>
  </p:sldIdLst>
  <p:sldSz cx="9144000" cy="6858000" type="screen4x3"/>
  <p:notesSz cx="6858000" cy="9144000"/>
  <p:defaultText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3878" autoAdjust="0"/>
    <p:restoredTop sz="94654" autoAdjust="0"/>
  </p:normalViewPr>
  <p:slideViewPr>
    <p:cSldViewPr>
      <p:cViewPr varScale="1">
        <p:scale>
          <a:sx n="104" d="100"/>
          <a:sy n="104" d="100"/>
        </p:scale>
        <p:origin x="-54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fa-IR"/>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65EE32D0-579F-45DD-A5BE-29B2051B5DFE}" type="datetimeFigureOut">
              <a:rPr lang="fa-IR" smtClean="0"/>
              <a:t>1434/07/12</a:t>
            </a:fld>
            <a:endParaRPr lang="fa-I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fa-I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fa-IR"/>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EA3217A0-A2F9-4F7F-9EA7-75481C162261}" type="slidenum">
              <a:rPr lang="fa-IR" smtClean="0"/>
              <a:t>‹#›</a:t>
            </a:fld>
            <a:endParaRPr lang="fa-IR"/>
          </a:p>
        </p:txBody>
      </p:sp>
    </p:spTree>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E5B76C3C-3A3C-4B05-B856-D49899392431}" type="datetime8">
              <a:rPr lang="fa-IR" smtClean="0"/>
              <a:t>13/مه/21</a:t>
            </a:fld>
            <a:endParaRPr lang="fa-IR"/>
          </a:p>
        </p:txBody>
      </p:sp>
      <p:sp>
        <p:nvSpPr>
          <p:cNvPr id="16" name="Slide Number Placeholder 15"/>
          <p:cNvSpPr>
            <a:spLocks noGrp="1"/>
          </p:cNvSpPr>
          <p:nvPr>
            <p:ph type="sldNum" sz="quarter" idx="11"/>
          </p:nvPr>
        </p:nvSpPr>
        <p:spPr/>
        <p:txBody>
          <a:bodyPr/>
          <a:lstStyle/>
          <a:p>
            <a:fld id="{A1AEE56C-FEF8-4B65-B8D5-07A89C01F1CF}" type="slidenum">
              <a:rPr lang="fa-IR" smtClean="0"/>
              <a:pPr/>
              <a:t>‹#›</a:t>
            </a:fld>
            <a:endParaRPr lang="fa-IR"/>
          </a:p>
        </p:txBody>
      </p:sp>
      <p:sp>
        <p:nvSpPr>
          <p:cNvPr id="17" name="Footer Placeholder 16"/>
          <p:cNvSpPr>
            <a:spLocks noGrp="1"/>
          </p:cNvSpPr>
          <p:nvPr>
            <p:ph type="ftr" sz="quarter" idx="12"/>
          </p:nvPr>
        </p:nvSpPr>
        <p:spPr/>
        <p:txBody>
          <a:bodyPr/>
          <a:lstStyle/>
          <a:p>
            <a:endParaRPr lang="fa-I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510838FB-4900-4125-A734-376B4F7631C6}" type="datetime8">
              <a:rPr lang="fa-IR" smtClean="0"/>
              <a:t>13/مه/21</a:t>
            </a:fld>
            <a:endParaRPr lang="fa-IR"/>
          </a:p>
        </p:txBody>
      </p:sp>
      <p:sp>
        <p:nvSpPr>
          <p:cNvPr id="15" name="Slide Number Placeholder 14"/>
          <p:cNvSpPr>
            <a:spLocks noGrp="1"/>
          </p:cNvSpPr>
          <p:nvPr>
            <p:ph type="sldNum" sz="quarter" idx="15"/>
          </p:nvPr>
        </p:nvSpPr>
        <p:spPr/>
        <p:txBody>
          <a:bodyPr/>
          <a:lstStyle>
            <a:lvl1pPr algn="ctr">
              <a:defRPr/>
            </a:lvl1pPr>
          </a:lstStyle>
          <a:p>
            <a:fld id="{A1AEE56C-FEF8-4B65-B8D5-07A89C01F1CF}" type="slidenum">
              <a:rPr lang="fa-IR" smtClean="0"/>
              <a:pPr/>
              <a:t>‹#›</a:t>
            </a:fld>
            <a:endParaRPr lang="fa-IR"/>
          </a:p>
        </p:txBody>
      </p:sp>
      <p:sp>
        <p:nvSpPr>
          <p:cNvPr id="16" name="Footer Placeholder 15"/>
          <p:cNvSpPr>
            <a:spLocks noGrp="1"/>
          </p:cNvSpPr>
          <p:nvPr>
            <p:ph type="ftr" sz="quarter" idx="16"/>
          </p:nvPr>
        </p:nvSpPr>
        <p:spPr/>
        <p:txBody>
          <a:bodyPr/>
          <a:lstStyle/>
          <a:p>
            <a:endParaRPr lang="fa-IR"/>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7385887-6B07-4F07-AFCC-DA3239E59565}" type="datetime8">
              <a:rPr lang="fa-IR" smtClean="0"/>
              <a:t>13/مه/21</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1AEE56C-FEF8-4B65-B8D5-07A89C01F1CF}" type="slidenum">
              <a:rPr lang="fa-IR" smtClean="0"/>
              <a:pPr/>
              <a:t>‹#›</a:t>
            </a:fld>
            <a:endParaRPr lang="fa-IR"/>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6CDAD18-E428-406B-9441-E9B9735B444E}" type="datetime8">
              <a:rPr lang="fa-IR" smtClean="0"/>
              <a:t>13/مه/21</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A1AEE56C-FEF8-4B65-B8D5-07A89C01F1CF}" type="slidenum">
              <a:rPr lang="fa-IR" smtClean="0"/>
              <a:pPr/>
              <a:t>‹#›</a:t>
            </a:fld>
            <a:endParaRPr lang="fa-IR"/>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A1AEE56C-FEF8-4B65-B8D5-07A89C01F1CF}" type="slidenum">
              <a:rPr lang="fa-IR" smtClean="0"/>
              <a:pPr/>
              <a:t>‹#›</a:t>
            </a:fld>
            <a:endParaRPr lang="fa-IR"/>
          </a:p>
        </p:txBody>
      </p:sp>
      <p:sp>
        <p:nvSpPr>
          <p:cNvPr id="8" name="Footer Placeholder 7"/>
          <p:cNvSpPr>
            <a:spLocks noGrp="1"/>
          </p:cNvSpPr>
          <p:nvPr>
            <p:ph type="ftr" sz="quarter" idx="11"/>
          </p:nvPr>
        </p:nvSpPr>
        <p:spPr/>
        <p:txBody>
          <a:bodyPr/>
          <a:lstStyle/>
          <a:p>
            <a:endParaRPr lang="fa-IR"/>
          </a:p>
        </p:txBody>
      </p:sp>
      <p:sp>
        <p:nvSpPr>
          <p:cNvPr id="7" name="Date Placeholder 6"/>
          <p:cNvSpPr>
            <a:spLocks noGrp="1"/>
          </p:cNvSpPr>
          <p:nvPr>
            <p:ph type="dt" sz="half" idx="10"/>
          </p:nvPr>
        </p:nvSpPr>
        <p:spPr/>
        <p:txBody>
          <a:bodyPr/>
          <a:lstStyle/>
          <a:p>
            <a:fld id="{0EA32508-4304-4D20-9362-7DF4C243DA24}" type="datetime8">
              <a:rPr lang="fa-IR" smtClean="0"/>
              <a:t>13/مه/21</a:t>
            </a:fld>
            <a:endParaRPr lang="fa-IR"/>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0E7F658-D79A-43ED-BA65-354FBCAF4695}" type="datetime8">
              <a:rPr lang="fa-IR" smtClean="0"/>
              <a:t>13/مه/21</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A1AEE56C-FEF8-4B65-B8D5-07A89C01F1CF}" type="slidenum">
              <a:rPr lang="fa-IR" smtClean="0"/>
              <a:pPr/>
              <a:t>‹#›</a:t>
            </a:fld>
            <a:endParaRPr lang="fa-IR"/>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ACA5A9-ACB3-4FAA-AD83-E108ED28D213}" type="datetime8">
              <a:rPr lang="fa-IR" smtClean="0"/>
              <a:t>13/مه/21</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A1AEE56C-FEF8-4B65-B8D5-07A89C01F1CF}" type="slidenum">
              <a:rPr lang="fa-IR" smtClean="0"/>
              <a:pPr/>
              <a:t>‹#›</a:t>
            </a:fld>
            <a:endParaRPr lang="fa-I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75A19377-DC87-41FF-829A-1FB894DDAF42}" type="datetime8">
              <a:rPr lang="fa-IR" smtClean="0"/>
              <a:t>13/مه/21</a:t>
            </a:fld>
            <a:endParaRPr lang="fa-IR"/>
          </a:p>
        </p:txBody>
      </p:sp>
      <p:sp>
        <p:nvSpPr>
          <p:cNvPr id="9" name="Slide Number Placeholder 8"/>
          <p:cNvSpPr>
            <a:spLocks noGrp="1"/>
          </p:cNvSpPr>
          <p:nvPr>
            <p:ph type="sldNum" sz="quarter" idx="15"/>
          </p:nvPr>
        </p:nvSpPr>
        <p:spPr/>
        <p:txBody>
          <a:bodyPr/>
          <a:lstStyle/>
          <a:p>
            <a:fld id="{A1AEE56C-FEF8-4B65-B8D5-07A89C01F1CF}" type="slidenum">
              <a:rPr lang="fa-IR" smtClean="0"/>
              <a:pPr/>
              <a:t>‹#›</a:t>
            </a:fld>
            <a:endParaRPr lang="fa-IR"/>
          </a:p>
        </p:txBody>
      </p:sp>
      <p:sp>
        <p:nvSpPr>
          <p:cNvPr id="10" name="Footer Placeholder 9"/>
          <p:cNvSpPr>
            <a:spLocks noGrp="1"/>
          </p:cNvSpPr>
          <p:nvPr>
            <p:ph type="ftr" sz="quarter" idx="16"/>
          </p:nvPr>
        </p:nvSpPr>
        <p:spPr/>
        <p:txBody>
          <a:bodyPr/>
          <a:lstStyle/>
          <a:p>
            <a:endParaRPr lang="fa-I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294320ED-09B6-4A17-8654-451C9F1FF718}" type="datetime8">
              <a:rPr lang="fa-IR" smtClean="0"/>
              <a:t>13/مه/21</a:t>
            </a:fld>
            <a:endParaRPr lang="fa-IR"/>
          </a:p>
        </p:txBody>
      </p:sp>
      <p:sp>
        <p:nvSpPr>
          <p:cNvPr id="9" name="Slide Number Placeholder 8"/>
          <p:cNvSpPr>
            <a:spLocks noGrp="1"/>
          </p:cNvSpPr>
          <p:nvPr>
            <p:ph type="sldNum" sz="quarter" idx="11"/>
          </p:nvPr>
        </p:nvSpPr>
        <p:spPr/>
        <p:txBody>
          <a:bodyPr/>
          <a:lstStyle/>
          <a:p>
            <a:fld id="{A1AEE56C-FEF8-4B65-B8D5-07A89C01F1CF}" type="slidenum">
              <a:rPr lang="fa-IR" smtClean="0"/>
              <a:pPr/>
              <a:t>‹#›</a:t>
            </a:fld>
            <a:endParaRPr lang="fa-IR"/>
          </a:p>
        </p:txBody>
      </p:sp>
      <p:sp>
        <p:nvSpPr>
          <p:cNvPr id="10" name="Footer Placeholder 9"/>
          <p:cNvSpPr>
            <a:spLocks noGrp="1"/>
          </p:cNvSpPr>
          <p:nvPr>
            <p:ph type="ftr" sz="quarter" idx="12"/>
          </p:nvPr>
        </p:nvSpPr>
        <p:spPr/>
        <p:txBody>
          <a:bodyPr/>
          <a:lstStyle/>
          <a:p>
            <a:endParaRPr lang="fa-I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487061-C418-4A96-9732-36553418C92F}" type="datetime8">
              <a:rPr lang="fa-IR" smtClean="0"/>
              <a:t>13/مه/21</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1AEE56C-FEF8-4B65-B8D5-07A89C01F1CF}" type="slidenum">
              <a:rPr lang="fa-IR" smtClean="0"/>
              <a:pPr/>
              <a:t>‹#›</a:t>
            </a:fld>
            <a:endParaRPr lang="fa-I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05AE36E-B661-4987-953C-85E47F6BF808}" type="datetime8">
              <a:rPr lang="fa-IR" smtClean="0"/>
              <a:t>13/مه/21</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1AEE56C-FEF8-4B65-B8D5-07A89C01F1CF}" type="slidenum">
              <a:rPr lang="fa-IR" smtClean="0"/>
              <a:pPr/>
              <a:t>‹#›</a:t>
            </a:fld>
            <a:endParaRPr lang="fa-I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635B7AA6-EF79-4BF2-90FA-6C6356C7F09D}" type="datetime8">
              <a:rPr lang="fa-IR" smtClean="0"/>
              <a:t>13/مه/21</a:t>
            </a:fld>
            <a:endParaRPr lang="fa-IR"/>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fa-IR"/>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A1AEE56C-FEF8-4B65-B8D5-07A89C01F1CF}" type="slidenum">
              <a:rPr lang="fa-IR" smtClean="0"/>
              <a:pPr/>
              <a:t>‹#›</a:t>
            </a:fld>
            <a:endParaRPr lang="fa-IR"/>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ftr="0" dt="0"/>
  <p:txStyles>
    <p:titleStyle>
      <a:lvl1pPr algn="l" rtl="1"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r" rtl="1"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r" rtl="1"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r" rtl="1"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r" rtl="1"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r" rtl="1"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r" rtl="1"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r" rtl="1"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r" rtl="1"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r" rtl="1"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Autofit/>
          </a:bodyPr>
          <a:lstStyle/>
          <a:p>
            <a:pPr algn="ctr"/>
            <a:r>
              <a:rPr lang="fa-IR" sz="2400" b="1" dirty="0" smtClean="0">
                <a:solidFill>
                  <a:schemeClr val="tx1"/>
                </a:solidFill>
                <a:latin typeface="B Nazanin"/>
              </a:rPr>
              <a:t>گذری بر </a:t>
            </a:r>
            <a:r>
              <a:rPr lang="fa-IR" sz="2400" b="1" dirty="0" smtClean="0"/>
              <a:t>سقف شیشه ای </a:t>
            </a:r>
            <a:r>
              <a:rPr lang="fa-IR" sz="2400" b="1" dirty="0" smtClean="0">
                <a:solidFill>
                  <a:schemeClr val="tx1"/>
                </a:solidFill>
              </a:rPr>
              <a:t>در سازمان ها</a:t>
            </a:r>
            <a:r>
              <a:rPr lang="fa-IR" sz="2400" b="1" dirty="0" smtClean="0">
                <a:solidFill>
                  <a:schemeClr val="tx1"/>
                </a:solidFill>
                <a:latin typeface="B Nazanin"/>
              </a:rPr>
              <a:t> </a:t>
            </a:r>
          </a:p>
          <a:p>
            <a:r>
              <a:rPr lang="fa-IR" sz="2400" b="1" dirty="0" smtClean="0">
                <a:solidFill>
                  <a:schemeClr val="tx1"/>
                </a:solidFill>
                <a:latin typeface="B Nazanin"/>
              </a:rPr>
              <a:t>     تقدیمی </a:t>
            </a:r>
            <a:r>
              <a:rPr lang="fa-IR" sz="2400" b="1" dirty="0" smtClean="0">
                <a:solidFill>
                  <a:schemeClr val="tx1"/>
                </a:solidFill>
                <a:latin typeface="B Nazanin"/>
              </a:rPr>
              <a:t>از: امیر رحیمی دانشجوی کارشناسی ارشد </a:t>
            </a:r>
            <a:r>
              <a:rPr lang="fa-IR" sz="2400" b="1" dirty="0" smtClean="0">
                <a:solidFill>
                  <a:schemeClr val="tx1"/>
                </a:solidFill>
                <a:latin typeface="B Nazanin"/>
              </a:rPr>
              <a:t>مدیریت دولتی</a:t>
            </a:r>
            <a:endParaRPr lang="fa-IR" sz="2400" b="1" dirty="0" smtClean="0">
              <a:solidFill>
                <a:schemeClr val="tx1"/>
              </a:solidFill>
              <a:latin typeface="B Nazanin"/>
            </a:endParaRPr>
          </a:p>
          <a:p>
            <a:r>
              <a:rPr lang="fa-IR" sz="2400" b="1" dirty="0" smtClean="0">
                <a:solidFill>
                  <a:schemeClr val="tx1"/>
                </a:solidFill>
                <a:latin typeface="B Nazanin"/>
              </a:rPr>
              <a:t>     به </a:t>
            </a:r>
            <a:r>
              <a:rPr lang="fa-IR" sz="2400" b="1" dirty="0" smtClean="0">
                <a:solidFill>
                  <a:schemeClr val="tx1"/>
                </a:solidFill>
                <a:latin typeface="B Nazanin"/>
              </a:rPr>
              <a:t>استاد ارجمند: جناب آقای دکتر الوداری</a:t>
            </a:r>
            <a:endParaRPr lang="en-US" sz="2400" b="1" dirty="0">
              <a:latin typeface=" b nazanin"/>
            </a:endParaRPr>
          </a:p>
        </p:txBody>
      </p:sp>
      <p:sp>
        <p:nvSpPr>
          <p:cNvPr id="2" name="Title 1"/>
          <p:cNvSpPr>
            <a:spLocks noGrp="1"/>
          </p:cNvSpPr>
          <p:nvPr>
            <p:ph type="ctrTitle"/>
          </p:nvPr>
        </p:nvSpPr>
        <p:spPr/>
        <p:txBody>
          <a:bodyPr/>
          <a:lstStyle/>
          <a:p>
            <a:pPr algn="ctr"/>
            <a:r>
              <a:rPr lang="fa-IR" dirty="0" smtClean="0"/>
              <a:t>بسم الله الرحمن الرحیم</a:t>
            </a:r>
            <a:endParaRPr lang="fa-IR" dirty="0"/>
          </a:p>
        </p:txBody>
      </p:sp>
      <p:sp>
        <p:nvSpPr>
          <p:cNvPr id="4" name="Slide Number Placeholder 3"/>
          <p:cNvSpPr>
            <a:spLocks noGrp="1"/>
          </p:cNvSpPr>
          <p:nvPr>
            <p:ph type="sldNum" sz="quarter" idx="11"/>
          </p:nvPr>
        </p:nvSpPr>
        <p:spPr/>
        <p:txBody>
          <a:bodyPr/>
          <a:lstStyle/>
          <a:p>
            <a:fld id="{A1AEE56C-FEF8-4B65-B8D5-07A89C01F1CF}" type="slidenum">
              <a:rPr lang="fa-IR" smtClean="0"/>
              <a:pPr/>
              <a:t>1</a:t>
            </a:fld>
            <a:endParaRPr lang="fa-IR"/>
          </a:p>
        </p:txBody>
      </p:sp>
    </p:spTree>
  </p:cSld>
  <p:clrMapOvr>
    <a:masterClrMapping/>
  </p:clrMapOvr>
  <p:transition spd="slow">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 </a:t>
            </a:r>
            <a:r>
              <a:rPr lang="fa-IR" sz="2800" dirty="0" smtClean="0"/>
              <a:t>شاید یکی از مهمترین معیارها برای درجه توسعه یافتگی یک کشور، میزان اهمیت و اعتباری است که زنان در آن کشور دارا هستند. هر چه حضور فعال زنان در اداره امور اجتماع بیشتر باشد، کشور توسعه یافته تر است. بدیهی است منظور از حضور، حضور واقعی و مؤثر است و نه حضور صوری و سمبولیک. متأسفانه در کشور ما فرصت های سیاسی و اجتماعی سمبولیک در اختیار زنان گذاشته می شود که از استحکام لازم برخوردار نیستند. تا زمانی که زنان توانایی پیشرفت، از طریق ارتقای توانمندی های خود را به دست نیاورد، حقوق آنها در معرض تعرض بوده و همواره موقعیت اجتماعی آنان در خطر خواهد بود. با این وجود هدف از این مقاله تعریف سقف شیشه ای و تشریح عوامل ایجاد کننده سقف شیشه ای در سازمان ها ودر نهایت ارائه راهکارهایی جهت از بین بردن سقف شیشه ای می باشد.</a:t>
            </a:r>
            <a:endParaRPr lang="en-US" sz="2800" dirty="0" smtClean="0"/>
          </a:p>
          <a:p>
            <a:r>
              <a:rPr lang="fa-IR" sz="2200" dirty="0" smtClean="0"/>
              <a:t>واژگان کلیدی: سقف شیشه ای، موانع نامرئی، دیوار شیشه ای، زنان</a:t>
            </a:r>
            <a:endParaRPr lang="fa-IR" sz="2200" dirty="0"/>
          </a:p>
        </p:txBody>
      </p:sp>
      <p:sp>
        <p:nvSpPr>
          <p:cNvPr id="6" name="Slide Number Placeholder 5"/>
          <p:cNvSpPr>
            <a:spLocks noGrp="1"/>
          </p:cNvSpPr>
          <p:nvPr>
            <p:ph type="sldNum" sz="quarter" idx="15"/>
          </p:nvPr>
        </p:nvSpPr>
        <p:spPr/>
        <p:txBody>
          <a:bodyPr/>
          <a:lstStyle/>
          <a:p>
            <a:fld id="{A1AEE56C-FEF8-4B65-B8D5-07A89C01F1CF}" type="slidenum">
              <a:rPr lang="fa-IR" smtClean="0"/>
              <a:pPr/>
              <a:t>2</a:t>
            </a:fld>
            <a:endParaRPr lang="fa-IR" dirty="0"/>
          </a:p>
        </p:txBody>
      </p:sp>
      <p:sp>
        <p:nvSpPr>
          <p:cNvPr id="2" name="Title 1"/>
          <p:cNvSpPr>
            <a:spLocks noGrp="1"/>
          </p:cNvSpPr>
          <p:nvPr>
            <p:ph type="title"/>
          </p:nvPr>
        </p:nvSpPr>
        <p:spPr/>
        <p:txBody>
          <a:bodyPr/>
          <a:lstStyle/>
          <a:p>
            <a:pPr algn="ctr"/>
            <a:r>
              <a:rPr lang="fa-IR" b="1" dirty="0" smtClean="0"/>
              <a:t>چکیده</a:t>
            </a:r>
            <a:r>
              <a:rPr lang="en-US" b="1" dirty="0" smtClean="0"/>
              <a:t> </a:t>
            </a:r>
            <a:endParaRPr lang="fa-IR" dirty="0"/>
          </a:p>
        </p:txBody>
      </p:sp>
    </p:spTree>
  </p:cSld>
  <p:clrMapOvr>
    <a:masterClrMapping/>
  </p:clrMapOvr>
  <p:transition spd="slow">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fa-IR" dirty="0" smtClean="0"/>
              <a:t/>
            </a:r>
            <a:br>
              <a:rPr lang="fa-IR" dirty="0" smtClean="0"/>
            </a:br>
            <a:r>
              <a:rPr lang="fa-IR" dirty="0" smtClean="0"/>
              <a:t>امروزه واقعیت ها نشان میدهند که همواره نقش زنان در توسعه ی جوامع نادیده گرفته شده و جامعه ی انسانی به این علت لطماتی جبران ناپذیر را متحمل شده است. وضعیت موجود ناشی از نابرابری های جنسیتی باعث شده است بسیاری از کشورها در تلاش برای رفع این نابرابریها اقداماتی گوناگون انجام دهند. برخی از این جوامع به موفقیت هایی چشمگیر دست یافته اند، چنانکه بیش از 40 درصد مناسب تصمیم گیری در کشورهای شمال اروپا همچون نروژ، دانمارک و فنلاند در اختیار زنان قرار گرفته و درکشور آمریکا نسبت زنان در مشاغل 1970 حدود 250 درصد رشد داشته است. با این حال اکثر کشورهای در حال توسعه  از جمله کشور ایران طی سال های 1990 در این مهم موفق نبوده اند.</a:t>
            </a:r>
            <a:br>
              <a:rPr lang="fa-IR" dirty="0" smtClean="0"/>
            </a:br>
            <a:endParaRPr lang="fa-IR" dirty="0" smtClean="0"/>
          </a:p>
          <a:p>
            <a:r>
              <a:rPr lang="fa-IR" dirty="0" smtClean="0"/>
              <a:t>متأسفانه آخرین آمارهای اعلام شده از سوی مرکز آمار ایران نشان میدهد که تفاوتی فاحش بین نرخ مشارکت اقتصادی مردان و زنان در ایران وجود دارد چنان که این نرخ برای مردان 9/72 درصد و برای زنان 5/18 درصد است. در عرصه های مدیریتی و تصمیم گیری نیز وضعیتی نامناسب تر را شاهد هستیم به طوری که تنها حدود 2/5 درصد از مدیران کشور زن هستند و هرچه به سوی سطوح بالای مدیریتی می رویم این میزان کاهش می یابد و به 4/1 درصد در سطوح مدیرکل و معاون دستگاه می رسد.بسیاری معتقدند که جو حاکم بر سازمان ها و اعتقاد نداشتن مدیران و کارکنان مرد و حتی زنان شاغل به توانایی های مدیریتی زنان باعث ایجاد شرایط موجود شده است. این باورهای عمومی در حالی در سطح جامعه وجود دارد که شاهد افزایش نسبی زنان تحصیل کرده ی دانشگاهی در کشور هستیم (مرکزآمار ایران،1385).</a:t>
            </a: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3</a:t>
            </a:fld>
            <a:endParaRPr lang="fa-IR"/>
          </a:p>
        </p:txBody>
      </p:sp>
      <p:sp>
        <p:nvSpPr>
          <p:cNvPr id="2" name="Title 1"/>
          <p:cNvSpPr>
            <a:spLocks noGrp="1"/>
          </p:cNvSpPr>
          <p:nvPr>
            <p:ph type="title"/>
          </p:nvPr>
        </p:nvSpPr>
        <p:spPr/>
        <p:txBody>
          <a:bodyPr/>
          <a:lstStyle/>
          <a:p>
            <a:pPr algn="ctr"/>
            <a:r>
              <a:rPr lang="fa-IR" dirty="0" smtClean="0"/>
              <a:t>مقدمه</a:t>
            </a:r>
            <a:endParaRPr lang="fa-IR" dirty="0"/>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endParaRPr lang="fa-IR" dirty="0" smtClean="0"/>
          </a:p>
          <a:p>
            <a:pPr algn="just"/>
            <a:r>
              <a:rPr lang="fa-IR" dirty="0" smtClean="0"/>
              <a:t>وضعیت عمومی سازمان‌ها هنوز از باقی ماندن زنان در رده‌های پایین مدیریتی و اثر سقف شیشه</a:t>
            </a:r>
            <a:r>
              <a:rPr lang="en-US" dirty="0" smtClean="0"/>
              <a:t>‌ </a:t>
            </a:r>
            <a:r>
              <a:rPr lang="fa-IR" dirty="0" smtClean="0"/>
              <a:t>ای حکایت دارد.منابع در مطالعات متفاوت درکشورهای گوناگون نشان می‌دهد که افزایش زنان‌ در پست‌های مدیریتی هنوز غیر متعادل است؛ به ویژه هنگامی که نسبت مدیران زن در مقایسه با نسبت جمعیت زنان و مردان در سازمان بررسی می‌شود. در این تحقیق سعی بر آن است‌ عوامل مؤثر بر کاهش توانمندی زنان، به ویژه عوامل جامعه‌پذیری ناتوانی و خودناتوان انگاری زنان‌ بررسی شود. اما نتایج تحقیق حاکی از آن است که میان جامعه‌پذیری ناتوانی و خودناتوان انگاری زنان با کاهش‌ توانمندی آنان، رابطه‌ای مستقیم وجود دارد و سقف شیشه</a:t>
            </a:r>
            <a:r>
              <a:rPr lang="en-US" dirty="0" smtClean="0"/>
              <a:t>‌</a:t>
            </a:r>
            <a:r>
              <a:rPr lang="fa-IR" dirty="0" smtClean="0"/>
              <a:t>ای نیز به‌ طور غیرمستقیم و از طریق دو عامل یاد شده بر کاهش توانمندی بانوان اثر می‌گذارد.</a:t>
            </a:r>
            <a:endParaRPr lang="fa-IR" dirty="0"/>
          </a:p>
        </p:txBody>
      </p:sp>
      <p:sp>
        <p:nvSpPr>
          <p:cNvPr id="5" name="Slide Number Placeholder 4"/>
          <p:cNvSpPr>
            <a:spLocks noGrp="1"/>
          </p:cNvSpPr>
          <p:nvPr>
            <p:ph type="sldNum" sz="quarter" idx="15"/>
          </p:nvPr>
        </p:nvSpPr>
        <p:spPr>
          <a:xfrm>
            <a:off x="8778240" y="6492875"/>
            <a:ext cx="365760" cy="365125"/>
          </a:xfrm>
        </p:spPr>
        <p:txBody>
          <a:bodyPr/>
          <a:lstStyle/>
          <a:p>
            <a:fld id="{A1AEE56C-FEF8-4B65-B8D5-07A89C01F1CF}" type="slidenum">
              <a:rPr lang="fa-IR" smtClean="0"/>
              <a:pPr/>
              <a:t>4</a:t>
            </a:fld>
            <a:endParaRPr lang="fa-IR"/>
          </a:p>
        </p:txBody>
      </p:sp>
      <p:sp>
        <p:nvSpPr>
          <p:cNvPr id="2" name="Title 1"/>
          <p:cNvSpPr>
            <a:spLocks noGrp="1"/>
          </p:cNvSpPr>
          <p:nvPr>
            <p:ph type="title"/>
          </p:nvPr>
        </p:nvSpPr>
        <p:spPr>
          <a:xfrm>
            <a:off x="357158" y="285728"/>
            <a:ext cx="8229600" cy="1143000"/>
          </a:xfrm>
        </p:spPr>
        <p:txBody>
          <a:bodyPr>
            <a:normAutofit/>
          </a:bodyPr>
          <a:lstStyle/>
          <a:p>
            <a:pPr algn="ctr"/>
            <a:r>
              <a:rPr lang="fa-IR" dirty="0" smtClean="0"/>
              <a:t>وضعیت عمومی سازمان‌ها</a:t>
            </a:r>
            <a:endParaRPr lang="fa-IR" dirty="0"/>
          </a:p>
        </p:txBody>
      </p:sp>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fa-IR" sz="2000" dirty="0" smtClean="0"/>
              <a:t>   پدیده ”عدم توفیق زنان در دستیابی به سطوح عالی مدیریت ” را در اصطلاح ”</a:t>
            </a:r>
            <a:r>
              <a:rPr lang="fa-IR" sz="2000" b="1" dirty="0" smtClean="0"/>
              <a:t>سقف شیشه ای</a:t>
            </a:r>
            <a:r>
              <a:rPr lang="fa-IR" sz="2000" dirty="0" smtClean="0"/>
              <a:t>" می گویند. این اصطلاح اولین بار در سال 1986، به وسیله مجله وال استریت جورنال به کار رفت. همچنین موریسون و همکارانش از اولین کسانی هستند که در سال 1987 از این اصطلاح استفاده کردند. این اصطلاح در سال 1990برای اشاره به تعداد اندک زنان و اقلیت ها در اداره سازمانهای بخش دولتی و خصوصی به کار رفت. گاهی نیز برای اشاره به شکاف عمیق دستمزد در سطوح بالای توزیع درآمدها به کار رفته است. به این معنا که کارکنان زن در گروه های بالای درامدی، در مقایسه با هم ردیفان مرد خود دریافتی کمتری دارند .سقف شیشه ای بیان می کند که زنان و اقلیت ها در دستیابی به سطوح بالای سلسله مراتب، شکست می خورند. آنها به پست های عالی در سازمان نزدیک می شوند، اما بندرت آن را به چنگ می آورند. این سرخوردگی باعث می شود که تصور کنند یک سقف شیشه ای وجود دارد  ، یعنی موانعی تبعیض آمیز، در راه تلاش خود برای دستیابی به سطوح عالی مدیریتی در سازمان ها، مشاهده می کنند</a:t>
            </a:r>
            <a:r>
              <a:rPr lang="fa-IR" sz="1400" dirty="0" smtClean="0"/>
              <a:t>(میرغفوری،1385).</a:t>
            </a:r>
            <a:r>
              <a:rPr lang="fa-IR" sz="2000" dirty="0" smtClean="0"/>
              <a:t> </a:t>
            </a:r>
            <a:endParaRPr lang="fa-IR" sz="1400"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5</a:t>
            </a:fld>
            <a:endParaRPr lang="fa-IR"/>
          </a:p>
        </p:txBody>
      </p:sp>
      <p:sp>
        <p:nvSpPr>
          <p:cNvPr id="2" name="Title 1"/>
          <p:cNvSpPr>
            <a:spLocks noGrp="1"/>
          </p:cNvSpPr>
          <p:nvPr>
            <p:ph type="title"/>
          </p:nvPr>
        </p:nvSpPr>
        <p:spPr/>
        <p:txBody>
          <a:bodyPr/>
          <a:lstStyle/>
          <a:p>
            <a:pPr algn="ctr"/>
            <a:r>
              <a:rPr lang="fa-IR" b="1" dirty="0" smtClean="0"/>
              <a:t>تعریف سقف شیشه ای</a:t>
            </a:r>
            <a:endParaRPr lang="fa-IR" dirty="0"/>
          </a:p>
        </p:txBody>
      </p:sp>
    </p:spTree>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fa-IR" dirty="0" smtClean="0"/>
              <a:t>برای توصیف این وضعیت، در ادبیات مدیریت از استعاره حصارهای شیشه ای (</a:t>
            </a:r>
            <a:r>
              <a:rPr lang="en-US" dirty="0" smtClean="0"/>
              <a:t>glass walls</a:t>
            </a:r>
            <a:r>
              <a:rPr lang="fa-IR" dirty="0" smtClean="0"/>
              <a:t>) استفاده می شود که منظور ازآن ،موانع نامرئی عمودی و بر اساس تفکیک جنسی مشاغل شکل می گیرند.از سوی دیگر مانع غیر قابل نفوذی در سازمان ها وجود دارد که از ارتقای زنان، فراتر از حدی که تعیین شده است، جلوگیری به عمل می آورد که این وضعیت را اصطلاحا سقف شیشه ای(</a:t>
            </a:r>
            <a:r>
              <a:rPr lang="en-US" dirty="0" smtClean="0"/>
              <a:t>glass ceiling</a:t>
            </a:r>
            <a:r>
              <a:rPr lang="fa-IR" dirty="0" smtClean="0"/>
              <a:t>) می نامند. دراثروجود این مانع،زنان به طور وسیعی از صعود به سطوح بالای مدیریت منع می شوند.حصارهای شیشه ای مانع تحرک شغلی و سقف شیشه ای مانع ارتقای شغلی زنان در سازمان ها می شوند. سقف شیشه ای ممکن است در هر سطحی از هرم سازمانی عمل کند و مانع حضور زنان در رده های مدیریت عملیاتی، میانی ویا عالی شود.هرچه سطح مدیریت بالاتربرود، اهمیت آن در سیاست گذاری و تعیین خط مشی های راهبردی، بیشتر می شود وبه تبع آن، سقف شیشه ای قطورتر و غیر قابل نفوذتر می گردد. وجود حصارها و سقف شیشه ای باعث شده است که مشارکت زنان در سطوح مدیریتی در کشور ما  حالت غیرعادی و بیمارگونه ای پیداکند. این امر باعث شده است که از توانمندی های فکری و تخصصی و قابلیت های مدیریتی زنان استفاده مناسبی به عمل نیامده و به این ترتیب جامعه در حال توسعه ما دچار خسارت ها و زیان هایی شود.</a:t>
            </a:r>
            <a:r>
              <a:rPr lang="fa-IR" sz="2000" dirty="0" smtClean="0"/>
              <a:t>(زاهدی،1386)</a:t>
            </a:r>
            <a:endParaRPr lang="fa-IR" sz="2000"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6</a:t>
            </a:fld>
            <a:endParaRPr lang="fa-IR"/>
          </a:p>
        </p:txBody>
      </p:sp>
      <p:sp>
        <p:nvSpPr>
          <p:cNvPr id="2" name="Title 1"/>
          <p:cNvSpPr>
            <a:spLocks noGrp="1"/>
          </p:cNvSpPr>
          <p:nvPr>
            <p:ph type="title"/>
          </p:nvPr>
        </p:nvSpPr>
        <p:spPr/>
        <p:txBody>
          <a:bodyPr/>
          <a:lstStyle/>
          <a:p>
            <a:pPr algn="ctr"/>
            <a:r>
              <a:rPr lang="fa-IR" b="1" dirty="0" smtClean="0"/>
              <a:t>توصیف سقف شیشه ای</a:t>
            </a:r>
            <a:endParaRPr lang="fa-IR" dirty="0"/>
          </a:p>
        </p:txBody>
      </p:sp>
    </p:spTree>
  </p:cSld>
  <p:clrMapOvr>
    <a:masterClrMapping/>
  </p:clrMapOvr>
  <p:transition spd="slow">
    <p:pull dir="l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lvl="0" algn="just">
              <a:buNone/>
            </a:pPr>
            <a:r>
              <a:rPr lang="en-US" sz="4500" dirty="0">
                <a:latin typeface="B Nazanin"/>
              </a:rPr>
              <a:t/>
            </a:r>
            <a:br>
              <a:rPr lang="en-US" sz="4500" dirty="0">
                <a:latin typeface="B Nazanin"/>
              </a:rPr>
            </a:br>
            <a:r>
              <a:rPr lang="fa-IR" sz="3600" dirty="0" smtClean="0"/>
              <a:t> در واقع برپایه پژوهش ها، زنان پس از ورود به سازمان ها همگام با مردان شروع به رشد و بالندگی می کنند و سطوح گوناگون سازمان را پشت سر می گذارند اما هرچه زنان به سطوح بالاتر سازمانی می رسند، سرعت رشد و ارتقای آن ها کاهش می یابد تا جایی که عامل های نادیدنی را سقف شیشه ای می نامند. این اصطلاح، به روشنی، جایی را درسازمان نشان می دهد که هیچ دلیل روشنی نیست که زنان نتوانند به آن جا دست یابند ولی در واقعیت دست یابی زنان به آن جا ممکن نیست. زنان شایسته و توانمند با نگاه کردن به سطوح بالای سازمان از میان این سقف شیشه ای جایگاه هایی را می بینند که شایستگی رسیدن به آن ها را دارند ولی به خاطر سدهای نادیدنی، توانایی شکستن این سقف شیشه ای را ندارند. </a:t>
            </a:r>
            <a:r>
              <a:rPr lang="fa-IR" sz="2000" dirty="0" smtClean="0"/>
              <a:t>(میرغفوری،1385)</a:t>
            </a:r>
            <a:r>
              <a:rPr lang="fa-IR" sz="3600" dirty="0" smtClean="0"/>
              <a:t>.</a:t>
            </a: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7</a:t>
            </a:fld>
            <a:endParaRPr lang="fa-IR"/>
          </a:p>
        </p:txBody>
      </p:sp>
      <p:sp>
        <p:nvSpPr>
          <p:cNvPr id="2" name="Title 1"/>
          <p:cNvSpPr>
            <a:spLocks noGrp="1"/>
          </p:cNvSpPr>
          <p:nvPr>
            <p:ph type="title"/>
          </p:nvPr>
        </p:nvSpPr>
        <p:spPr/>
        <p:txBody>
          <a:bodyPr/>
          <a:lstStyle/>
          <a:p>
            <a:pPr algn="ctr"/>
            <a:r>
              <a:rPr lang="fa-IR" dirty="0" smtClean="0"/>
              <a:t>در تبیین سقف شیشه ای</a:t>
            </a:r>
            <a:endParaRPr lang="fa-IR" dirty="0"/>
          </a:p>
        </p:txBody>
      </p:sp>
    </p:spTree>
  </p:cSld>
  <p:clrMapOvr>
    <a:masterClrMapping/>
  </p:clrMapOvr>
  <p:transition spd="slow">
    <p:split dir="in"/>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fa-IR" dirty="0" smtClean="0"/>
              <a:t>یکی از مهمترین دلایلی که بسیاری از پژوهشگران برای مشارکت پائین تر زنان در امور اجتماعی از جمله در فرایند توسعه پایدار ذکر می کنند، این است که در اصل دختر بچه ها از همان کودکی در خانواده ها ونیز در مدارس به گونه ای پرورش می یابند که خود را دور از نقش های اجتماعی و سیاسی متصور می کنند. </a:t>
            </a:r>
          </a:p>
          <a:p>
            <a:r>
              <a:rPr lang="fa-IR" dirty="0" smtClean="0"/>
              <a:t>به سخن دیگر، از کودکی به پسران آموخته می شود که آنان باید نقش های فعال اجتماعی و نیز سیاسی داشته باشند و این نقش ها برای آنان حالت ممنوع ندارد. در حالی که به دختران آموزش داده می شود که در نهایت فقط باید به امر خانه داری و پرورش کودکان بپردازند و امور مهمی همچون فعالیت های سیاسی و اجتماعی را به مردان واگذار کنند. وجود این گونه کلیشه ها که در کتاب های درسی مدارس کشورهای در حال توسعه به فراوانی یافت می شود، موجب شده که این دختران در بزرگسالی نیز بر اساس همان ذهنیت های ایجادشده، تلاش چندانی برای ورود به عرصه های کلان سیاسی و اجتماعی از خود نشان ندهند. دگرگون کردن محتوای کتاب های درسی و سازگارساختن آنها با برداشت های مبتنی بر برابری جنسیتی می تواند در دراز مدت مشکلات ناشی از جامعه پذیری نادرست را تاحد زیادی برطرف کند و تاثیرات ماندگاری در افزایش مشارکت زنان داشته باشد.</a:t>
            </a:r>
            <a:r>
              <a:rPr lang="fa-IR" sz="2000" dirty="0" smtClean="0"/>
              <a:t>(کولایی وحافظیان،1385)</a:t>
            </a:r>
            <a:endParaRPr lang="fa-IR" sz="2000"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8</a:t>
            </a:fld>
            <a:endParaRPr lang="fa-IR"/>
          </a:p>
        </p:txBody>
      </p:sp>
      <p:sp>
        <p:nvSpPr>
          <p:cNvPr id="2" name="Title 1"/>
          <p:cNvSpPr>
            <a:spLocks noGrp="1"/>
          </p:cNvSpPr>
          <p:nvPr>
            <p:ph type="title"/>
          </p:nvPr>
        </p:nvSpPr>
        <p:spPr/>
        <p:txBody>
          <a:bodyPr>
            <a:normAutofit/>
          </a:bodyPr>
          <a:lstStyle/>
          <a:p>
            <a:r>
              <a:rPr lang="fa-IR" dirty="0" smtClean="0"/>
              <a:t>مشارکت پائین تر زنان در امور اجتماعی؟</a:t>
            </a:r>
            <a:endParaRPr lang="fa-IR" dirty="0"/>
          </a:p>
        </p:txBody>
      </p:sp>
    </p:spTree>
  </p:cSld>
  <p:clrMapOvr>
    <a:masterClrMapping/>
  </p:clrMapOvr>
  <p:transition spd="slow">
    <p:cover dir="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lvl="0"/>
            <a:r>
              <a:rPr lang="fa-IR" dirty="0" smtClean="0"/>
              <a:t>1</a:t>
            </a:r>
            <a:r>
              <a:rPr lang="fa-IR" b="1" dirty="0" smtClean="0"/>
              <a:t>. کلیشه ها</a:t>
            </a:r>
            <a:r>
              <a:rPr lang="fa-IR" dirty="0" smtClean="0"/>
              <a:t/>
            </a:r>
            <a:br>
              <a:rPr lang="fa-IR" dirty="0" smtClean="0"/>
            </a:br>
            <a:r>
              <a:rPr lang="fa-IR" dirty="0" smtClean="0"/>
              <a:t>یکی از مهمترین موانع زنان، کلیشه های جنسی است. کلیشه نوعی تفکر است که همه زنان را یکسان فرض کرده و بین آنها تفاوتی قائی نمی شود. به علت رواج کلیشه های جنسیتی، افراد به طور عموم معتقدند که مردان و زنان از بسیاری جهات مانند خصیصه های شخصیتی، ویژگی های جنسیتی (حداقل تا حدی) در جهان یکسان است، کلیشه های جنسیتی و فرضهای به دست آمده از آنها بر سایر انواع طبقه بندی و ویژگیها تقدم پیدا می کند </a:t>
            </a:r>
            <a:r>
              <a:rPr lang="fa-IR" sz="2200" dirty="0" smtClean="0"/>
              <a:t>(سیدجوادین،1386)</a:t>
            </a:r>
            <a:r>
              <a:rPr lang="fa-IR" dirty="0" smtClean="0"/>
              <a:t/>
            </a:r>
            <a:br>
              <a:rPr lang="fa-IR" dirty="0" smtClean="0"/>
            </a:br>
            <a:r>
              <a:rPr lang="fa-IR" sz="2900" b="1" dirty="0" smtClean="0"/>
              <a:t>نمونه ای از این فرضیه های کلیشه ای منفی عبارتند از:</a:t>
            </a:r>
            <a:r>
              <a:rPr lang="fa-IR" dirty="0" smtClean="0"/>
              <a:t> </a:t>
            </a:r>
            <a:br>
              <a:rPr lang="fa-IR" dirty="0" smtClean="0"/>
            </a:br>
            <a:r>
              <a:rPr lang="fa-IR" dirty="0" smtClean="0"/>
              <a:t>ـ زنان تمایل دارند تا وظایف خانوادگی را مقدم بر ملاحظات کاری قرار دهند. آنها باید از فرزندان خود مراقبت کنند، بنابراین، زمان و اشتیاق به کار خود را از دست می دهند. </a:t>
            </a:r>
            <a:br>
              <a:rPr lang="fa-IR" dirty="0" smtClean="0"/>
            </a:br>
            <a:r>
              <a:rPr lang="fa-IR" dirty="0" smtClean="0"/>
              <a:t>ـ زنان برای درامد اضافی کار می کنند، به همین دلیل شور و شوق لازم را برای موفقیت در کسب و کار ندارند. </a:t>
            </a:r>
            <a:br>
              <a:rPr lang="fa-IR" dirty="0" smtClean="0"/>
            </a:br>
            <a:r>
              <a:rPr lang="fa-IR" dirty="0" smtClean="0"/>
              <a:t>ـ زنان به جای اینکه بازخورد منفی را حرفه ای تلقی کنند، از آن برداشت شخصی می کنند. </a:t>
            </a:r>
            <a:br>
              <a:rPr lang="fa-IR" dirty="0" smtClean="0"/>
            </a:br>
            <a:r>
              <a:rPr lang="fa-IR" dirty="0" smtClean="0"/>
              <a:t>ـ زنان برای پستهای عالی مدیریتی مناسب نیستند؛ زیرا بیش از حد احساسی و فاقد پرخاشگری اند. </a:t>
            </a:r>
            <a:br>
              <a:rPr lang="fa-IR" dirty="0" smtClean="0"/>
            </a:br>
            <a:r>
              <a:rPr lang="fa-IR" dirty="0" smtClean="0"/>
              <a:t>هر چند ممکن است این فرضیه ها در مورد زنان شاغل زیادی درست باشد، اما جای تردید وجود دارد به طور دقیق زنانی را توصیف کند که تصمیم دارند حرفه مدیریت را دنبال کنند. </a:t>
            </a:r>
            <a:r>
              <a:rPr lang="fa-IR" sz="2200" dirty="0" smtClean="0"/>
              <a:t>(سیدجوادین،1386)</a:t>
            </a:r>
            <a:r>
              <a:rPr lang="fa-IR" dirty="0" smtClean="0"/>
              <a:t>. </a:t>
            </a:r>
            <a:r>
              <a:rPr lang="en-US" dirty="0" smtClean="0"/>
              <a:t/>
            </a:r>
            <a:br>
              <a:rPr lang="en-US" dirty="0" smtClean="0"/>
            </a:b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9</a:t>
            </a:fld>
            <a:endParaRPr lang="fa-IR"/>
          </a:p>
        </p:txBody>
      </p:sp>
      <p:sp>
        <p:nvSpPr>
          <p:cNvPr id="2" name="Title 1"/>
          <p:cNvSpPr>
            <a:spLocks noGrp="1"/>
          </p:cNvSpPr>
          <p:nvPr>
            <p:ph type="title"/>
          </p:nvPr>
        </p:nvSpPr>
        <p:spPr/>
        <p:txBody>
          <a:bodyPr>
            <a:normAutofit/>
          </a:bodyPr>
          <a:lstStyle/>
          <a:p>
            <a:pPr algn="ctr"/>
            <a:r>
              <a:rPr lang="fa-IR" b="1" dirty="0" smtClean="0"/>
              <a:t>عوامل پدیدآورنده سقف شیشه ای</a:t>
            </a:r>
            <a:endParaRPr lang="fa-IR" dirty="0"/>
          </a:p>
        </p:txBody>
      </p:sp>
    </p:spTree>
  </p:cSld>
  <p:clrMapOvr>
    <a:masterClrMapping/>
  </p:clrMapOvr>
  <p:transition spd="slow">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fa-IR" dirty="0" smtClean="0"/>
              <a:t> 2</a:t>
            </a:r>
            <a:r>
              <a:rPr lang="fa-IR" b="1" dirty="0" smtClean="0"/>
              <a:t>.شبکه های ارتباطی</a:t>
            </a:r>
            <a:r>
              <a:rPr lang="fa-IR" dirty="0" smtClean="0"/>
              <a:t/>
            </a:r>
            <a:br>
              <a:rPr lang="fa-IR" dirty="0" smtClean="0"/>
            </a:br>
            <a:r>
              <a:rPr lang="fa-IR" dirty="0" smtClean="0"/>
              <a:t>زنان در مقایسه با مردان تعاملات کمتری با افراد قدرتمند سازمان داشته و به مرکزیت شبکه های قدرتمند، نزدیک هستند و از آنجا که دسترسی به شبکه های قدرتمند، رابطه مثبتی با ارتقای سازمانی دارد؛ فقدان فرصت دسترسی به چنین شبکه هایی منجر به سقف شیشه ای برای زنان می شود، به عبارتی زنان به طور عمده منزوی بوده و از شبکه های ارتباطی غیر رسمی محروم هستند. </a:t>
            </a:r>
            <a:r>
              <a:rPr lang="fa-IR" sz="1400" dirty="0" smtClean="0"/>
              <a:t>(سیدجوادین،1386)</a:t>
            </a: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10</a:t>
            </a:fld>
            <a:endParaRPr lang="fa-IR"/>
          </a:p>
        </p:txBody>
      </p:sp>
      <p:sp>
        <p:nvSpPr>
          <p:cNvPr id="2" name="Title 1"/>
          <p:cNvSpPr>
            <a:spLocks noGrp="1"/>
          </p:cNvSpPr>
          <p:nvPr>
            <p:ph type="title"/>
          </p:nvPr>
        </p:nvSpPr>
        <p:spPr/>
        <p:txBody>
          <a:bodyPr>
            <a:normAutofit/>
          </a:bodyPr>
          <a:lstStyle/>
          <a:p>
            <a:pPr lvl="0" algn="ctr"/>
            <a:r>
              <a:rPr lang="fa-IR" b="1" dirty="0" smtClean="0"/>
              <a:t>عوامل پدیدآورنده سقف شیشه ای</a:t>
            </a:r>
            <a:r>
              <a:rPr lang="en-US" dirty="0" smtClean="0"/>
              <a:t> </a:t>
            </a:r>
            <a:endParaRPr lang="fa-IR" dirty="0"/>
          </a:p>
        </p:txBody>
      </p:sp>
    </p:spTree>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lgn="just">
              <a:buNone/>
            </a:pPr>
            <a:r>
              <a:rPr lang="en-US" dirty="0"/>
              <a:t/>
            </a:r>
            <a:br>
              <a:rPr lang="en-US" dirty="0"/>
            </a:br>
            <a:r>
              <a:rPr lang="fa-IR" dirty="0" smtClean="0"/>
              <a:t> 3</a:t>
            </a:r>
            <a:r>
              <a:rPr lang="fa-IR" b="1" dirty="0" smtClean="0"/>
              <a:t>. ارزش گذاری به کار زنان</a:t>
            </a:r>
          </a:p>
          <a:p>
            <a:pPr algn="just">
              <a:buNone/>
            </a:pPr>
            <a:r>
              <a:rPr lang="fa-IR" dirty="0" smtClean="0"/>
              <a:t>    </a:t>
            </a:r>
            <a:r>
              <a:rPr lang="fa-IR" sz="3300" dirty="0" smtClean="0"/>
              <a:t>سازمان ها از همه مدیران چه زن و چه مرد انتظار دارند تا عملکردشان عالی باشد اما عملکرد زنان از اهمیت خاصی برخوردار است. کار کردن در حد و اندازه ای بیش از حد انتظار مردان، راهبردی بوده که مدیران موفق آن را به کار برده اند و اکثر این زنان آن را راهبردی اساسی یا نسبتاً مهم دانسته اند. آنها مجبور بوده اند همیشه توانایی خود را ثابت کنند و برای این کار کوشیده اند تا بر انواع انگاره های منفی موجود در محیط کار که اغلب مردانه بوده، غلبه کنند. زیرا مردان کمتر به آنها اعتماد داشته اند و در نتیجه مجبور به اثبات توانایی و لیاقت خود بوده اند </a:t>
            </a:r>
            <a:r>
              <a:rPr lang="fa-IR" sz="1600" dirty="0" smtClean="0"/>
              <a:t>(زمانی و امینی، 1379)</a:t>
            </a:r>
            <a:r>
              <a:rPr lang="fa-IR" sz="3300" dirty="0" smtClean="0"/>
              <a:t>. به نظر می رسد به مشارکت های آنها ارزش گذاشته نمی شد و جدی گرفته نمی شدند. </a:t>
            </a:r>
            <a:r>
              <a:rPr lang="fa-IR" sz="1600" dirty="0" smtClean="0"/>
              <a:t>(سیدجوادین،1386)</a:t>
            </a:r>
            <a:endParaRPr lang="en-US" sz="3300" dirty="0" smtClean="0"/>
          </a:p>
          <a:p>
            <a:pPr algn="just"/>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11</a:t>
            </a:fld>
            <a:endParaRPr lang="fa-IR"/>
          </a:p>
        </p:txBody>
      </p:sp>
      <p:sp>
        <p:nvSpPr>
          <p:cNvPr id="2" name="Title 1"/>
          <p:cNvSpPr>
            <a:spLocks noGrp="1"/>
          </p:cNvSpPr>
          <p:nvPr>
            <p:ph type="title"/>
          </p:nvPr>
        </p:nvSpPr>
        <p:spPr/>
        <p:txBody>
          <a:bodyPr>
            <a:normAutofit/>
          </a:bodyPr>
          <a:lstStyle/>
          <a:p>
            <a:pPr algn="ctr"/>
            <a:r>
              <a:rPr lang="fa-IR" b="1" dirty="0" smtClean="0"/>
              <a:t>عامل </a:t>
            </a:r>
            <a:r>
              <a:rPr lang="fa-IR" dirty="0" smtClean="0"/>
              <a:t>دیگر</a:t>
            </a:r>
            <a:r>
              <a:rPr lang="fa-IR" b="1" dirty="0" smtClean="0"/>
              <a:t>پدیدآورنده سقف شیشه ای</a:t>
            </a:r>
            <a:endParaRPr lang="fa-IR" dirty="0"/>
          </a:p>
        </p:txBody>
      </p:sp>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fa-IR" dirty="0" smtClean="0"/>
              <a:t> </a:t>
            </a:r>
            <a:br>
              <a:rPr lang="fa-IR" dirty="0" smtClean="0"/>
            </a:br>
            <a:r>
              <a:rPr lang="fa-IR" dirty="0" smtClean="0"/>
              <a:t>4</a:t>
            </a:r>
            <a:r>
              <a:rPr lang="fa-IR" b="1" dirty="0" smtClean="0"/>
              <a:t>. تضاد کار- خانواده</a:t>
            </a:r>
            <a:r>
              <a:rPr lang="fa-IR" dirty="0" smtClean="0"/>
              <a:t/>
            </a:r>
            <a:br>
              <a:rPr lang="fa-IR" dirty="0" smtClean="0"/>
            </a:br>
            <a:r>
              <a:rPr lang="fa-IR" dirty="0" smtClean="0"/>
              <a:t>انعطاف پذیری در کار یکی از عواملی است که زنان به آن نیازمندند تا بتوانند میان مسؤولیت های کاری و خانوادگی خود تناسب ایجاد کنند. زنانی که مسؤولیت مراقبت از کودکان را برعهده دارند، اغلب انعطاف پذیری لازم را برای کار در بعدازظهر و خارج از ساعت های اداری ندارند. بنابراین از بسیاری الزامات غیررسمی محروم می مانند. حتی اگر این امکان را هم داشته باشند، تصور نمی رود بتوانند اضافه کاری داشته باشند و در این صورت از انتصاب به مقامات بالاتر و ارتقا کنار گذاشته می شوند. در تحقیقی که متیس انجام داده است تقریباً نیمی از زنانی که کار خود را رها کرده و فعالیت مستقل ایجاد کرده بودند؛ در جستجوی انعطاف پذیری بیشتری بوده اند. </a:t>
            </a:r>
            <a:r>
              <a:rPr lang="fa-IR" sz="1800" dirty="0" smtClean="0"/>
              <a:t>(سیدجوادین،1386)</a:t>
            </a:r>
            <a:endParaRPr lang="fa-IR" sz="1800"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12</a:t>
            </a:fld>
            <a:endParaRPr lang="fa-IR"/>
          </a:p>
        </p:txBody>
      </p:sp>
      <p:sp>
        <p:nvSpPr>
          <p:cNvPr id="2" name="Title 1"/>
          <p:cNvSpPr>
            <a:spLocks noGrp="1"/>
          </p:cNvSpPr>
          <p:nvPr>
            <p:ph type="title"/>
          </p:nvPr>
        </p:nvSpPr>
        <p:spPr/>
        <p:txBody>
          <a:bodyPr>
            <a:normAutofit/>
          </a:bodyPr>
          <a:lstStyle/>
          <a:p>
            <a:pPr algn="ctr"/>
            <a:r>
              <a:rPr lang="fa-IR" b="1" dirty="0" smtClean="0"/>
              <a:t>عامل </a:t>
            </a:r>
            <a:r>
              <a:rPr lang="fa-IR" dirty="0" smtClean="0"/>
              <a:t>دیگر</a:t>
            </a:r>
            <a:r>
              <a:rPr lang="fa-IR" b="1" dirty="0" smtClean="0"/>
              <a:t>پدیدآورنده سقف شیشه ای</a:t>
            </a:r>
            <a:endParaRPr lang="fa-I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fa-IR" b="1" dirty="0" smtClean="0"/>
              <a:t>5. سبک مدیریت</a:t>
            </a:r>
          </a:p>
          <a:p>
            <a:pPr>
              <a:buNone/>
            </a:pPr>
            <a:r>
              <a:rPr lang="fa-IR" dirty="0" smtClean="0"/>
              <a:t/>
            </a:r>
            <a:br>
              <a:rPr lang="fa-IR" dirty="0" smtClean="0"/>
            </a:br>
            <a:r>
              <a:rPr lang="fa-IR" dirty="0" smtClean="0"/>
              <a:t> حدود 96 درصد از مدیران زن، به کارگیری روش مدیریت خاصی را که مطلوب مدیران مرد باشد به عنوان عامل پیشرفت کاری ذکر کرده اند. آنها مجبور هستند فرهنگ و محیطی مردانه را بپذیرند و با پدیده ای سر و کار داشتند که اغلب به عنوان الگوی مدیریت مردانه مطرح می شود. آنها اذعان داشته اند که الگوهای موجود مدیریت، سرشار از خصوصیات و روش های مردانه است. این الگوها زنان را بر سر دو راهی قرار می دهد اگر روش های زنانه مدیریت را به کار بگیرند، ممکن است به آنها به چشم مدیر موفق نگاه نکنند و اگر روش های مردانه را بپذیرند، ممکن است از آنها انتقاد شود که مگر زن نیستند </a:t>
            </a:r>
            <a:r>
              <a:rPr lang="fa-IR" sz="2000" dirty="0" smtClean="0"/>
              <a:t>(سیدجوادین،1386)</a:t>
            </a:r>
            <a:r>
              <a:rPr lang="fa-IR" dirty="0" smtClean="0"/>
              <a:t>.</a:t>
            </a:r>
            <a:br>
              <a:rPr lang="fa-IR" dirty="0" smtClean="0"/>
            </a:br>
            <a:r>
              <a:rPr lang="fa-IR" dirty="0" smtClean="0"/>
              <a:t>و همچنین عواملی نظیر: شبکه های استخدامی سنتی، تعصب های موجود در استخدام و پیشرفت زنان، تقویت نشدن قانون فرصت برابر، نداشتن تحصیلات کافی برای دست یابی به پست های مدیریتی، انگاشته شدن مدیریت زنان به سان تهدیدی مستقیم برای فرصت های پیشرفت مردان از موانع عمده ایجاد سقف شیشه ای می باشد.</a:t>
            </a: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13</a:t>
            </a:fld>
            <a:endParaRPr lang="fa-IR"/>
          </a:p>
        </p:txBody>
      </p:sp>
      <p:sp>
        <p:nvSpPr>
          <p:cNvPr id="2" name="Title 1"/>
          <p:cNvSpPr>
            <a:spLocks noGrp="1"/>
          </p:cNvSpPr>
          <p:nvPr>
            <p:ph type="title"/>
          </p:nvPr>
        </p:nvSpPr>
        <p:spPr/>
        <p:txBody>
          <a:bodyPr>
            <a:normAutofit/>
          </a:bodyPr>
          <a:lstStyle/>
          <a:p>
            <a:pPr algn="ctr"/>
            <a:r>
              <a:rPr lang="fa-IR" b="1" dirty="0" smtClean="0"/>
              <a:t>عامل </a:t>
            </a:r>
            <a:r>
              <a:rPr lang="fa-IR" dirty="0" smtClean="0"/>
              <a:t>دیگر</a:t>
            </a:r>
            <a:r>
              <a:rPr lang="fa-IR" b="1" dirty="0" smtClean="0"/>
              <a:t>پدیدآورنده سقف شیشه ای</a:t>
            </a:r>
            <a:endParaRPr lang="fa-IR" dirty="0"/>
          </a:p>
        </p:txBody>
      </p:sp>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fa-IR" dirty="0" smtClean="0"/>
              <a:t>به طور کلی مطالعات مختلف نشان می دهد که زنان در بازار کار با تبعیض در موارد زیر روبه روهستند:</a:t>
            </a:r>
            <a:endParaRPr lang="en-US" dirty="0" smtClean="0"/>
          </a:p>
          <a:p>
            <a:r>
              <a:rPr lang="fa-IR" dirty="0" smtClean="0"/>
              <a:t>-  معیارهای نابرابر برای استخدام</a:t>
            </a:r>
            <a:endParaRPr lang="en-US" dirty="0" smtClean="0"/>
          </a:p>
          <a:p>
            <a:r>
              <a:rPr lang="fa-IR" dirty="0" smtClean="0"/>
              <a:t>- دستم نابرابر برای کاریکسان</a:t>
            </a:r>
            <a:endParaRPr lang="en-US" dirty="0" smtClean="0"/>
          </a:p>
          <a:p>
            <a:r>
              <a:rPr lang="fa-IR" dirty="0" smtClean="0"/>
              <a:t>- تمرکز در تعدادی محدود از شغل ها</a:t>
            </a:r>
            <a:endParaRPr lang="en-US" dirty="0" smtClean="0"/>
          </a:p>
          <a:p>
            <a:r>
              <a:rPr lang="fa-IR" dirty="0" smtClean="0"/>
              <a:t>- احتمال بیشتر برای بیکاری</a:t>
            </a:r>
            <a:endParaRPr lang="en-US" dirty="0" smtClean="0"/>
          </a:p>
          <a:p>
            <a:r>
              <a:rPr lang="fa-IR" dirty="0" smtClean="0"/>
              <a:t>- فرصت های نابرابر برای آموزش حرفه ای و باز آموزی</a:t>
            </a:r>
            <a:endParaRPr lang="en-US" dirty="0" smtClean="0"/>
          </a:p>
          <a:p>
            <a:r>
              <a:rPr lang="fa-IR" dirty="0" smtClean="0"/>
              <a:t>- مشارکت نابرابر برای آموزش حرفه ای و بازآموزی</a:t>
            </a:r>
            <a:endParaRPr lang="en-US" dirty="0" smtClean="0"/>
          </a:p>
          <a:p>
            <a:r>
              <a:rPr lang="fa-IR" dirty="0" smtClean="0"/>
              <a:t>- امکان نابرابر در ارتقای شغلی</a:t>
            </a: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14</a:t>
            </a:fld>
            <a:endParaRPr lang="fa-IR"/>
          </a:p>
        </p:txBody>
      </p:sp>
      <p:sp>
        <p:nvSpPr>
          <p:cNvPr id="2" name="Title 1"/>
          <p:cNvSpPr>
            <a:spLocks noGrp="1"/>
          </p:cNvSpPr>
          <p:nvPr>
            <p:ph type="title"/>
          </p:nvPr>
        </p:nvSpPr>
        <p:spPr/>
        <p:txBody>
          <a:bodyPr/>
          <a:lstStyle/>
          <a:p>
            <a:pPr algn="ctr"/>
            <a:r>
              <a:rPr lang="fa-IR" dirty="0" smtClean="0"/>
              <a:t>تبعیض در بازار کار</a:t>
            </a:r>
            <a:endParaRPr lang="fa-IR" dirty="0"/>
          </a:p>
        </p:txBody>
      </p:sp>
    </p:spTree>
  </p:cSld>
  <p:clrMapOvr>
    <a:masterClrMapping/>
  </p:clrMapOvr>
  <p:transition spd="slow">
    <p:wedg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fa-IR" dirty="0" smtClean="0"/>
              <a:t>شبکه های استخدامی سنتی</a:t>
            </a:r>
            <a:br>
              <a:rPr lang="fa-IR" dirty="0" smtClean="0"/>
            </a:br>
            <a:r>
              <a:rPr lang="fa-IR" dirty="0" smtClean="0"/>
              <a:t>تعصب موجود در استخدام وپیشرفت زنان</a:t>
            </a:r>
            <a:br>
              <a:rPr lang="fa-IR" dirty="0" smtClean="0"/>
            </a:br>
            <a:r>
              <a:rPr lang="fa-IR" dirty="0" smtClean="0"/>
              <a:t>تقویت نشدن قانون فرصت های برابر</a:t>
            </a:r>
            <a:br>
              <a:rPr lang="fa-IR" dirty="0" smtClean="0"/>
            </a:br>
            <a:r>
              <a:rPr lang="fa-IR" dirty="0" smtClean="0"/>
              <a:t>نداشتن تحصیلات کافی برای دست یابی به پست های مدیریتی</a:t>
            </a:r>
            <a:br>
              <a:rPr lang="fa-IR" dirty="0" smtClean="0"/>
            </a:br>
            <a:r>
              <a:rPr lang="fa-IR" dirty="0" smtClean="0"/>
              <a:t>انگاشته شدن مدیریت زنان به سان تهدید مستقیم برای فرصت های پیشرفت مردان</a:t>
            </a:r>
            <a:br>
              <a:rPr lang="fa-IR" dirty="0" smtClean="0"/>
            </a:br>
            <a:r>
              <a:rPr lang="fa-IR" dirty="0" smtClean="0"/>
              <a:t>موانع نامرئی ارتقاء در زنان</a:t>
            </a: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15</a:t>
            </a:fld>
            <a:endParaRPr lang="fa-IR"/>
          </a:p>
        </p:txBody>
      </p:sp>
      <p:sp>
        <p:nvSpPr>
          <p:cNvPr id="2" name="Title 1"/>
          <p:cNvSpPr>
            <a:spLocks noGrp="1"/>
          </p:cNvSpPr>
          <p:nvPr>
            <p:ph type="title"/>
          </p:nvPr>
        </p:nvSpPr>
        <p:spPr/>
        <p:txBody>
          <a:bodyPr>
            <a:normAutofit fontScale="90000"/>
          </a:bodyPr>
          <a:lstStyle/>
          <a:p>
            <a:pPr algn="ctr"/>
            <a:r>
              <a:rPr lang="fa-IR" b="1" dirty="0" smtClean="0"/>
              <a:t>عوامل سقف شیشه ای برپایه دیدگاه </a:t>
            </a:r>
            <a:br>
              <a:rPr lang="fa-IR" b="1" dirty="0" smtClean="0"/>
            </a:br>
            <a:r>
              <a:rPr lang="fa-IR" sz="3600" b="1" dirty="0" smtClean="0"/>
              <a:t>کمیسیون سقف شیشه ای آمریکا</a:t>
            </a:r>
            <a:r>
              <a:rPr lang="en-US" dirty="0" smtClean="0"/>
              <a:t> </a:t>
            </a:r>
            <a:endParaRPr lang="fa-IR" dirty="0"/>
          </a:p>
        </p:txBody>
      </p:sp>
    </p:spTree>
  </p:cSld>
  <p:clrMapOvr>
    <a:masterClrMapping/>
  </p:clrMapOvr>
  <p:transition spd="slow">
    <p:newsfla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buNone/>
            </a:pPr>
            <a:r>
              <a:rPr lang="en-US" dirty="0"/>
              <a:t/>
            </a:r>
            <a:br>
              <a:rPr lang="en-US" dirty="0"/>
            </a:br>
            <a:r>
              <a:rPr lang="fa-IR" b="1" dirty="0" smtClean="0"/>
              <a:t> </a:t>
            </a:r>
            <a:r>
              <a:rPr lang="fa-IR" dirty="0" smtClean="0"/>
              <a:t>    موانع عمودی(دیوار شیشه ای)</a:t>
            </a:r>
            <a:br>
              <a:rPr lang="fa-IR" dirty="0" smtClean="0"/>
            </a:br>
            <a:r>
              <a:rPr lang="fa-IR" dirty="0" smtClean="0"/>
              <a:t>    موانع افقی(سقف شیشه ای)</a:t>
            </a:r>
            <a:br>
              <a:rPr lang="fa-IR" dirty="0" smtClean="0"/>
            </a:br>
            <a:r>
              <a:rPr lang="fa-IR" dirty="0" smtClean="0"/>
              <a:t/>
            </a:r>
            <a:br>
              <a:rPr lang="fa-IR" dirty="0" smtClean="0"/>
            </a:br>
            <a:r>
              <a:rPr lang="fa-IR" dirty="0" smtClean="0"/>
              <a:t>1. عوامل فردی</a:t>
            </a:r>
            <a:br>
              <a:rPr lang="fa-IR" dirty="0" smtClean="0"/>
            </a:br>
            <a:r>
              <a:rPr lang="fa-IR" dirty="0" smtClean="0"/>
              <a:t>مشخصات فردی</a:t>
            </a:r>
            <a:br>
              <a:rPr lang="fa-IR" dirty="0" smtClean="0"/>
            </a:br>
            <a:r>
              <a:rPr lang="fa-IR" dirty="0" smtClean="0"/>
              <a:t> خواست فردی</a:t>
            </a:r>
            <a:br>
              <a:rPr lang="fa-IR" dirty="0" smtClean="0"/>
            </a:br>
            <a:r>
              <a:rPr lang="fa-IR" dirty="0" smtClean="0"/>
              <a:t>مهارتهای فردی</a:t>
            </a:r>
            <a:br>
              <a:rPr lang="fa-IR" dirty="0" smtClean="0"/>
            </a:br>
            <a:r>
              <a:rPr lang="fa-IR" dirty="0" smtClean="0"/>
              <a:t>مسوولیتهای خانوادگی</a:t>
            </a:r>
          </a:p>
          <a:p>
            <a:pPr>
              <a:buNone/>
            </a:pPr>
            <a:r>
              <a:rPr lang="fa-IR" dirty="0" smtClean="0"/>
              <a:t/>
            </a:r>
            <a:br>
              <a:rPr lang="fa-IR" dirty="0" smtClean="0"/>
            </a:br>
            <a:r>
              <a:rPr lang="fa-IR" dirty="0" smtClean="0"/>
              <a:t>2. عوامل سازمانی</a:t>
            </a:r>
            <a:br>
              <a:rPr lang="fa-IR" dirty="0" smtClean="0"/>
            </a:br>
            <a:r>
              <a:rPr lang="fa-IR" dirty="0" smtClean="0"/>
              <a:t>در اقلیت بودن زنان</a:t>
            </a:r>
            <a:br>
              <a:rPr lang="fa-IR" dirty="0" smtClean="0"/>
            </a:br>
            <a:r>
              <a:rPr lang="fa-IR" dirty="0" smtClean="0"/>
              <a:t>موانع ارتباطی</a:t>
            </a:r>
            <a:br>
              <a:rPr lang="fa-IR" dirty="0" smtClean="0"/>
            </a:br>
            <a:r>
              <a:rPr lang="fa-IR" dirty="0" smtClean="0"/>
              <a:t>جو و فضای سازمانی</a:t>
            </a:r>
          </a:p>
          <a:p>
            <a:pPr>
              <a:buNone/>
            </a:pPr>
            <a:r>
              <a:rPr lang="fa-IR" dirty="0" smtClean="0"/>
              <a:t/>
            </a:r>
            <a:br>
              <a:rPr lang="fa-IR" dirty="0" smtClean="0"/>
            </a:br>
            <a:r>
              <a:rPr lang="fa-IR" dirty="0" smtClean="0"/>
              <a:t>3. عوامل فرهنگی</a:t>
            </a:r>
            <a:br>
              <a:rPr lang="fa-IR" dirty="0" smtClean="0"/>
            </a:br>
            <a:r>
              <a:rPr lang="fa-IR" dirty="0" smtClean="0"/>
              <a:t>هنجارها </a:t>
            </a:r>
            <a:br>
              <a:rPr lang="fa-IR" dirty="0" smtClean="0"/>
            </a:br>
            <a:r>
              <a:rPr lang="fa-IR" dirty="0" smtClean="0"/>
              <a:t>ارزشها</a:t>
            </a:r>
            <a:br>
              <a:rPr lang="fa-IR" dirty="0" smtClean="0"/>
            </a:br>
            <a:r>
              <a:rPr lang="fa-IR" dirty="0" smtClean="0"/>
              <a:t>باورها</a:t>
            </a: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16</a:t>
            </a:fld>
            <a:endParaRPr lang="fa-IR"/>
          </a:p>
        </p:txBody>
      </p:sp>
      <p:sp>
        <p:nvSpPr>
          <p:cNvPr id="2" name="Title 1"/>
          <p:cNvSpPr>
            <a:spLocks noGrp="1"/>
          </p:cNvSpPr>
          <p:nvPr>
            <p:ph type="title"/>
          </p:nvPr>
        </p:nvSpPr>
        <p:spPr/>
        <p:txBody>
          <a:bodyPr>
            <a:normAutofit/>
          </a:bodyPr>
          <a:lstStyle/>
          <a:p>
            <a:r>
              <a:rPr lang="fa-IR" b="1" dirty="0" smtClean="0"/>
              <a:t>موانع </a:t>
            </a:r>
            <a:r>
              <a:rPr lang="fa-IR" b="1" dirty="0" smtClean="0">
                <a:solidFill>
                  <a:schemeClr val="bg1"/>
                </a:solidFill>
              </a:rPr>
              <a:t>نامرئی</a:t>
            </a:r>
            <a:r>
              <a:rPr lang="fa-IR" b="1" dirty="0" smtClean="0"/>
              <a:t> موجود در راه پیشرفت سازمانی</a:t>
            </a:r>
            <a:endParaRPr lang="fa-IR" dirty="0"/>
          </a:p>
        </p:txBody>
      </p:sp>
    </p:spTree>
  </p:cSld>
  <p:clrMapOvr>
    <a:masterClrMapping/>
  </p:clrMapOvr>
  <p:transition spd="slow">
    <p:comb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fa-IR" dirty="0" smtClean="0"/>
              <a:t>1. ایجاد فرصت های لازم برای تأسیس انجمن ها، مؤسسه ها، سازمان ها و به طور کلی مراکز تجمع زنانه برای آگاهی از کم و کیف توانایی های بالفعل و بالقوه ی خود.</a:t>
            </a:r>
            <a:br>
              <a:rPr lang="fa-IR" dirty="0" smtClean="0"/>
            </a:br>
            <a:r>
              <a:rPr lang="fa-IR" dirty="0" smtClean="0"/>
              <a:t>2.  برگزاری دوره های آموزشی توسط همین انجمن ها و تشکل های زنانه برای آشنا کردن زنان با حقوق خود و فراهم نمودن زمینه های خودباوری و آگاهی از قابلیت ها و توانایی های فردی و این موضوع که وضعیت فعلی مطلوب نیست و زنان برای رسیدن به وضعیت مناسب تر باید هرچه بیشتر متشکل شوند.</a:t>
            </a:r>
            <a:br>
              <a:rPr lang="fa-IR" dirty="0" smtClean="0"/>
            </a:br>
            <a:r>
              <a:rPr lang="fa-IR" dirty="0" smtClean="0"/>
              <a:t>3. تلاش برای ترغیب زنان در بکارگیریِ قدرت اقتصادی خود به عنوان کارکنان بخش های عمومی و خصوصی و به عنوان افراد صاحب رأی. </a:t>
            </a:r>
            <a:r>
              <a:rPr lang="fa-IR" u="sng" dirty="0" smtClean="0"/>
              <a:t>آنان از طریق استفاده از حق رأی خود می توانند زنان بیشتری را وارد جامعه و زندگی عمومی کنند و با ایجاد تشکل ها نقشی مؤثرتر در برنامه ریزی های رسمی داشته باشند.</a:t>
            </a:r>
            <a:r>
              <a:rPr lang="fa-IR" dirty="0" smtClean="0"/>
              <a:t/>
            </a:r>
            <a:br>
              <a:rPr lang="fa-IR" dirty="0" smtClean="0"/>
            </a:br>
            <a:r>
              <a:rPr lang="fa-IR" dirty="0" smtClean="0"/>
              <a:t>4. برگزاری سمینارها و تشکیل کارگاه های آموزشی برای آشنا شدن مدیران، سیاست گذاران و تصمیم گیران با مقوله ی جنسیتی و فواید حضور مؤثرتر زنان در رده های بالای تصمیم گیری</a:t>
            </a:r>
            <a:br>
              <a:rPr lang="fa-IR" dirty="0" smtClean="0"/>
            </a:b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17</a:t>
            </a:fld>
            <a:endParaRPr lang="fa-IR"/>
          </a:p>
        </p:txBody>
      </p:sp>
      <p:sp>
        <p:nvSpPr>
          <p:cNvPr id="2" name="Title 1"/>
          <p:cNvSpPr>
            <a:spLocks noGrp="1"/>
          </p:cNvSpPr>
          <p:nvPr>
            <p:ph type="title"/>
          </p:nvPr>
        </p:nvSpPr>
        <p:spPr/>
        <p:txBody>
          <a:bodyPr>
            <a:normAutofit fontScale="90000"/>
          </a:bodyPr>
          <a:lstStyle/>
          <a:p>
            <a:pPr algn="ctr"/>
            <a:r>
              <a:rPr lang="fa-IR" b="1" dirty="0" smtClean="0"/>
              <a:t>عوامل برطرف کننده سقف شیشه ای</a:t>
            </a:r>
            <a:r>
              <a:rPr lang="fa-IR" dirty="0" smtClean="0"/>
              <a:t/>
            </a:r>
            <a:br>
              <a:rPr lang="fa-IR" dirty="0" smtClean="0"/>
            </a:br>
            <a:endParaRPr lang="fa-IR" dirty="0"/>
          </a:p>
        </p:txBody>
      </p:sp>
    </p:spTree>
  </p:cSld>
  <p:clrMapOvr>
    <a:masterClrMapping/>
  </p:clrMapOvr>
  <p:transition spd="slow">
    <p:cover dir="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fa-IR" dirty="0" smtClean="0"/>
              <a:t>5. تشویق و ترغیب مدیرانی که از زنان در سطوح بالای سازمانی استفاده می کنند و امکان به اثبات رسانیدن لیاقت آنان با دادن فرصت هایی که فراهم می آورند و معرفی زنان برتر و مقایسه ی عمل کرد آنان با مردان همپایه ی آنان</a:t>
            </a:r>
            <a:br>
              <a:rPr lang="fa-IR" dirty="0" smtClean="0"/>
            </a:br>
            <a:r>
              <a:rPr lang="fa-IR" dirty="0" smtClean="0"/>
              <a:t>6. تلاش در جهت تنظیم کتب درسی متناسب با مسایل زنان به ویژه در مباحث اشتغال، مدیریت زنان و غیره</a:t>
            </a:r>
            <a:br>
              <a:rPr lang="fa-IR" dirty="0" smtClean="0"/>
            </a:br>
            <a:r>
              <a:rPr lang="fa-IR" dirty="0" smtClean="0"/>
              <a:t>7. اتخاذ نگاهی علمی و کارشناسانه تر در رسانه های عمومی کشور در خصوص بحث زنان در رسانه و جامعه</a:t>
            </a:r>
            <a:br>
              <a:rPr lang="fa-IR" dirty="0" smtClean="0"/>
            </a:br>
            <a:r>
              <a:rPr lang="fa-IR" dirty="0" smtClean="0"/>
              <a:t>8. نظارت و ارزیابی پیشرفت زنان از طریق ایجاد بانک های اطلاعاتی و تحلیل مقایسه ایِ دسترسی زنان و مردان به مشاغل در تمام سطوح</a:t>
            </a:r>
            <a:br>
              <a:rPr lang="fa-IR" dirty="0" smtClean="0"/>
            </a:br>
            <a:r>
              <a:rPr lang="fa-IR" dirty="0" smtClean="0"/>
              <a:t>9. در نهایت، تلاش در جهت افزایش آگاهی عمومی نسبت به این موضوع که ورود بیشتر زنان به عرصه های مختلف به ویژه حوزه ی مدیریتی کشور، نه یک ژست بلکه ضرورتی است که نه تنها زنان، بلکه کل جامعه از آن منتفع خواهد شد.</a:t>
            </a:r>
          </a:p>
          <a:p>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18</a:t>
            </a:fld>
            <a:endParaRPr lang="fa-IR"/>
          </a:p>
        </p:txBody>
      </p:sp>
      <p:sp>
        <p:nvSpPr>
          <p:cNvPr id="2" name="Title 1"/>
          <p:cNvSpPr>
            <a:spLocks noGrp="1"/>
          </p:cNvSpPr>
          <p:nvPr>
            <p:ph type="title"/>
          </p:nvPr>
        </p:nvSpPr>
        <p:spPr/>
        <p:txBody>
          <a:bodyPr>
            <a:normAutofit/>
          </a:bodyPr>
          <a:lstStyle/>
          <a:p>
            <a:r>
              <a:rPr lang="fa-IR" dirty="0" smtClean="0"/>
              <a:t>سایر</a:t>
            </a:r>
            <a:r>
              <a:rPr lang="fa-IR" b="1" dirty="0" smtClean="0"/>
              <a:t>عوامل برطرف کننده سقف شیشه ای</a:t>
            </a:r>
            <a:endParaRPr lang="fa-IR" dirty="0"/>
          </a:p>
        </p:txBody>
      </p:sp>
    </p:spTree>
  </p:cSld>
  <p:clrMapOvr>
    <a:masterClrMapping/>
  </p:clrMapOvr>
  <p:transition spd="slow">
    <p:cover dir="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428736"/>
            <a:ext cx="8229600" cy="4525963"/>
          </a:xfrm>
        </p:spPr>
        <p:txBody>
          <a:bodyPr>
            <a:normAutofit fontScale="25000" lnSpcReduction="20000"/>
          </a:bodyPr>
          <a:lstStyle/>
          <a:p>
            <a:r>
              <a:rPr lang="fa-IR" sz="6400" dirty="0" smtClean="0"/>
              <a:t>خودباوری بالا در جست وجوی چالش و انگیزش ناشی از اهداف ارزشمند و والا ست. رسیدن به چنین اهدافی، خودباوری را تقویت می کند. </a:t>
            </a:r>
          </a:p>
          <a:p>
            <a:r>
              <a:rPr lang="fa-IR" sz="6400" dirty="0" smtClean="0"/>
              <a:t>خودباوری ضعیف، صرفا به دنبال ایمنی اهداف آشنا و فاقد نیاز به کار و تلاش است. محدود کردن خود به اهداف آشنای بی نیاز از کار و کوشش، در واقع در جهت تضعیف خودباوری عمل می کند</a:t>
            </a:r>
            <a:endParaRPr lang="en-US" sz="6400" dirty="0" smtClean="0"/>
          </a:p>
          <a:p>
            <a:r>
              <a:rPr lang="fa-IR" sz="6400" dirty="0" smtClean="0"/>
              <a:t>هرچه خودباوری ما تقویت شود، بهتر برای مقابله با مشکلاتی که در شغل یا زندگی شخصی مان بروز می کند، آمادگی خواهیم داشت و بعد از شکست، سریع تر خود را باز می یابیم و انرژی بیشتری برای آغازی دوباره خواهیم داشت. موانع، زنانی را که دارای خودباوری بالاتری هستند، متوقف نمی سازد، چرا که امروزه میلیون ها نفر از آنان مشغول به راه انداختن کسب و کار برای خویشتن و یا در حال تلاش برای رشد در شغلشان هستند. همین طور یک ازدواج یا ماجرای عشقی ناموفق قادر نخواهد بود که ضمیر یک زن دارای اعتمادبه نفس را آنچنان تحریک کند که از ترس احتمال ناراحتی های آتی، علیه هرگونه ارتباط با جنس مخالف موضع بگیرد تا جایی که به قیمت از دست رفتن جوانی و شادابی او تمام شود. </a:t>
            </a:r>
            <a:endParaRPr lang="en-US" sz="6400" dirty="0" smtClean="0"/>
          </a:p>
          <a:p>
            <a:r>
              <a:rPr lang="fa-IR" sz="6400" dirty="0" smtClean="0"/>
              <a:t>هرچه خودباوری ما افزون می شود، جاه طلبی ما هم بیشتر می شود و این جاه طلبی لزوما در حرفه شغلی یا جنبه های مادی نیست بلکه همه جنبه های زندگی شامل جنبه های عاطفی، ذهنی و روحی را نیز دربرمی گیرد.</a:t>
            </a:r>
            <a:endParaRPr lang="en-US" sz="6400" dirty="0" smtClean="0"/>
          </a:p>
          <a:p>
            <a:r>
              <a:rPr lang="fa-IR" sz="6400" dirty="0" smtClean="0"/>
              <a:t>هرچه خودباوری ما کمتر باشد، آرزوهای کوچکتری خواهیم داشت و احتمال کمتری برای موفقیت ما وجود خواهد داشت. هر کدام از این مسیرهای خودباوری راهنمایی برای نیل به تقویت نفس و تمرکز بر خویشتن است. هر چه خودباوری ما بیشتر باشد، محرک درونی ما برای بیان عقایدمان قویتر خواهد بود، که این خود نشان دهنده غنای درونی ماست و هر چه خودباوری ما کمتر باشد، نیاز به اثبات وجودمان مهم تر جلوه می کند و یا اینکه سعی می کنیم با زندگی مکانیکی و ناآگاهانه خود را به دست فراموشی بسپاریم.</a:t>
            </a:r>
            <a:endParaRPr lang="en-US" sz="6400" dirty="0" smtClean="0"/>
          </a:p>
          <a:p>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19</a:t>
            </a:fld>
            <a:endParaRPr lang="fa-IR"/>
          </a:p>
        </p:txBody>
      </p:sp>
      <p:sp>
        <p:nvSpPr>
          <p:cNvPr id="2" name="Title 1"/>
          <p:cNvSpPr>
            <a:spLocks noGrp="1"/>
          </p:cNvSpPr>
          <p:nvPr>
            <p:ph type="title"/>
          </p:nvPr>
        </p:nvSpPr>
        <p:spPr/>
        <p:txBody>
          <a:bodyPr/>
          <a:lstStyle/>
          <a:p>
            <a:pPr algn="ctr"/>
            <a:r>
              <a:rPr lang="fa-IR" dirty="0" smtClean="0"/>
              <a:t>خودباوری</a:t>
            </a:r>
            <a:endParaRPr lang="fa-IR" dirty="0"/>
          </a:p>
        </p:txBody>
      </p:sp>
    </p:spTree>
  </p:cSld>
  <p:clrMapOvr>
    <a:masterClrMapping/>
  </p:clrMapOvr>
  <p:transition spd="slow">
    <p:wedg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fa-IR" dirty="0" smtClean="0"/>
              <a:t>   اکنون زنان در بسیاری از موقعیت های اجتماعی حضور دارند. هر جا که زنان حضور ندارند، عدم حضورشان به خاطر ناتوانایی ها یا بی علاقگی آنها نیست، </a:t>
            </a:r>
          </a:p>
          <a:p>
            <a:r>
              <a:rPr lang="fa-IR" dirty="0" smtClean="0"/>
              <a:t>بلکه برای آن است که به عمد کوشش شده تا آنها را از صحنه بیرون رانند. </a:t>
            </a:r>
          </a:p>
          <a:p>
            <a:r>
              <a:rPr lang="fa-IR" dirty="0" smtClean="0"/>
              <a:t>زنان در هر جا که حضور دارند، نقش هایی ایفا کرده اند که با برداشت همگانی از آنها برای مثال به عنوان کدبانوها و مادران غیرفعال، بسیار تفاوت دارند. با وجود حضور مثبت و روز افزون زنان در جامعه، متاسفانه جایگاه زنان در جامعه هنوز در امتداد همان وظایفی است که جامعه </a:t>
            </a:r>
            <a:r>
              <a:rPr lang="fa-IR" b="1" dirty="0" smtClean="0"/>
              <a:t>مرد نما</a:t>
            </a:r>
            <a:r>
              <a:rPr lang="fa-IR" dirty="0" smtClean="0"/>
              <a:t> به زن تفویض کرده است. از آنجایی که نابرابری های شرایط میان زنان و مردان در همه عرصه های مختلف جامعه قابل رؤیت است و با توجه به اینکه امروزه موفقیت و پیشرفت هر جامعه ای در گرو استفاده از تخصص های موجود در آن است </a:t>
            </a:r>
            <a:r>
              <a:rPr lang="fa-IR" sz="2900" dirty="0" smtClean="0"/>
              <a:t>(چه این تخصص ها در دست زنان و چه در دست مردان باشد)</a:t>
            </a:r>
            <a:r>
              <a:rPr lang="fa-IR" dirty="0" smtClean="0"/>
              <a:t>، پس اتخاذ تدابیر علمی و برنامه ریزی های لازم و مقتضی و تسهیل شرایط ورود برای حضور و بقای زنان در اجتماع باید در نظر گرفته شود و گروه های مصلح، باید موضع گیری مناسب تری نسبت به حضور زنان در جامعه به عنوان نیمی از جمعیت آن در نظر بگیرند و این میسر نمی شود مگر آنکه همگان ابتدا به این باور برسند که راه توسعه بدون توجه به نقش زنان پیموده نخواهد شد. </a:t>
            </a:r>
          </a:p>
          <a:p>
            <a:r>
              <a:rPr lang="fa-IR" dirty="0" smtClean="0"/>
              <a:t> بهترین کار در این زمینه این است که زنان به این باور برسند که توانمندند و مردان نیز توانایی های زنان را جدی بگیرند. حتی در ادارات نیز به نوع مدیریت زنان اهمیت داده شود تا شاهد بهبود باور زنان جامعه در مورد خودشان باشیم.</a:t>
            </a:r>
          </a:p>
          <a:p>
            <a:r>
              <a:rPr lang="fa-IR" b="1" dirty="0" smtClean="0"/>
              <a:t>و در یک جمله سقف شیشه ای</a:t>
            </a:r>
            <a:r>
              <a:rPr lang="fa-IR" dirty="0" smtClean="0"/>
              <a:t> نوعی نابرابری است.</a:t>
            </a:r>
          </a:p>
          <a:p>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20</a:t>
            </a:fld>
            <a:endParaRPr lang="fa-IR"/>
          </a:p>
        </p:txBody>
      </p:sp>
      <p:sp>
        <p:nvSpPr>
          <p:cNvPr id="2" name="Title 1"/>
          <p:cNvSpPr>
            <a:spLocks noGrp="1"/>
          </p:cNvSpPr>
          <p:nvPr>
            <p:ph type="title"/>
          </p:nvPr>
        </p:nvSpPr>
        <p:spPr/>
        <p:txBody>
          <a:bodyPr/>
          <a:lstStyle/>
          <a:p>
            <a:pPr algn="ctr"/>
            <a:r>
              <a:rPr lang="fa-IR" b="1" dirty="0" smtClean="0"/>
              <a:t>نتیجه گیری</a:t>
            </a:r>
            <a:endParaRPr lang="fa-IR" dirty="0"/>
          </a:p>
        </p:txBody>
      </p:sp>
    </p:spTree>
  </p:cSld>
  <p:clrMapOvr>
    <a:masterClrMapping/>
  </p:clrMapOvr>
  <p:transition spd="slow">
    <p:wheel spokes="8"/>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rtl="0"/>
            <a:r>
              <a:rPr lang="fa-IR" dirty="0" smtClean="0"/>
              <a:t>-</a:t>
            </a:r>
            <a:r>
              <a:rPr lang="fa-IR" sz="1500" dirty="0" smtClean="0"/>
              <a:t>اسفیدانی، محمد رحیم، موانع دستیابی زنان به پست های مدیریتی، فصلنامه پژوهش زنان 4،صص85-86،1380.</a:t>
            </a:r>
            <a:br>
              <a:rPr lang="fa-IR" sz="1500" dirty="0" smtClean="0"/>
            </a:br>
            <a:r>
              <a:rPr lang="fa-IR" sz="1500" dirty="0" smtClean="0"/>
              <a:t>- فاطمی صدر ،فیروزه،موانع ارتقا زنان درسطوح مدیریتی در سطح دانشگاه های تهران ،پایان نامه کارشناسی ارشد، دانشگاه تربیت مدرس،1380.</a:t>
            </a:r>
            <a:br>
              <a:rPr lang="fa-IR" sz="1500" dirty="0" smtClean="0"/>
            </a:br>
            <a:r>
              <a:rPr lang="fa-IR" sz="1500" dirty="0" smtClean="0"/>
              <a:t>-سیدجوادین، سیدرضا.روشن نژاد، مژگان. یزدانی، حمیدرضا. "ارائه و تبیین مدلی برای بررسی روابط علی بین خودپنداری زنان، ادراک موانع سقف شیشه ای و سقف شیشه ای". مجله علمی وپژوهشی زنان، سال دوم، شماره اول، 1386.</a:t>
            </a:r>
            <a:br>
              <a:rPr lang="fa-IR" sz="1500" dirty="0" smtClean="0"/>
            </a:br>
            <a:r>
              <a:rPr lang="fa-IR" sz="1500" dirty="0" smtClean="0"/>
              <a:t>- مرکز آمار ایران ( 1386 ) نتایج آمارگیری از نیروی کار.</a:t>
            </a:r>
            <a:br>
              <a:rPr lang="fa-IR" sz="1500" dirty="0" smtClean="0"/>
            </a:br>
            <a:r>
              <a:rPr lang="fa-IR" sz="1500" dirty="0" smtClean="0"/>
              <a:t>-میرغفوری، سید حبیب الله "شناسایی و رتبه بندی عامل های موثر در گماشته نشدن زنان به پست های مدیریتی در سازمان های دولتی استان یزد". مجله مطالعات زنان، سال4، شماره1، بهار 1385.</a:t>
            </a:r>
            <a:br>
              <a:rPr lang="fa-IR" sz="1500" dirty="0" smtClean="0"/>
            </a:br>
            <a:r>
              <a:rPr lang="fa-IR" sz="1500" dirty="0" smtClean="0"/>
              <a:t> </a:t>
            </a:r>
            <a:r>
              <a:rPr lang="en-US" sz="1500" dirty="0" smtClean="0"/>
              <a:t>Adebowale, A</a:t>
            </a:r>
            <a:r>
              <a:rPr lang="fa-IR" sz="1500" dirty="0" smtClean="0"/>
              <a:t>. (1994), “</a:t>
            </a:r>
            <a:r>
              <a:rPr lang="en-US" sz="1500" dirty="0" smtClean="0"/>
              <a:t>-The glass ceiling: women and mentoring in management and business</a:t>
            </a:r>
            <a:r>
              <a:rPr lang="fa-IR" sz="1500" dirty="0" smtClean="0"/>
              <a:t>”,</a:t>
            </a:r>
            <a:br>
              <a:rPr lang="fa-IR" sz="1500" dirty="0" smtClean="0"/>
            </a:br>
            <a:r>
              <a:rPr lang="en-US" sz="1500" dirty="0" err="1" smtClean="0"/>
              <a:t>Arfken</a:t>
            </a:r>
            <a:r>
              <a:rPr lang="en-US" sz="1500" dirty="0" smtClean="0"/>
              <a:t>, D.E., </a:t>
            </a:r>
            <a:r>
              <a:rPr lang="en-US" sz="1500" dirty="0" err="1" smtClean="0"/>
              <a:t>Bellar</a:t>
            </a:r>
            <a:r>
              <a:rPr lang="en-US" sz="1500" dirty="0" smtClean="0"/>
              <a:t>, S.L. and Helms, M.M. (2004)) [ 7</a:t>
            </a:r>
            <a:r>
              <a:rPr lang="fa-IR" sz="1500" dirty="0" smtClean="0"/>
              <a:t>]  </a:t>
            </a:r>
            <a:br>
              <a:rPr lang="fa-IR" sz="1500" dirty="0" smtClean="0"/>
            </a:br>
            <a:r>
              <a:rPr lang="fa-IR" sz="1500" dirty="0" smtClean="0"/>
              <a:t> </a:t>
            </a:r>
            <a:r>
              <a:rPr lang="en-US" sz="1500" dirty="0" smtClean="0"/>
              <a:t>The ultimate glass ceiling revisited: the Employee Counseling Today, Vol. 6 No</a:t>
            </a:r>
            <a:r>
              <a:rPr lang="fa-IR" sz="1500" dirty="0" smtClean="0"/>
              <a:t>. 1, </a:t>
            </a:r>
            <a:r>
              <a:rPr lang="en-US" sz="1500" dirty="0" smtClean="0"/>
              <a:t>pp. 21-5</a:t>
            </a:r>
          </a:p>
          <a:p>
            <a:pPr rtl="0"/>
            <a:r>
              <a:rPr lang="fa-IR" sz="1600" dirty="0" smtClean="0"/>
              <a:t>- زاهدی،شمس السادات،زن وتوسعه،تهران،دفترپژوهشهای فرهنگی:1386</a:t>
            </a:r>
            <a:br>
              <a:rPr lang="fa-IR" sz="1600" dirty="0" smtClean="0"/>
            </a:br>
            <a:r>
              <a:rPr lang="fa-IR" sz="1600" dirty="0" smtClean="0"/>
              <a:t>- سالنامه آماری کشور،تهران،مرکز آمار ایران،1383</a:t>
            </a:r>
            <a:br>
              <a:rPr lang="fa-IR" sz="1600" dirty="0" smtClean="0"/>
            </a:br>
            <a:r>
              <a:rPr lang="fa-IR" sz="1600" dirty="0" smtClean="0"/>
              <a:t>- کولایی،الهه وحافظیان،محمدحسین،نقش زن در توسعه کشورهای اسلامی،تهران،انتشارات دانشگاه تهران:1385</a:t>
            </a:r>
            <a:br>
              <a:rPr lang="fa-IR" sz="1600" dirty="0" smtClean="0"/>
            </a:br>
            <a:r>
              <a:rPr lang="fa-IR" sz="1600" dirty="0" smtClean="0"/>
              <a:t>- فصلنامه علمی_ پژوهشی مطالعات زنان،دانشگاه الزهرا،پژوهشکده زنان،سال 3،شماره 7،بهار 1384</a:t>
            </a:r>
            <a:endParaRPr lang="en-US" sz="1600" dirty="0" smtClean="0"/>
          </a:p>
          <a:p>
            <a:pPr rtl="0"/>
            <a:endParaRPr lang="fa-IR" sz="1500"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21</a:t>
            </a:fld>
            <a:endParaRPr lang="fa-IR"/>
          </a:p>
        </p:txBody>
      </p:sp>
      <p:sp>
        <p:nvSpPr>
          <p:cNvPr id="2" name="Title 1"/>
          <p:cNvSpPr>
            <a:spLocks noGrp="1"/>
          </p:cNvSpPr>
          <p:nvPr>
            <p:ph type="title"/>
          </p:nvPr>
        </p:nvSpPr>
        <p:spPr/>
        <p:txBody>
          <a:bodyPr/>
          <a:lstStyle/>
          <a:p>
            <a:pPr algn="ctr"/>
            <a:r>
              <a:rPr lang="fa-IR" b="1" dirty="0" smtClean="0"/>
              <a:t>منابع</a:t>
            </a:r>
            <a:endParaRPr lang="fa-IR" dirty="0"/>
          </a:p>
        </p:txBody>
      </p:sp>
    </p:spTree>
  </p:cSld>
  <p:clrMapOvr>
    <a:masterClrMapping/>
  </p:clrMapOvr>
  <p:transition>
    <p:zoom dir="in"/>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fa-IR" dirty="0" smtClean="0"/>
              <a:t> با احترام، تشکر و پوزش خدا یار و </a:t>
            </a:r>
            <a:r>
              <a:rPr lang="fa-IR" dirty="0" smtClean="0"/>
              <a:t>نگهدارتان</a:t>
            </a:r>
          </a:p>
          <a:p>
            <a:r>
              <a:rPr lang="fa-IR" sz="2800" b="1" dirty="0" smtClean="0">
                <a:latin typeface="B Nazanin"/>
              </a:rPr>
              <a:t>بهمن 1391</a:t>
            </a:r>
            <a:endParaRPr lang="fa-IR" dirty="0"/>
          </a:p>
        </p:txBody>
      </p:sp>
      <p:sp>
        <p:nvSpPr>
          <p:cNvPr id="4" name="Slide Number Placeholder 3"/>
          <p:cNvSpPr>
            <a:spLocks noGrp="1"/>
          </p:cNvSpPr>
          <p:nvPr>
            <p:ph type="sldNum" sz="quarter" idx="15"/>
          </p:nvPr>
        </p:nvSpPr>
        <p:spPr/>
        <p:txBody>
          <a:bodyPr/>
          <a:lstStyle/>
          <a:p>
            <a:fld id="{A1AEE56C-FEF8-4B65-B8D5-07A89C01F1CF}" type="slidenum">
              <a:rPr lang="fa-IR" smtClean="0"/>
              <a:pPr/>
              <a:t>22</a:t>
            </a:fld>
            <a:endParaRPr lang="fa-IR"/>
          </a:p>
        </p:txBody>
      </p:sp>
      <p:sp>
        <p:nvSpPr>
          <p:cNvPr id="2" name="Title 1"/>
          <p:cNvSpPr>
            <a:spLocks noGrp="1"/>
          </p:cNvSpPr>
          <p:nvPr>
            <p:ph type="title"/>
          </p:nvPr>
        </p:nvSpPr>
        <p:spPr/>
        <p:txBody>
          <a:bodyPr/>
          <a:lstStyle/>
          <a:p>
            <a:pPr algn="ctr"/>
            <a:r>
              <a:rPr lang="fa-IR" dirty="0" smtClean="0"/>
              <a:t>والسلام</a:t>
            </a:r>
            <a:endParaRPr lang="fa-IR" dirty="0"/>
          </a:p>
        </p:txBody>
      </p:sp>
    </p:spTree>
  </p:cSld>
  <p:clrMapOvr>
    <a:masterClrMapping/>
  </p:clrMapOvr>
  <p:transition>
    <p:blinds/>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239</TotalTime>
  <Words>1683</Words>
  <Application>Microsoft Office PowerPoint</Application>
  <PresentationFormat>On-screen Show (4:3)</PresentationFormat>
  <Paragraphs>93</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Paper</vt:lpstr>
      <vt:lpstr>بسم الله الرحمن الرحیم</vt:lpstr>
      <vt:lpstr>چکیده </vt:lpstr>
      <vt:lpstr>مقدمه</vt:lpstr>
      <vt:lpstr>وضعیت عمومی سازمان‌ها</vt:lpstr>
      <vt:lpstr>تعریف سقف شیشه ای</vt:lpstr>
      <vt:lpstr>توصیف سقف شیشه ای</vt:lpstr>
      <vt:lpstr>در تبیین سقف شیشه ای</vt:lpstr>
      <vt:lpstr>مشارکت پائین تر زنان در امور اجتماعی؟</vt:lpstr>
      <vt:lpstr>عوامل پدیدآورنده سقف شیشه ای</vt:lpstr>
      <vt:lpstr>عوامل پدیدآورنده سقف شیشه ای </vt:lpstr>
      <vt:lpstr>عامل دیگرپدیدآورنده سقف شیشه ای</vt:lpstr>
      <vt:lpstr>عامل دیگرپدیدآورنده سقف شیشه ای</vt:lpstr>
      <vt:lpstr>عامل دیگرپدیدآورنده سقف شیشه ای</vt:lpstr>
      <vt:lpstr>تبعیض در بازار کار</vt:lpstr>
      <vt:lpstr>عوامل سقف شیشه ای برپایه دیدگاه  کمیسیون سقف شیشه ای آمریکا </vt:lpstr>
      <vt:lpstr>موانع نامرئی موجود در راه پیشرفت سازمانی</vt:lpstr>
      <vt:lpstr>عوامل برطرف کننده سقف شیشه ای </vt:lpstr>
      <vt:lpstr>سایرعوامل برطرف کننده سقف شیشه ای</vt:lpstr>
      <vt:lpstr>خودباوری</vt:lpstr>
      <vt:lpstr>نتیجه گیری</vt:lpstr>
      <vt:lpstr>منابع</vt:lpstr>
      <vt:lpstr>والسلام</vt:lpstr>
    </vt:vector>
  </TitlesOfParts>
  <Company>MRT www.Win2Farsi.com</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بسم الله الرحمن الرحیم</dc:title>
  <dc:creator>rahimi</dc:creator>
  <cp:lastModifiedBy>rahimi</cp:lastModifiedBy>
  <cp:revision>96</cp:revision>
  <dcterms:created xsi:type="dcterms:W3CDTF">2013-05-11T05:46:42Z</dcterms:created>
  <dcterms:modified xsi:type="dcterms:W3CDTF">2013-05-21T08:23:50Z</dcterms:modified>
</cp:coreProperties>
</file>