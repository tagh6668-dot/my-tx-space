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4"/>
  </p:notesMasterIdLst>
  <p:handoutMasterIdLst>
    <p:handoutMasterId r:id="rId45"/>
  </p:handoutMasterIdLst>
  <p:sldIdLst>
    <p:sldId id="385" r:id="rId2"/>
    <p:sldId id="386" r:id="rId3"/>
    <p:sldId id="357" r:id="rId4"/>
    <p:sldId id="358" r:id="rId5"/>
    <p:sldId id="359" r:id="rId6"/>
    <p:sldId id="360" r:id="rId7"/>
    <p:sldId id="365" r:id="rId8"/>
    <p:sldId id="361" r:id="rId9"/>
    <p:sldId id="364" r:id="rId10"/>
    <p:sldId id="366" r:id="rId11"/>
    <p:sldId id="367" r:id="rId12"/>
    <p:sldId id="323" r:id="rId13"/>
    <p:sldId id="324" r:id="rId14"/>
    <p:sldId id="352" r:id="rId15"/>
    <p:sldId id="368" r:id="rId16"/>
    <p:sldId id="370" r:id="rId17"/>
    <p:sldId id="369" r:id="rId18"/>
    <p:sldId id="355" r:id="rId19"/>
    <p:sldId id="353" r:id="rId20"/>
    <p:sldId id="354" r:id="rId21"/>
    <p:sldId id="356" r:id="rId22"/>
    <p:sldId id="325" r:id="rId23"/>
    <p:sldId id="371" r:id="rId24"/>
    <p:sldId id="372" r:id="rId25"/>
    <p:sldId id="373" r:id="rId26"/>
    <p:sldId id="374" r:id="rId27"/>
    <p:sldId id="331" r:id="rId28"/>
    <p:sldId id="332" r:id="rId29"/>
    <p:sldId id="333" r:id="rId30"/>
    <p:sldId id="337" r:id="rId31"/>
    <p:sldId id="338" r:id="rId32"/>
    <p:sldId id="375" r:id="rId33"/>
    <p:sldId id="376" r:id="rId34"/>
    <p:sldId id="377" r:id="rId35"/>
    <p:sldId id="378" r:id="rId36"/>
    <p:sldId id="379" r:id="rId37"/>
    <p:sldId id="383" r:id="rId38"/>
    <p:sldId id="380" r:id="rId39"/>
    <p:sldId id="384" r:id="rId40"/>
    <p:sldId id="382" r:id="rId41"/>
    <p:sldId id="350" r:id="rId42"/>
    <p:sldId id="345" r:id="rId43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583" autoAdjust="0"/>
    <p:restoredTop sz="93783" autoAdjust="0"/>
  </p:normalViewPr>
  <p:slideViewPr>
    <p:cSldViewPr>
      <p:cViewPr>
        <p:scale>
          <a:sx n="100" d="100"/>
          <a:sy n="100" d="100"/>
        </p:scale>
        <p:origin x="64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258" y="-10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F96C8-9BE0-42E1-BD55-C1B305CA23E1}" type="datetimeFigureOut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C56DC-A534-4D6F-B0E7-CADDC030D7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5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DC1DE-1218-41E3-9B45-BA8E3EF80F76}" type="datetimeFigureOut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EDD82-3BE0-488E-AA2B-F8F5D0E9CB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15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5A27C9-5A0A-440A-83A6-3F38E7D2343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74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A27C9-5A0A-440A-83A6-3F38E7D234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4649096" y="-16132"/>
            <a:ext cx="3505200" cy="22068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8" y="2190749"/>
            <a:ext cx="3313355" cy="1117227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8" y="3315810"/>
            <a:ext cx="3309803" cy="94547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137621"/>
            <a:ext cx="2133600" cy="563236"/>
          </a:xfrm>
        </p:spPr>
        <p:txBody>
          <a:bodyPr anchor="b"/>
          <a:lstStyle>
            <a:lvl1pPr algn="l">
              <a:defRPr sz="2400"/>
            </a:lvl1pPr>
          </a:lstStyle>
          <a:p>
            <a:fld id="{812DABFB-DD00-4785-B823-87233D6EFB53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4566214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4289976"/>
            <a:ext cx="2831592" cy="273844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4289976"/>
            <a:ext cx="643666" cy="27384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4566214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2">
                  <a:lumMod val="75000"/>
                </a:schemeClr>
              </a:buClr>
              <a:defRPr/>
            </a:lvl1pPr>
            <a:lvl2pPr>
              <a:buClr>
                <a:schemeClr val="accent2">
                  <a:lumMod val="75000"/>
                </a:schemeClr>
              </a:buClr>
              <a:defRPr/>
            </a:lvl2pPr>
            <a:lvl3pPr>
              <a:buClr>
                <a:schemeClr val="accent2">
                  <a:lumMod val="75000"/>
                </a:schemeClr>
              </a:buClr>
              <a:defRPr/>
            </a:lvl3pPr>
            <a:lvl4pPr>
              <a:buClr>
                <a:schemeClr val="accent2">
                  <a:lumMod val="75000"/>
                </a:schemeClr>
              </a:buClr>
              <a:defRPr/>
            </a:lvl4pPr>
            <a:lvl5pPr>
              <a:buClr>
                <a:schemeClr val="accent2">
                  <a:lumMod val="75000"/>
                </a:schemeClr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27448" y="4888706"/>
            <a:ext cx="3502152" cy="273844"/>
          </a:xfrm>
        </p:spPr>
        <p:txBody>
          <a:bodyPr/>
          <a:lstStyle/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  <a:cs typeface="B Titr" pitchFamily="2" charset="-78"/>
              </a:defRPr>
            </a:lvl1pPr>
          </a:lstStyle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4572000" y="0"/>
            <a:ext cx="3048000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tabLst>
                <a:tab pos="85725" algn="l"/>
              </a:tabLst>
            </a:pPr>
            <a:r>
              <a:rPr lang="fa-IR" sz="1500" dirty="0" smtClean="0">
                <a:solidFill>
                  <a:schemeClr val="accent1"/>
                </a:solidFill>
                <a:cs typeface="B Titr" pitchFamily="2" charset="-78"/>
              </a:rPr>
              <a:t>عملکرد اداره</a:t>
            </a:r>
            <a:r>
              <a:rPr lang="fa-IR" sz="1500" baseline="0" dirty="0" smtClean="0">
                <a:solidFill>
                  <a:schemeClr val="accent1"/>
                </a:solidFill>
                <a:cs typeface="B Titr" pitchFamily="2" charset="-78"/>
              </a:rPr>
              <a:t> کل فناوری اطلاعات 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175622"/>
            <a:ext cx="6637468" cy="1021556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8" y="3200400"/>
            <a:ext cx="6637467" cy="1140310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122E-DC47-41B1-94CF-64B59CDA2636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B20C-A70E-4C80-89D9-991D1E40F3E0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1735074"/>
            <a:ext cx="3419856" cy="26197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1735073"/>
            <a:ext cx="3419856" cy="26197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1737007"/>
            <a:ext cx="3057148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231022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40" y="1737007"/>
            <a:ext cx="3055717" cy="47982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231022"/>
            <a:ext cx="3419856" cy="21268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59EE-9862-484D-B843-B7A159B295A8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33CE-507A-4B50-B325-FE3BF2C6F298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7D0C1-E57A-483C-B863-BE22D2A1E390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69656"/>
            <a:ext cx="609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7E7C3-0BF8-4749-988F-AA627A498B7C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905574" y="451413"/>
            <a:ext cx="3562257" cy="423633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642396"/>
            <a:ext cx="3090440" cy="3863051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4566214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1993077"/>
            <a:ext cx="3304572" cy="109736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3102746"/>
            <a:ext cx="3298784" cy="113842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51435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16133"/>
            <a:ext cx="3679116" cy="470388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905574" y="451413"/>
            <a:ext cx="3562257" cy="4236334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4650889" y="4566214"/>
            <a:ext cx="3505200" cy="61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1995678"/>
            <a:ext cx="3300984" cy="109728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11" y="520346"/>
            <a:ext cx="3359623" cy="4101084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3" y="3099817"/>
            <a:ext cx="3300573" cy="11396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1CB77-5F5B-4AAC-AD52-120C54B8855B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4293627"/>
            <a:ext cx="3493664" cy="27384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0E207-D86D-4401-A508-EFE946B6090A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3" y="772610"/>
            <a:ext cx="1484453" cy="3585258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772610"/>
            <a:ext cx="5423704" cy="358525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98120-2F13-422B-9C48-84EA5FE8E1C5}" type="datetime1">
              <a:rPr lang="en-US" smtClean="0"/>
              <a:pPr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51435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250117"/>
            <a:ext cx="8229600" cy="463923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561242" y="-16133"/>
            <a:ext cx="3679116" cy="52443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4649096" y="-16133"/>
            <a:ext cx="3505200" cy="4679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6080" y="770748"/>
            <a:ext cx="687134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6081" y="1742740"/>
            <a:ext cx="6871339" cy="263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168369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pPr algn="ctr" rtl="1"/>
            <a:fld id="{CA16C1FE-FDAF-4747-9052-F0BC6A696011}" type="datetime1">
              <a:rPr lang="en-US" smtClean="0"/>
              <a:pPr algn="ctr" rtl="1"/>
              <a:t>11/9/2016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4389120"/>
            <a:ext cx="350215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168369"/>
            <a:ext cx="13321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C3979DD-D046-4217-AAEC-2B814C026D8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1" name="Picture 2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85"/>
          <a:stretch/>
        </p:blipFill>
        <p:spPr bwMode="auto">
          <a:xfrm>
            <a:off x="534804" y="341224"/>
            <a:ext cx="1021277" cy="847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www.gammadesk.com/wp-content/uploads/2015/10/Gamma-rep05.png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205861" y="1352550"/>
            <a:ext cx="6871339" cy="3200400"/>
          </a:xfrm>
        </p:spPr>
        <p:txBody>
          <a:bodyPr>
            <a:normAutofit/>
          </a:bodyPr>
          <a:lstStyle/>
          <a:p>
            <a:pPr marL="68580" indent="0" algn="ctr" rtl="1">
              <a:buNone/>
            </a:pPr>
            <a:r>
              <a:rPr lang="fa-IR" dirty="0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چهارمین جلسه</a:t>
            </a:r>
          </a:p>
          <a:p>
            <a:pPr marL="68580" indent="0" algn="ctr" rtl="1">
              <a:buNone/>
            </a:pPr>
            <a:r>
              <a:rPr lang="fa-IR" dirty="0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خوشه </a:t>
            </a:r>
            <a:r>
              <a:rPr lang="fa-IR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فرهنگی - </a:t>
            </a:r>
            <a:r>
              <a:rPr lang="fa-IR" dirty="0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اجتماعی</a:t>
            </a:r>
            <a:endParaRPr lang="fa-IR" dirty="0" smtClean="0">
              <a:solidFill>
                <a:schemeClr val="accent3">
                  <a:lumMod val="75000"/>
                </a:schemeClr>
              </a:solidFill>
              <a:cs typeface="B Titr" pitchFamily="2" charset="-78"/>
            </a:endParaRPr>
          </a:p>
          <a:p>
            <a:pPr marL="68580" indent="0" algn="ctr" rtl="1">
              <a:buNone/>
            </a:pPr>
            <a:r>
              <a:rPr lang="fa-IR" sz="4000" dirty="0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مقدم مهمانان گرامی را ارج می نهیم</a:t>
            </a:r>
            <a:endParaRPr lang="fa-IR" sz="4000" dirty="0" smtClean="0">
              <a:solidFill>
                <a:schemeClr val="accent3">
                  <a:lumMod val="75000"/>
                </a:schemeClr>
              </a:solidFill>
              <a:cs typeface="B Titr" pitchFamily="2" charset="-78"/>
            </a:endParaRPr>
          </a:p>
          <a:p>
            <a:pPr marL="68580" indent="0" algn="ctr" rtl="1">
              <a:buNone/>
            </a:pPr>
            <a:endParaRPr lang="fa-IR" sz="2000" dirty="0" smtClean="0">
              <a:solidFill>
                <a:schemeClr val="accent3">
                  <a:lumMod val="75000"/>
                </a:schemeClr>
              </a:solidFill>
              <a:cs typeface="B Titr" pitchFamily="2" charset="-78"/>
            </a:endParaRPr>
          </a:p>
          <a:p>
            <a:pPr marL="68580" indent="0" algn="ctr" rtl="1">
              <a:buNone/>
            </a:pPr>
            <a:r>
              <a:rPr lang="fa-IR" sz="2000" dirty="0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19 </a:t>
            </a:r>
            <a:r>
              <a:rPr lang="fa-IR" sz="2000" dirty="0" smtClean="0">
                <a:solidFill>
                  <a:schemeClr val="accent3">
                    <a:lumMod val="75000"/>
                  </a:schemeClr>
                </a:solidFill>
                <a:cs typeface="B Titr" pitchFamily="2" charset="-78"/>
              </a:rPr>
              <a:t>آبان 95</a:t>
            </a:r>
          </a:p>
          <a:p>
            <a:pPr marL="6858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8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7876"/>
            <a:ext cx="7772400" cy="4286279"/>
          </a:xfrm>
        </p:spPr>
        <p:txBody>
          <a:bodyPr>
            <a:normAutofit/>
          </a:bodyPr>
          <a:lstStyle/>
          <a:p>
            <a:pPr rtl="1"/>
            <a:r>
              <a:rPr lang="en-US" sz="2200" dirty="0">
                <a:cs typeface="Titr" pitchFamily="2" charset="-78"/>
              </a:rPr>
              <a:t/>
            </a:r>
            <a:br>
              <a:rPr lang="en-US" sz="2200" dirty="0">
                <a:cs typeface="Titr" pitchFamily="2" charset="-78"/>
              </a:rPr>
            </a:br>
            <a:r>
              <a:rPr lang="en-US" sz="2200" dirty="0">
                <a:cs typeface="Titr" pitchFamily="2" charset="-78"/>
              </a:rPr>
              <a:t/>
            </a:r>
            <a:br>
              <a:rPr lang="en-US" sz="2200" dirty="0">
                <a:cs typeface="Titr" pitchFamily="2" charset="-78"/>
              </a:rPr>
            </a:br>
            <a:r>
              <a:rPr lang="fa-IR" sz="2200" dirty="0">
                <a:cs typeface="Titr" pitchFamily="2" charset="-78"/>
              </a:rPr>
              <a:t/>
            </a:r>
            <a:br>
              <a:rPr lang="fa-IR" sz="2200" dirty="0">
                <a:cs typeface="Titr" pitchFamily="2" charset="-78"/>
              </a:rPr>
            </a:br>
            <a:r>
              <a:rPr lang="fa-IR" sz="5000" dirty="0" smtClean="0">
                <a:cs typeface="Titr" pitchFamily="2" charset="-78"/>
              </a:rPr>
              <a:t/>
            </a:r>
            <a:br>
              <a:rPr lang="fa-IR" sz="5000" dirty="0" smtClean="0">
                <a:cs typeface="Titr" pitchFamily="2" charset="-78"/>
              </a:rPr>
            </a:br>
            <a:r>
              <a:rPr lang="en-US" sz="5400" dirty="0" smtClean="0">
                <a:cs typeface="2  Titr" pitchFamily="2" charset="-78"/>
              </a:rPr>
              <a:t/>
            </a:r>
            <a:br>
              <a:rPr lang="en-US" sz="5400" dirty="0" smtClean="0">
                <a:cs typeface="2  Titr" pitchFamily="2" charset="-78"/>
              </a:rPr>
            </a:br>
            <a:endParaRPr lang="en-US" sz="5400" dirty="0">
              <a:cs typeface="2  Titr" pitchFamily="2" charset="-78"/>
            </a:endParaRPr>
          </a:p>
        </p:txBody>
      </p:sp>
      <p:pic>
        <p:nvPicPr>
          <p:cNvPr id="5" name="Picture 2" descr="E:\nahad\banner\arm nahad\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190750"/>
            <a:ext cx="1079500" cy="123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648200" y="2952750"/>
            <a:ext cx="350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200000"/>
              </a:lnSpc>
            </a:pPr>
            <a:r>
              <a:rPr lang="fa-IR" sz="1600" dirty="0" smtClean="0">
                <a:solidFill>
                  <a:schemeClr val="accent1">
                    <a:lumMod val="50000"/>
                  </a:schemeClr>
                </a:solidFill>
                <a:cs typeface="B Titr" pitchFamily="2" charset="-78"/>
              </a:rPr>
              <a:t>معاونت برنامه ريزي، پژوهش وفناوري اطلاعات</a:t>
            </a:r>
          </a:p>
          <a:p>
            <a:pPr algn="ctr" rtl="1">
              <a:lnSpc>
                <a:spcPct val="200000"/>
              </a:lnSpc>
            </a:pPr>
            <a:r>
              <a:rPr lang="fa-IR" sz="1600" dirty="0" smtClean="0">
                <a:solidFill>
                  <a:schemeClr val="accent1">
                    <a:lumMod val="50000"/>
                  </a:schemeClr>
                </a:solidFill>
                <a:cs typeface="B Titr" pitchFamily="2" charset="-78"/>
              </a:rPr>
              <a:t>نهاد كتابخانه هاي عمومي كشور</a:t>
            </a:r>
          </a:p>
          <a:p>
            <a:pPr algn="ctr" rtl="1">
              <a:lnSpc>
                <a:spcPct val="200000"/>
              </a:lnSpc>
            </a:pPr>
            <a:r>
              <a:rPr lang="fa-IR" sz="1600" dirty="0" smtClean="0">
                <a:solidFill>
                  <a:schemeClr val="accent1">
                    <a:lumMod val="50000"/>
                  </a:schemeClr>
                </a:solidFill>
                <a:cs typeface="B Titr" pitchFamily="2" charset="-78"/>
              </a:rPr>
              <a:t>19 آبان 1395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B Titr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24400" y="285750"/>
            <a:ext cx="3352800" cy="1404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  <a:tabLst>
                <a:tab pos="85725" algn="l"/>
              </a:tabLst>
            </a:pPr>
            <a:r>
              <a:rPr lang="fa-IR" sz="2200" dirty="0">
                <a:solidFill>
                  <a:schemeClr val="accent1"/>
                </a:solidFill>
                <a:latin typeface="+mj-lt"/>
                <a:ea typeface="+mj-ea"/>
                <a:cs typeface="B Titr" pitchFamily="2" charset="-78"/>
              </a:rPr>
              <a:t>عملکرد فناوری اطلاعات </a:t>
            </a:r>
            <a:br>
              <a:rPr lang="fa-IR" sz="2200" dirty="0">
                <a:solidFill>
                  <a:schemeClr val="accent1"/>
                </a:solidFill>
                <a:latin typeface="+mj-lt"/>
                <a:ea typeface="+mj-ea"/>
                <a:cs typeface="B Titr" pitchFamily="2" charset="-78"/>
              </a:rPr>
            </a:br>
            <a:r>
              <a:rPr lang="fa-IR" sz="2200" dirty="0">
                <a:solidFill>
                  <a:schemeClr val="accent1"/>
                </a:solidFill>
                <a:latin typeface="+mj-lt"/>
                <a:ea typeface="+mj-ea"/>
                <a:cs typeface="B Titr" pitchFamily="2" charset="-78"/>
              </a:rPr>
              <a:t> نهاد كتابخانه هاي عمومي </a:t>
            </a:r>
            <a:r>
              <a:rPr lang="fa-IR" sz="2200" dirty="0" smtClean="0">
                <a:solidFill>
                  <a:schemeClr val="accent1"/>
                </a:solidFill>
                <a:latin typeface="+mj-lt"/>
                <a:ea typeface="+mj-ea"/>
                <a:cs typeface="B Titr" pitchFamily="2" charset="-78"/>
              </a:rPr>
              <a:t>كشور</a:t>
            </a:r>
            <a:endParaRPr lang="en-US" sz="2200" dirty="0" smtClean="0">
              <a:solidFill>
                <a:schemeClr val="accent1"/>
              </a:solidFill>
              <a:latin typeface="+mj-lt"/>
              <a:ea typeface="+mj-ea"/>
              <a:cs typeface="B Titr" pitchFamily="2" charset="-78"/>
            </a:endParaRPr>
          </a:p>
          <a:p>
            <a:pPr algn="ctr" rtl="1">
              <a:lnSpc>
                <a:spcPct val="150000"/>
              </a:lnSpc>
              <a:tabLst>
                <a:tab pos="85725" algn="l"/>
              </a:tabLst>
            </a:pPr>
            <a:endParaRPr lang="fa-IR" sz="1400" dirty="0" smtClean="0">
              <a:solidFill>
                <a:schemeClr val="accent1"/>
              </a:solidFill>
              <a:latin typeface="+mj-lt"/>
              <a:ea typeface="+mj-ea"/>
              <a:cs typeface="Tit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616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6934200" cy="666750"/>
          </a:xfrm>
        </p:spPr>
        <p:txBody>
          <a:bodyPr>
            <a:normAutofit fontScale="90000"/>
          </a:bodyPr>
          <a:lstStyle/>
          <a:p>
            <a:pPr algn="ctr" rtl="1"/>
            <a:r>
              <a:rPr lang="fa-IR" sz="30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سامانه مديريت كتابخانه هاي عمومي كشور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 </a:t>
            </a:r>
            <a:r>
              <a:rPr lang="fa-IR" sz="30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(سامان)</a:t>
            </a:r>
            <a:endParaRPr lang="en-US" sz="3000" dirty="0">
              <a:solidFill>
                <a:schemeClr val="accent2">
                  <a:lumMod val="75000"/>
                </a:schemeClr>
              </a:solidFill>
              <a:latin typeface="Ttir"/>
              <a:cs typeface="B Titr" pitchFamily="2" charset="-7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8043890" cy="273844"/>
          </a:xfrm>
        </p:spPr>
        <p:txBody>
          <a:bodyPr/>
          <a:lstStyle/>
          <a:p>
            <a:pPr algn="l"/>
            <a:r>
              <a:rPr lang="fa-IR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1276350"/>
            <a:ext cx="3886200" cy="3581400"/>
          </a:xfrm>
        </p:spPr>
        <p:txBody>
          <a:bodyPr>
            <a:normAutofit/>
          </a:bodyPr>
          <a:lstStyle/>
          <a:p>
            <a:pPr algn="just" rtl="1">
              <a:buClr>
                <a:schemeClr val="accent2">
                  <a:lumMod val="75000"/>
                </a:schemeClr>
              </a:buClr>
            </a:pPr>
            <a:r>
              <a:rPr lang="ar-SA" sz="2100" b="1" dirty="0" smtClean="0">
                <a:cs typeface="B Mitra" pitchFamily="2" charset="-78"/>
              </a:rPr>
              <a:t>نرم </a:t>
            </a:r>
            <a:r>
              <a:rPr lang="ar-SA" sz="2100" b="1" dirty="0">
                <a:cs typeface="B Mitra" pitchFamily="2" charset="-78"/>
              </a:rPr>
              <a:t>افزار جامع مدیریت </a:t>
            </a:r>
            <a:r>
              <a:rPr lang="ar-SA" sz="2100" b="1" dirty="0" smtClean="0">
                <a:cs typeface="B Mitra" pitchFamily="2" charset="-78"/>
              </a:rPr>
              <a:t>کتابخانه</a:t>
            </a:r>
            <a:r>
              <a:rPr lang="en-US" sz="2100" b="1" dirty="0" smtClean="0">
                <a:cs typeface="B Mitra" pitchFamily="2" charset="-78"/>
              </a:rPr>
              <a:t> </a:t>
            </a:r>
            <a:r>
              <a:rPr lang="ar-SA" sz="2100" b="1" dirty="0" smtClean="0">
                <a:cs typeface="B Mitra" pitchFamily="2" charset="-78"/>
              </a:rPr>
              <a:t>ها</a:t>
            </a:r>
            <a:r>
              <a:rPr lang="fa-IR" sz="2100" b="1" dirty="0" smtClean="0">
                <a:cs typeface="B Mitra" pitchFamily="2" charset="-78"/>
              </a:rPr>
              <a:t>ي عمومي كشور (سامان)</a:t>
            </a:r>
            <a:r>
              <a:rPr lang="ar-SA" sz="2100" b="1" dirty="0" smtClean="0">
                <a:cs typeface="B Mitra" pitchFamily="2" charset="-78"/>
              </a:rPr>
              <a:t>، </a:t>
            </a:r>
            <a:r>
              <a:rPr lang="ar-SA" sz="2100" b="1" dirty="0">
                <a:cs typeface="B Mitra" pitchFamily="2" charset="-78"/>
              </a:rPr>
              <a:t>توسط اداره </a:t>
            </a:r>
            <a:r>
              <a:rPr lang="ar-SA" sz="2100" b="1" dirty="0" smtClean="0">
                <a:cs typeface="B Mitra" pitchFamily="2" charset="-78"/>
              </a:rPr>
              <a:t>کل</a:t>
            </a:r>
            <a:r>
              <a:rPr lang="fa-IR" sz="2100" b="1" dirty="0" smtClean="0">
                <a:cs typeface="B Mitra" pitchFamily="2" charset="-78"/>
              </a:rPr>
              <a:t> </a:t>
            </a:r>
            <a:r>
              <a:rPr lang="ar-SA" sz="2100" b="1" dirty="0" smtClean="0">
                <a:cs typeface="B Mitra" pitchFamily="2" charset="-78"/>
              </a:rPr>
              <a:t>فناوری </a:t>
            </a:r>
            <a:r>
              <a:rPr lang="ar-SA" sz="2100" b="1" dirty="0">
                <a:cs typeface="B Mitra" pitchFamily="2" charset="-78"/>
              </a:rPr>
              <a:t>اطلاعات </a:t>
            </a:r>
            <a:r>
              <a:rPr lang="fa-IR" sz="2100" b="1" dirty="0" smtClean="0">
                <a:cs typeface="B Mitra" pitchFamily="2" charset="-78"/>
              </a:rPr>
              <a:t>نهاد و </a:t>
            </a:r>
            <a:r>
              <a:rPr lang="ar-SA" sz="2100" b="1" dirty="0" smtClean="0">
                <a:cs typeface="B Mitra" pitchFamily="2" charset="-78"/>
              </a:rPr>
              <a:t>با </a:t>
            </a:r>
            <a:r>
              <a:rPr lang="ar-SA" sz="2100" b="1" dirty="0">
                <a:cs typeface="B Mitra" pitchFamily="2" charset="-78"/>
              </a:rPr>
              <a:t>هدف رفع </a:t>
            </a:r>
            <a:r>
              <a:rPr lang="fa-IR" sz="2100" b="1" dirty="0" smtClean="0">
                <a:cs typeface="B Mitra" pitchFamily="2" charset="-78"/>
              </a:rPr>
              <a:t>مشکلات نرم افزاري </a:t>
            </a:r>
            <a:r>
              <a:rPr lang="ar-SA" sz="2100" b="1" dirty="0" smtClean="0">
                <a:cs typeface="B Mitra" pitchFamily="2" charset="-78"/>
              </a:rPr>
              <a:t>کتابخانه</a:t>
            </a:r>
            <a:r>
              <a:rPr lang="fa-IR" sz="2100" b="1" dirty="0" smtClean="0">
                <a:cs typeface="B Mitra" pitchFamily="2" charset="-78"/>
              </a:rPr>
              <a:t> ها و فراهم آوردن امكان  </a:t>
            </a:r>
            <a:r>
              <a:rPr lang="ar-SA" sz="2100" b="1" dirty="0" smtClean="0">
                <a:cs typeface="B Mitra" pitchFamily="2" charset="-78"/>
              </a:rPr>
              <a:t>بهره </a:t>
            </a:r>
            <a:r>
              <a:rPr lang="ar-SA" sz="2100" b="1" dirty="0">
                <a:cs typeface="B Mitra" pitchFamily="2" charset="-78"/>
              </a:rPr>
              <a:t>گیری از </a:t>
            </a:r>
            <a:r>
              <a:rPr lang="ar-SA" sz="2100" b="1" dirty="0" smtClean="0">
                <a:cs typeface="B Mitra" pitchFamily="2" charset="-78"/>
              </a:rPr>
              <a:t>یک </a:t>
            </a:r>
            <a:r>
              <a:rPr lang="ar-SA" sz="2100" b="1" dirty="0">
                <a:cs typeface="B Mitra" pitchFamily="2" charset="-78"/>
              </a:rPr>
              <a:t>سیستم </a:t>
            </a:r>
            <a:r>
              <a:rPr lang="ar-SA" sz="2100" b="1" dirty="0" smtClean="0">
                <a:cs typeface="B Mitra" pitchFamily="2" charset="-78"/>
              </a:rPr>
              <a:t>جامع</a:t>
            </a:r>
            <a:r>
              <a:rPr lang="fa-IR" sz="2100" b="1" dirty="0" smtClean="0">
                <a:cs typeface="B Mitra" pitchFamily="2" charset="-78"/>
              </a:rPr>
              <a:t> </a:t>
            </a:r>
            <a:r>
              <a:rPr lang="ar-SA" sz="2100" b="1" dirty="0" smtClean="0">
                <a:cs typeface="B Mitra" pitchFamily="2" charset="-78"/>
              </a:rPr>
              <a:t>تحت وب</a:t>
            </a:r>
            <a:r>
              <a:rPr lang="fa-IR" sz="2100" b="1" dirty="0" smtClean="0">
                <a:cs typeface="B Mitra" pitchFamily="2" charset="-78"/>
              </a:rPr>
              <a:t> با بانك اطلاعاتي متمركز و يكپارچه، طراحي </a:t>
            </a:r>
            <a:r>
              <a:rPr lang="ar-SA" sz="2100" b="1" dirty="0" smtClean="0">
                <a:cs typeface="B Mitra" pitchFamily="2" charset="-78"/>
              </a:rPr>
              <a:t>و </a:t>
            </a:r>
            <a:r>
              <a:rPr lang="ar-SA" sz="2100" b="1" dirty="0">
                <a:cs typeface="B Mitra" pitchFamily="2" charset="-78"/>
              </a:rPr>
              <a:t>پیاده سازی شده است</a:t>
            </a:r>
            <a:r>
              <a:rPr lang="en-US" sz="2100" b="1" dirty="0" smtClean="0">
                <a:cs typeface="B Mitra" pitchFamily="2" charset="-78"/>
              </a:rPr>
              <a:t>.</a:t>
            </a:r>
            <a:endParaRPr lang="fa-IR" sz="2100" b="1" dirty="0" smtClean="0">
              <a:cs typeface="B Mitra" pitchFamily="2" charset="-78"/>
            </a:endParaRPr>
          </a:p>
          <a:p>
            <a:pPr marL="0" indent="0" algn="just" rtl="1">
              <a:buNone/>
            </a:pPr>
            <a:endParaRPr lang="fa-IR" sz="2500" dirty="0" smtClean="0">
              <a:cs typeface="B Mitra" pitchFamily="2" charset="-78"/>
            </a:endParaRPr>
          </a:p>
          <a:p>
            <a:pPr marL="0" indent="0" algn="just" rtl="1">
              <a:buNone/>
            </a:pPr>
            <a:endParaRPr lang="en-US" sz="2500" dirty="0">
              <a:cs typeface="B Mitra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Mitra" pitchFamily="2" charset="-78"/>
            </a:endParaRPr>
          </a:p>
        </p:txBody>
      </p:sp>
      <p:pic>
        <p:nvPicPr>
          <p:cNvPr id="9" name="Picture 8"/>
          <p:cNvPicPr/>
          <p:nvPr/>
        </p:nvPicPr>
        <p:blipFill rotWithShape="1">
          <a:blip r:embed="rId3" cstate="print"/>
          <a:srcRect l="1000" t="10513" r="598" b="4274"/>
          <a:stretch/>
        </p:blipFill>
        <p:spPr bwMode="auto">
          <a:xfrm>
            <a:off x="457200" y="1276350"/>
            <a:ext cx="4419600" cy="3581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7415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42740"/>
            <a:ext cx="7741620" cy="3038810"/>
          </a:xfrm>
        </p:spPr>
        <p:txBody>
          <a:bodyPr>
            <a:normAutofit fontScale="85000" lnSpcReduction="20000"/>
          </a:bodyPr>
          <a:lstStyle/>
          <a:p>
            <a:pPr algn="just" rtl="1">
              <a:lnSpc>
                <a:spcPct val="150000"/>
              </a:lnSpc>
            </a:pPr>
            <a:r>
              <a:rPr lang="ar-SA" b="1" dirty="0" smtClean="0">
                <a:cs typeface="B Mitra" pitchFamily="2" charset="-78"/>
              </a:rPr>
              <a:t>در حال حاضر 2</a:t>
            </a:r>
            <a:r>
              <a:rPr lang="fa-IR" b="1" dirty="0" smtClean="0">
                <a:cs typeface="B Mitra" pitchFamily="2" charset="-78"/>
              </a:rPr>
              <a:t>350</a:t>
            </a:r>
            <a:r>
              <a:rPr lang="ar-SA" b="1" dirty="0" smtClean="0">
                <a:cs typeface="B Mitra" pitchFamily="2" charset="-78"/>
              </a:rPr>
              <a:t> کتابخانه </a:t>
            </a:r>
            <a:r>
              <a:rPr lang="fa-IR" b="1" dirty="0" smtClean="0">
                <a:cs typeface="B Mitra" pitchFamily="2" charset="-78"/>
              </a:rPr>
              <a:t>نهادي (97%كتابخانه هاي عمومي) </a:t>
            </a:r>
            <a:r>
              <a:rPr lang="ar-SA" b="1" dirty="0" smtClean="0">
                <a:cs typeface="B Mitra" pitchFamily="2" charset="-78"/>
              </a:rPr>
              <a:t>از تمامی استان ها به این سامانه یکپارچه متصل شده اند</a:t>
            </a:r>
            <a:r>
              <a:rPr lang="fa-IR" b="1" dirty="0" smtClean="0">
                <a:cs typeface="B Mitra" pitchFamily="2" charset="-78"/>
              </a:rPr>
              <a:t> و اين سامانه امكان مكانيزاسيون كليه فرآيندهاي كتابخانه هاي عمومي و ارائه خدمات متنوع آنلاين به اعضاء را فراهم آورده است.</a:t>
            </a:r>
            <a:endParaRPr lang="en-US" b="1" dirty="0" smtClean="0">
              <a:cs typeface="B Mitra" pitchFamily="2" charset="-78"/>
            </a:endParaRPr>
          </a:p>
          <a:p>
            <a:pPr algn="just" rtl="1">
              <a:lnSpc>
                <a:spcPct val="150000"/>
              </a:lnSpc>
            </a:pPr>
            <a:r>
              <a:rPr lang="ar-SA" b="1" dirty="0" smtClean="0">
                <a:cs typeface="B Mitra" pitchFamily="2" charset="-78"/>
              </a:rPr>
              <a:t>این سامانه، به عنوان شبکه جامع کتابخانه های عمومی کشور، امکان </a:t>
            </a:r>
            <a:r>
              <a:rPr lang="fa-IR" b="1" dirty="0" smtClean="0">
                <a:cs typeface="B Mitra" pitchFamily="2" charset="-78"/>
              </a:rPr>
              <a:t>عضويت</a:t>
            </a:r>
            <a:r>
              <a:rPr lang="ar-SA" b="1" dirty="0" smtClean="0">
                <a:cs typeface="B Mitra" pitchFamily="2" charset="-78"/>
              </a:rPr>
              <a:t>، </a:t>
            </a:r>
            <a:r>
              <a:rPr lang="fa-IR" b="1" dirty="0" smtClean="0">
                <a:cs typeface="B Mitra" pitchFamily="2" charset="-78"/>
              </a:rPr>
              <a:t>امانت</a:t>
            </a:r>
            <a:r>
              <a:rPr lang="ar-SA" b="1" dirty="0" smtClean="0">
                <a:cs typeface="B Mitra" pitchFamily="2" charset="-78"/>
              </a:rPr>
              <a:t> و جستجو در کلیه کتابخانه های موجود در شبکه را برای کاربران خود به سهولت فراهم می</a:t>
            </a:r>
            <a:r>
              <a:rPr lang="fa-IR" b="1" dirty="0" smtClean="0">
                <a:cs typeface="B Mitra" pitchFamily="2" charset="-78"/>
              </a:rPr>
              <a:t> </a:t>
            </a:r>
            <a:r>
              <a:rPr lang="ar-SA" b="1" dirty="0" smtClean="0">
                <a:cs typeface="B Mitra" pitchFamily="2" charset="-78"/>
              </a:rPr>
              <a:t>کند. </a:t>
            </a:r>
            <a:endParaRPr lang="en-US" b="1" dirty="0" smtClean="0">
              <a:cs typeface="B Mitra" pitchFamily="2" charset="-78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 smtClean="0"/>
              <a:t>3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819150"/>
            <a:ext cx="8543956" cy="857250"/>
          </a:xfrm>
        </p:spPr>
        <p:txBody>
          <a:bodyPr>
            <a:normAutofit fontScale="90000"/>
          </a:bodyPr>
          <a:lstStyle/>
          <a:p>
            <a:pPr algn="ct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سامانه مديريت كتابخانه هاي عمومي كشور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/>
            </a:r>
            <a:br>
              <a:rPr lang="en-US" sz="36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</a:br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(سامان)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tir"/>
              <a:cs typeface="B Tit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7705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5" y="1543050"/>
            <a:ext cx="6777317" cy="2831422"/>
          </a:xfrm>
        </p:spPr>
        <p:txBody>
          <a:bodyPr>
            <a:normAutofit fontScale="85000" lnSpcReduction="10000"/>
          </a:bodyPr>
          <a:lstStyle/>
          <a:p>
            <a:pPr lvl="0" algn="just" rtl="1">
              <a:lnSpc>
                <a:spcPct val="110000"/>
              </a:lnSpc>
            </a:pPr>
            <a:r>
              <a:rPr lang="fa-IR" b="1" dirty="0" smtClean="0">
                <a:cs typeface="B Mitra" pitchFamily="2" charset="-78"/>
              </a:rPr>
              <a:t>استفاده </a:t>
            </a:r>
            <a:r>
              <a:rPr lang="fa-IR" b="1" dirty="0">
                <a:cs typeface="B Mitra" pitchFamily="2" charset="-78"/>
              </a:rPr>
              <a:t>از </a:t>
            </a:r>
            <a:r>
              <a:rPr lang="fa-IR" b="1" dirty="0" smtClean="0">
                <a:cs typeface="B Mitra" pitchFamily="2" charset="-78"/>
              </a:rPr>
              <a:t>جديدترين </a:t>
            </a:r>
            <a:r>
              <a:rPr lang="fa-IR" b="1" dirty="0">
                <a:cs typeface="B Mitra" pitchFamily="2" charset="-78"/>
              </a:rPr>
              <a:t>تكنولوژي هاي روز در حوزه توليد نرم افزار </a:t>
            </a:r>
            <a:endParaRPr lang="en-US" b="1" dirty="0">
              <a:cs typeface="B Mitra" pitchFamily="2" charset="-78"/>
            </a:endParaRPr>
          </a:p>
          <a:p>
            <a:pPr lvl="0" algn="just" rtl="1">
              <a:lnSpc>
                <a:spcPct val="110000"/>
              </a:lnSpc>
            </a:pPr>
            <a:r>
              <a:rPr lang="fa-IR" b="1" dirty="0">
                <a:cs typeface="B Mitra" pitchFamily="2" charset="-78"/>
              </a:rPr>
              <a:t>اتصال كتابخانه هاي جديد به سامانه در كوتاهترين زمان</a:t>
            </a:r>
            <a:endParaRPr lang="en-US" b="1" dirty="0">
              <a:cs typeface="B Mitra" pitchFamily="2" charset="-78"/>
            </a:endParaRPr>
          </a:p>
          <a:p>
            <a:pPr lvl="0" algn="just" rtl="1">
              <a:lnSpc>
                <a:spcPct val="110000"/>
              </a:lnSpc>
            </a:pPr>
            <a:r>
              <a:rPr lang="fa-IR" b="1" dirty="0">
                <a:cs typeface="B Mitra" pitchFamily="2" charset="-78"/>
              </a:rPr>
              <a:t>جستجو </a:t>
            </a:r>
            <a:r>
              <a:rPr lang="fa-IR" b="1" dirty="0" smtClean="0">
                <a:cs typeface="B Mitra" pitchFamily="2" charset="-78"/>
              </a:rPr>
              <a:t>منابع در بانك اطلاعاتي يكپارچه كليه </a:t>
            </a:r>
            <a:r>
              <a:rPr lang="fa-IR" b="1" dirty="0">
                <a:cs typeface="B Mitra" pitchFamily="2" charset="-78"/>
              </a:rPr>
              <a:t>كتابخانه </a:t>
            </a:r>
            <a:r>
              <a:rPr lang="fa-IR" b="1" dirty="0" smtClean="0">
                <a:cs typeface="B Mitra" pitchFamily="2" charset="-78"/>
              </a:rPr>
              <a:t>هاي </a:t>
            </a:r>
            <a:r>
              <a:rPr lang="fa-IR" b="1" dirty="0">
                <a:cs typeface="B Mitra" pitchFamily="2" charset="-78"/>
              </a:rPr>
              <a:t>عمومي </a:t>
            </a:r>
            <a:r>
              <a:rPr lang="fa-IR" b="1" dirty="0" smtClean="0">
                <a:cs typeface="B Mitra" pitchFamily="2" charset="-78"/>
              </a:rPr>
              <a:t>كه </a:t>
            </a:r>
            <a:r>
              <a:rPr lang="fa-IR" b="1" dirty="0">
                <a:cs typeface="B Mitra" pitchFamily="2" charset="-78"/>
              </a:rPr>
              <a:t>به سامانه متصل هستند</a:t>
            </a:r>
            <a:endParaRPr lang="en-US" b="1" dirty="0">
              <a:cs typeface="B Mitra" pitchFamily="2" charset="-78"/>
            </a:endParaRPr>
          </a:p>
          <a:p>
            <a:pPr lvl="0" algn="just" rtl="1">
              <a:lnSpc>
                <a:spcPct val="110000"/>
              </a:lnSpc>
            </a:pPr>
            <a:r>
              <a:rPr lang="fa-IR" b="1" dirty="0" smtClean="0">
                <a:cs typeface="B Mitra" pitchFamily="2" charset="-78"/>
              </a:rPr>
              <a:t>مديريت </a:t>
            </a:r>
            <a:r>
              <a:rPr lang="fa-IR" b="1" dirty="0">
                <a:cs typeface="B Mitra" pitchFamily="2" charset="-78"/>
              </a:rPr>
              <a:t>كليه امور كتابخانه اي (ثبت نام عضو، امانت، بازگشت، تمديد، رف خواني، </a:t>
            </a:r>
            <a:r>
              <a:rPr lang="fa-IR" b="1" dirty="0" smtClean="0">
                <a:cs typeface="B Mitra" pitchFamily="2" charset="-78"/>
              </a:rPr>
              <a:t>فهرست نويسي، چاپ </a:t>
            </a:r>
            <a:r>
              <a:rPr lang="fa-IR" b="1" dirty="0">
                <a:cs typeface="B Mitra" pitchFamily="2" charset="-78"/>
              </a:rPr>
              <a:t>برچسب هاي عطف و بار كد، ثبت نسخه، ورود اطلاعات، ...) </a:t>
            </a:r>
            <a:r>
              <a:rPr lang="fa-IR" b="1" dirty="0" smtClean="0">
                <a:cs typeface="B Mitra" pitchFamily="2" charset="-78"/>
              </a:rPr>
              <a:t>به صورت كاملاً </a:t>
            </a:r>
            <a:r>
              <a:rPr lang="fa-IR" b="1" dirty="0">
                <a:cs typeface="B Mitra" pitchFamily="2" charset="-78"/>
              </a:rPr>
              <a:t>تحت وب </a:t>
            </a:r>
            <a:endParaRPr lang="en-US" b="1" dirty="0">
              <a:cs typeface="B Mitra" pitchFamily="2" charset="-78"/>
            </a:endParaRPr>
          </a:p>
          <a:p>
            <a:pPr lvl="0" algn="just" rtl="1">
              <a:lnSpc>
                <a:spcPct val="110000"/>
              </a:lnSpc>
            </a:pPr>
            <a:r>
              <a:rPr lang="fa-IR" b="1" dirty="0" smtClean="0">
                <a:cs typeface="B Mitra" pitchFamily="2" charset="-78"/>
              </a:rPr>
              <a:t>فراهم آمدن امكان امانت </a:t>
            </a:r>
            <a:r>
              <a:rPr lang="fa-IR" b="1" dirty="0">
                <a:cs typeface="B Mitra" pitchFamily="2" charset="-78"/>
              </a:rPr>
              <a:t>بين كتابخانه اي در كليه كتابخانه هاي </a:t>
            </a:r>
            <a:r>
              <a:rPr lang="fa-IR" b="1" dirty="0" smtClean="0">
                <a:cs typeface="B Mitra" pitchFamily="2" charset="-78"/>
              </a:rPr>
              <a:t>عمومي</a:t>
            </a:r>
          </a:p>
          <a:p>
            <a:pPr lvl="0" algn="just" rtl="1">
              <a:lnSpc>
                <a:spcPct val="110000"/>
              </a:lnSpc>
            </a:pPr>
            <a:endParaRPr lang="en-US" b="1" dirty="0">
              <a:cs typeface="B Mitra" pitchFamily="2" charset="-78"/>
            </a:endParaRPr>
          </a:p>
          <a:p>
            <a:pPr marL="0" indent="0" algn="r" rtl="1">
              <a:buNone/>
            </a:pP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195890" y="685800"/>
            <a:ext cx="7024744" cy="5715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3600" b="1" dirty="0" smtClean="0">
                <a:solidFill>
                  <a:schemeClr val="accent2">
                    <a:lumMod val="75000"/>
                  </a:schemeClr>
                </a:solidFill>
                <a:latin typeface="Tir"/>
                <a:cs typeface="Titr" pitchFamily="2" charset="-78"/>
              </a:rPr>
              <a:t>برخي از قابليت هاي سامانه سامان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r"/>
              <a:cs typeface="Titr" pitchFamily="2" charset="-78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19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5" y="1543050"/>
            <a:ext cx="6777317" cy="2857500"/>
          </a:xfrm>
        </p:spPr>
        <p:txBody>
          <a:bodyPr>
            <a:normAutofit fontScale="92500" lnSpcReduction="20000"/>
          </a:bodyPr>
          <a:lstStyle/>
          <a:p>
            <a:pPr lvl="0" algn="just" rtl="1"/>
            <a:r>
              <a:rPr lang="fa-IR" b="1" dirty="0" smtClean="0">
                <a:cs typeface="B Mitra" pitchFamily="2" charset="-78"/>
              </a:rPr>
              <a:t>ارتباط </a:t>
            </a:r>
            <a:r>
              <a:rPr lang="fa-IR" b="1" dirty="0">
                <a:cs typeface="B Mitra" pitchFamily="2" charset="-78"/>
              </a:rPr>
              <a:t>كتابداران و مديران سيستم با </a:t>
            </a:r>
            <a:r>
              <a:rPr lang="fa-IR" b="1" dirty="0" smtClean="0">
                <a:cs typeface="B Mitra" pitchFamily="2" charset="-78"/>
              </a:rPr>
              <a:t>اعضاء </a:t>
            </a:r>
            <a:r>
              <a:rPr lang="fa-IR" b="1" dirty="0">
                <a:cs typeface="B Mitra" pitchFamily="2" charset="-78"/>
              </a:rPr>
              <a:t>و يكديگر با استفاده از سيستم پيام درون سامانه </a:t>
            </a:r>
            <a:r>
              <a:rPr lang="fa-IR" b="1" dirty="0" smtClean="0">
                <a:cs typeface="B Mitra" pitchFamily="2" charset="-78"/>
              </a:rPr>
              <a:t>، </a:t>
            </a:r>
            <a:r>
              <a:rPr lang="fa-IR" b="1" dirty="0">
                <a:cs typeface="B Mitra" pitchFamily="2" charset="-78"/>
              </a:rPr>
              <a:t>پست الكترونيكي و پيامك</a:t>
            </a:r>
            <a:endParaRPr lang="en-US" b="1" dirty="0">
              <a:cs typeface="B Mitra" pitchFamily="2" charset="-78"/>
            </a:endParaRPr>
          </a:p>
          <a:p>
            <a:pPr lvl="0" algn="just" rtl="1"/>
            <a:r>
              <a:rPr lang="fa-IR" b="1" dirty="0">
                <a:cs typeface="B Mitra" pitchFamily="2" charset="-78"/>
              </a:rPr>
              <a:t>استفاده از استاندارد فهرست نويسي مارك براي ورود اطلاعات</a:t>
            </a:r>
            <a:endParaRPr lang="en-US" b="1" dirty="0">
              <a:cs typeface="B Mitra" pitchFamily="2" charset="-78"/>
            </a:endParaRPr>
          </a:p>
          <a:p>
            <a:pPr lvl="0" algn="just" rtl="1"/>
            <a:r>
              <a:rPr lang="fa-IR" b="1" dirty="0">
                <a:cs typeface="B Mitra" pitchFamily="2" charset="-78"/>
              </a:rPr>
              <a:t>مانيتورينگ سامانه به صورت آنلاين</a:t>
            </a:r>
            <a:endParaRPr lang="en-US" b="1" dirty="0">
              <a:cs typeface="B Mitra" pitchFamily="2" charset="-78"/>
            </a:endParaRPr>
          </a:p>
          <a:p>
            <a:pPr lvl="0" algn="just" rtl="1"/>
            <a:r>
              <a:rPr lang="fa-IR" b="1" dirty="0" smtClean="0">
                <a:cs typeface="B Mitra" pitchFamily="2" charset="-78"/>
              </a:rPr>
              <a:t>ارتباط </a:t>
            </a:r>
            <a:r>
              <a:rPr lang="fa-IR" b="1" dirty="0">
                <a:cs typeface="B Mitra" pitchFamily="2" charset="-78"/>
              </a:rPr>
              <a:t>با ساير كتابخانه هاي از طريق </a:t>
            </a:r>
            <a:r>
              <a:rPr lang="en-US" b="1" dirty="0" smtClean="0">
                <a:latin typeface="Times" pitchFamily="18" charset="0"/>
                <a:cs typeface="B Mitra" pitchFamily="2" charset="-78"/>
              </a:rPr>
              <a:t>Z39.50</a:t>
            </a:r>
            <a:endParaRPr lang="fa-IR" b="1" dirty="0" smtClean="0">
              <a:latin typeface="Times" pitchFamily="18" charset="0"/>
              <a:cs typeface="B Mitra" pitchFamily="2" charset="-78"/>
            </a:endParaRPr>
          </a:p>
          <a:p>
            <a:pPr lvl="0" algn="just" rtl="1"/>
            <a:r>
              <a:rPr lang="fa-IR" b="1" dirty="0" smtClean="0">
                <a:latin typeface="Times" pitchFamily="18" charset="0"/>
                <a:cs typeface="B Mitra" pitchFamily="2" charset="-78"/>
              </a:rPr>
              <a:t>اتصال به نرم افزار اطلس كتابخانه ها و امكان عضويت در نزديكترين كتابخانه به محل زندگي يا كار</a:t>
            </a:r>
          </a:p>
          <a:p>
            <a:pPr algn="just" rtl="1"/>
            <a:r>
              <a:rPr lang="fa-IR" b="1" dirty="0" smtClean="0">
                <a:cs typeface="B Mitra" pitchFamily="2" charset="-78"/>
              </a:rPr>
              <a:t>گزارش گيري از كليه عملكردهاي كتابخانه ها و كمك به       سياست گذاري و هدايت فعاليت ها در كتابخانه هاي عمومي </a:t>
            </a:r>
            <a:endParaRPr lang="en-US" b="1" dirty="0" smtClean="0">
              <a:cs typeface="B Mitra" pitchFamily="2" charset="-78"/>
            </a:endParaRPr>
          </a:p>
          <a:p>
            <a:pPr lvl="0" algn="just" rtl="1"/>
            <a:endParaRPr lang="en-US" b="1" dirty="0">
              <a:latin typeface="Times" pitchFamily="18" charset="0"/>
              <a:cs typeface="B Mitra" pitchFamily="2" charset="-78"/>
            </a:endParaRPr>
          </a:p>
          <a:p>
            <a:pPr algn="r" rtl="1"/>
            <a:endParaRPr lang="en-US" dirty="0">
              <a:cs typeface="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 smtClean="0"/>
              <a:t>5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7696200" cy="685800"/>
          </a:xfrm>
        </p:spPr>
        <p:txBody>
          <a:bodyPr>
            <a:normAutofit/>
          </a:bodyPr>
          <a:lstStyle/>
          <a:p>
            <a:pPr algn="r" rtl="1"/>
            <a:r>
              <a:rPr lang="fa-IR" sz="3600" b="1" dirty="0" smtClean="0">
                <a:solidFill>
                  <a:schemeClr val="accent2">
                    <a:lumMod val="75000"/>
                  </a:schemeClr>
                </a:solidFill>
                <a:latin typeface="Tir"/>
                <a:cs typeface="Titr" pitchFamily="2" charset="-78"/>
              </a:rPr>
              <a:t>برخي از قابليت </a:t>
            </a:r>
            <a:r>
              <a:rPr lang="fa-IR" sz="3600" b="1" dirty="0">
                <a:solidFill>
                  <a:schemeClr val="accent2">
                    <a:lumMod val="75000"/>
                  </a:schemeClr>
                </a:solidFill>
                <a:latin typeface="Tir"/>
                <a:cs typeface="Titr" pitchFamily="2" charset="-78"/>
              </a:rPr>
              <a:t>هاي </a:t>
            </a:r>
            <a:r>
              <a:rPr lang="fa-IR" sz="3600" b="1" dirty="0" smtClean="0">
                <a:solidFill>
                  <a:schemeClr val="accent2">
                    <a:lumMod val="75000"/>
                  </a:schemeClr>
                </a:solidFill>
                <a:latin typeface="Tir"/>
                <a:cs typeface="Titr" pitchFamily="2" charset="-78"/>
              </a:rPr>
              <a:t>سامانه سامان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ir"/>
              <a:cs typeface="Tit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61594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66800" y="514351"/>
            <a:ext cx="7010400" cy="609599"/>
          </a:xfrm>
        </p:spPr>
        <p:txBody>
          <a:bodyPr>
            <a:normAutofit/>
          </a:bodyPr>
          <a:lstStyle/>
          <a:p>
            <a:pPr algn="r" rtl="1"/>
            <a:r>
              <a:rPr lang="fa-IR" sz="2900" dirty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گزارشات سامان</a:t>
            </a:r>
            <a:endParaRPr lang="en-US" sz="2900" dirty="0">
              <a:solidFill>
                <a:schemeClr val="accent2">
                  <a:lumMod val="75000"/>
                </a:schemeClr>
              </a:solidFill>
              <a:latin typeface="Ttir"/>
              <a:cs typeface="B Titr" pitchFamily="2" charset="-7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/>
          <a:srcRect l="30000" t="24814" r="31250" b="21111"/>
          <a:stretch/>
        </p:blipFill>
        <p:spPr>
          <a:xfrm>
            <a:off x="1442830" y="1200150"/>
            <a:ext cx="6710570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43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dirty="0" smtClean="0"/>
              <a:t>7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 rotWithShape="1">
          <a:blip r:embed="rId2" cstate="print"/>
          <a:srcRect r="883"/>
          <a:stretch/>
        </p:blipFill>
        <p:spPr bwMode="auto">
          <a:xfrm>
            <a:off x="533400" y="1276350"/>
            <a:ext cx="8077200" cy="36575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056" y="552450"/>
            <a:ext cx="7024744" cy="571500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b="1" dirty="0">
                <a:solidFill>
                  <a:schemeClr val="accent2">
                    <a:lumMod val="75000"/>
                  </a:schemeClr>
                </a:solidFill>
                <a:latin typeface="Tir"/>
                <a:cs typeface="Titr" pitchFamily="2" charset="-78"/>
              </a:rPr>
              <a:t>قابليت هاي </a:t>
            </a:r>
            <a:r>
              <a:rPr lang="fa-IR" b="1" dirty="0" smtClean="0">
                <a:solidFill>
                  <a:schemeClr val="accent2">
                    <a:lumMod val="75000"/>
                  </a:schemeClr>
                </a:solidFill>
                <a:latin typeface="Tir"/>
                <a:cs typeface="Titr" pitchFamily="2" charset="-78"/>
              </a:rPr>
              <a:t>سامان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Tir"/>
              <a:cs typeface="Tit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0202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4350"/>
            <a:ext cx="7010400" cy="609600"/>
          </a:xfrm>
        </p:spPr>
        <p:txBody>
          <a:bodyPr>
            <a:normAutofit/>
          </a:bodyPr>
          <a:lstStyle/>
          <a:p>
            <a:pPr algn="r" rtl="1"/>
            <a:r>
              <a:rPr lang="fa-IR" sz="2900" dirty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داده‌هاي آماري سامان</a:t>
            </a:r>
            <a:endParaRPr lang="en-US" sz="2900" dirty="0">
              <a:solidFill>
                <a:schemeClr val="accent2">
                  <a:lumMod val="75000"/>
                </a:schemeClr>
              </a:solidFill>
              <a:latin typeface="Ttir"/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23950"/>
            <a:ext cx="8305800" cy="3733800"/>
          </a:xfrm>
        </p:spPr>
        <p:txBody>
          <a:bodyPr>
            <a:noAutofit/>
          </a:bodyPr>
          <a:lstStyle/>
          <a:p>
            <a:pPr algn="just" rtl="1"/>
            <a:r>
              <a:rPr lang="fa-IR" sz="1800" dirty="0" smtClean="0">
                <a:cs typeface="B Mitra" pitchFamily="2" charset="-78"/>
              </a:rPr>
              <a:t>در </a:t>
            </a:r>
            <a:r>
              <a:rPr lang="fa-IR" sz="1800" dirty="0">
                <a:cs typeface="B Mitra" pitchFamily="2" charset="-78"/>
              </a:rPr>
              <a:t>حال حاضر به‌طور ميانگين در طول يک روز کاري حدود </a:t>
            </a:r>
            <a:r>
              <a:rPr lang="fa-IR" sz="1800" dirty="0" smtClean="0">
                <a:cs typeface="B Mitra" pitchFamily="2" charset="-78"/>
              </a:rPr>
              <a:t>سه </a:t>
            </a:r>
            <a:r>
              <a:rPr lang="fa-IR" sz="1800" dirty="0">
                <a:cs typeface="B Mitra" pitchFamily="2" charset="-78"/>
              </a:rPr>
              <a:t>ميليون </a:t>
            </a:r>
            <a:r>
              <a:rPr lang="fa-IR" sz="1800" dirty="0" smtClean="0">
                <a:cs typeface="B Mitra" pitchFamily="2" charset="-78"/>
              </a:rPr>
              <a:t>و هفتصد هزار درخواست </a:t>
            </a:r>
            <a:r>
              <a:rPr lang="fa-IR" sz="1800" dirty="0">
                <a:cs typeface="B Mitra" pitchFamily="2" charset="-78"/>
              </a:rPr>
              <a:t>از سوي کاربران به سامان ارسال </a:t>
            </a:r>
            <a:r>
              <a:rPr lang="fa-IR" sz="1800" dirty="0" smtClean="0">
                <a:cs typeface="B Mitra" pitchFamily="2" charset="-78"/>
              </a:rPr>
              <a:t>مي‌شود</a:t>
            </a:r>
            <a:r>
              <a:rPr lang="en-US" sz="1800" dirty="0" smtClean="0">
                <a:cs typeface="B Mitra" pitchFamily="2" charset="-78"/>
              </a:rPr>
              <a:t> </a:t>
            </a:r>
            <a:r>
              <a:rPr lang="fa-IR" sz="1800" dirty="0" smtClean="0">
                <a:cs typeface="B Mitra" pitchFamily="2" charset="-78"/>
              </a:rPr>
              <a:t>که </a:t>
            </a:r>
            <a:r>
              <a:rPr lang="fa-IR" sz="1800" dirty="0">
                <a:cs typeface="B Mitra" pitchFamily="2" charset="-78"/>
              </a:rPr>
              <a:t>متوسط زمان اجراي هر درخواست در حدود 79 هزارم ثانيه است.</a:t>
            </a:r>
            <a:endParaRPr lang="en-US" sz="1800" dirty="0">
              <a:cs typeface="B Mitra" pitchFamily="2" charset="-78"/>
            </a:endParaRPr>
          </a:p>
          <a:p>
            <a:pPr algn="just" rtl="1"/>
            <a:r>
              <a:rPr lang="fa-IR" sz="1800" dirty="0">
                <a:cs typeface="B Mitra" pitchFamily="2" charset="-78"/>
              </a:rPr>
              <a:t>در حال حاضر </a:t>
            </a:r>
            <a:r>
              <a:rPr lang="fa-IR" sz="1800" dirty="0" smtClean="0">
                <a:cs typeface="B Mitra" pitchFamily="2" charset="-78"/>
              </a:rPr>
              <a:t>2350 کتابخانه </a:t>
            </a:r>
            <a:r>
              <a:rPr lang="fa-IR" sz="1800" dirty="0">
                <a:cs typeface="B Mitra" pitchFamily="2" charset="-78"/>
              </a:rPr>
              <a:t>به نرم‌افزار سامان متصل است که از اين تعداد 2108 کتابخانه فعال می‌باشند. همچنين دو کتابخانه مشارکتي و يک کتابخانه مستقل از اين نرم‌افزار استفاده می‌کنند.</a:t>
            </a:r>
            <a:endParaRPr lang="en-US" sz="1800" dirty="0">
              <a:cs typeface="B Mitra" pitchFamily="2" charset="-78"/>
            </a:endParaRPr>
          </a:p>
          <a:p>
            <a:pPr algn="just" rtl="1"/>
            <a:r>
              <a:rPr lang="fa-IR" sz="1800" dirty="0">
                <a:cs typeface="B Mitra" pitchFamily="2" charset="-78"/>
              </a:rPr>
              <a:t>تعداد کل نسخ </a:t>
            </a:r>
            <a:r>
              <a:rPr lang="fa-IR" sz="1800" dirty="0" smtClean="0">
                <a:cs typeface="B Mitra" pitchFamily="2" charset="-78"/>
              </a:rPr>
              <a:t>38086778 از </a:t>
            </a:r>
            <a:r>
              <a:rPr lang="fa-IR" sz="1800" dirty="0">
                <a:cs typeface="B Mitra" pitchFamily="2" charset="-78"/>
              </a:rPr>
              <a:t>2497205 عنوان منبع </a:t>
            </a:r>
            <a:r>
              <a:rPr lang="fa-IR" sz="1800" dirty="0" smtClean="0">
                <a:cs typeface="B Mitra" pitchFamily="2" charset="-78"/>
              </a:rPr>
              <a:t>است </a:t>
            </a:r>
            <a:r>
              <a:rPr lang="fa-IR" sz="1800" dirty="0">
                <a:cs typeface="B Mitra" pitchFamily="2" charset="-78"/>
              </a:rPr>
              <a:t>و به‌طور ميانگين روزانه 12000 منبع به کتابخانه اضافه می‌شود.</a:t>
            </a:r>
            <a:endParaRPr lang="en-US" sz="1800" dirty="0">
              <a:cs typeface="B Mitra" pitchFamily="2" charset="-78"/>
            </a:endParaRPr>
          </a:p>
          <a:p>
            <a:pPr algn="just" rtl="1"/>
            <a:r>
              <a:rPr lang="fa-IR" sz="1800" dirty="0">
                <a:cs typeface="B Mitra" pitchFamily="2" charset="-78"/>
              </a:rPr>
              <a:t>تعداد اعضاي فعال کتابخانه‌ها </a:t>
            </a:r>
            <a:r>
              <a:rPr lang="fa-IR" sz="1800" dirty="0" smtClean="0">
                <a:cs typeface="B Mitra" pitchFamily="2" charset="-78"/>
              </a:rPr>
              <a:t>1678436 نفر </a:t>
            </a:r>
            <a:r>
              <a:rPr lang="fa-IR" sz="1800" dirty="0">
                <a:cs typeface="B Mitra" pitchFamily="2" charset="-78"/>
              </a:rPr>
              <a:t>می‌باشند که از اين تعداد </a:t>
            </a:r>
            <a:r>
              <a:rPr lang="fa-IR" sz="1800" dirty="0" smtClean="0">
                <a:cs typeface="B Mitra" pitchFamily="2" charset="-78"/>
              </a:rPr>
              <a:t>743904 نفر </a:t>
            </a:r>
            <a:r>
              <a:rPr lang="fa-IR" sz="1800" dirty="0">
                <a:cs typeface="B Mitra" pitchFamily="2" charset="-78"/>
              </a:rPr>
              <a:t>آن حداقل براي بار دوم عضويت خود را تمديد </a:t>
            </a:r>
            <a:r>
              <a:rPr lang="fa-IR" sz="1800" dirty="0" smtClean="0">
                <a:cs typeface="B Mitra" pitchFamily="2" charset="-78"/>
              </a:rPr>
              <a:t>کرده‌اند </a:t>
            </a:r>
            <a:r>
              <a:rPr lang="fa-IR" sz="1800" dirty="0">
                <a:cs typeface="B Mitra" pitchFamily="2" charset="-78"/>
              </a:rPr>
              <a:t>و به‌طور ميانگين روزانه 2360 نفر در روز عضويت خود را تمديد و 3134 نفر عضو کتابخانه می‌شوند. همچنين در يک روز 6000 کاربر در نرم‌افزار سامان لاگين می‌کنند و 15000 سيستم به سامان متصل می‌شود و با توجه به اين موضوع که در کتابخانه‌ها چندين نفر از يک سيستم استفاده می‌کنند می‌توان تخمين زد حداقل 50000 نفر از سامان استفاده می‌کنند.</a:t>
            </a:r>
            <a:endParaRPr lang="en-US" sz="1800" dirty="0">
              <a:cs typeface="B Mitra" pitchFamily="2" charset="-78"/>
            </a:endParaRPr>
          </a:p>
          <a:p>
            <a:pPr algn="just" rtl="1"/>
            <a:r>
              <a:rPr lang="fa-IR" sz="1800" dirty="0">
                <a:cs typeface="B Mitra" pitchFamily="2" charset="-78"/>
              </a:rPr>
              <a:t>تعداد کل منابعي که در امانت </a:t>
            </a:r>
            <a:r>
              <a:rPr lang="fa-IR" sz="1800" dirty="0" smtClean="0">
                <a:cs typeface="B Mitra" pitchFamily="2" charset="-78"/>
              </a:rPr>
              <a:t>اعضاء </a:t>
            </a:r>
            <a:r>
              <a:rPr lang="fa-IR" sz="1800" dirty="0">
                <a:cs typeface="B Mitra" pitchFamily="2" charset="-78"/>
              </a:rPr>
              <a:t>است حدود 1400000نسخه است. به‌طور ميانگين در طول يک روز 90000 منبع به امانت می‌رود</a:t>
            </a:r>
            <a:r>
              <a:rPr lang="fa-IR" sz="1800" dirty="0" smtClean="0">
                <a:cs typeface="B Mitra" pitchFamily="2" charset="-78"/>
              </a:rPr>
              <a:t>.</a:t>
            </a:r>
            <a:endParaRPr lang="en-US" sz="1800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0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71500"/>
            <a:ext cx="7024744" cy="571500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latin typeface="Ttir"/>
                <a:cs typeface="B Titr" pitchFamily="2" charset="-78"/>
              </a:rPr>
              <a:t>سامانه ويژه کم بينايان و نابينايان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Ttir"/>
              <a:cs typeface="B Titr" pitchFamily="2" charset="-78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14400" y="1123950"/>
            <a:ext cx="7086600" cy="3733800"/>
          </a:xfrm>
        </p:spPr>
        <p:txBody>
          <a:bodyPr>
            <a:noAutofit/>
          </a:bodyPr>
          <a:lstStyle/>
          <a:p>
            <a:pPr algn="just" rtl="1">
              <a:buClr>
                <a:schemeClr val="accent2">
                  <a:lumMod val="75000"/>
                </a:schemeClr>
              </a:buClr>
            </a:pPr>
            <a:r>
              <a:rPr lang="fa-IR" sz="1600" b="1" dirty="0" smtClean="0">
                <a:cs typeface="B Mitra" pitchFamily="2" charset="-78"/>
              </a:rPr>
              <a:t>هدف از توسعه سامانه نابينايان</a:t>
            </a: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>
                <a:cs typeface="B Mitra" pitchFamily="2" charset="-78"/>
              </a:rPr>
              <a:t>نياز شديد جامعه نابينا و کم بينای کشور به مطالعه و استفاده از </a:t>
            </a:r>
            <a:r>
              <a:rPr lang="fa-IR" sz="1600" b="1" dirty="0" smtClean="0">
                <a:cs typeface="B Mitra" pitchFamily="2" charset="-78"/>
              </a:rPr>
              <a:t>کتب</a:t>
            </a:r>
            <a:endParaRPr lang="en-US" sz="1600" b="1" dirty="0" smtClean="0">
              <a:cs typeface="B Mitra" pitchFamily="2" charset="-78"/>
            </a:endParaRP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 smtClean="0">
                <a:cs typeface="B Mitra" pitchFamily="2" charset="-78"/>
              </a:rPr>
              <a:t>گسترش و توسعه كتابخواني در ميان اقشار نابينا و كم بينا</a:t>
            </a:r>
            <a:endParaRPr lang="fa-IR" sz="1600" b="1" dirty="0">
              <a:cs typeface="B Mitra" pitchFamily="2" charset="-78"/>
            </a:endParaRP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>
                <a:cs typeface="B Mitra" pitchFamily="2" charset="-78"/>
              </a:rPr>
              <a:t>ارائه خدمات كتابخانه اي براي اعضاي نابينا و كم بينا </a:t>
            </a:r>
            <a:endParaRPr lang="en-US" sz="1600" b="1" dirty="0" smtClean="0">
              <a:cs typeface="B Mitra" pitchFamily="2" charset="-78"/>
            </a:endParaRPr>
          </a:p>
          <a:p>
            <a:pPr algn="just" rtl="1"/>
            <a:r>
              <a:rPr lang="fa-IR" sz="1600" b="1" dirty="0">
                <a:cs typeface="B Mitra" pitchFamily="2" charset="-78"/>
              </a:rPr>
              <a:t>امكان مرور و مطالعه صفحات وب سامانه توسط نابينايان و كم بينايان با استفاده از نرم افزارهاي متن‏خوان (مانند </a:t>
            </a:r>
            <a:r>
              <a:rPr lang="en-US" sz="1600" b="1" dirty="0">
                <a:latin typeface="Times New Roman" pitchFamily="18" charset="0"/>
                <a:cs typeface="B Mitra" pitchFamily="2" charset="-78"/>
              </a:rPr>
              <a:t>NVDA</a:t>
            </a:r>
            <a:r>
              <a:rPr lang="fa-IR" sz="1600" b="1" dirty="0">
                <a:cs typeface="B Mitra" pitchFamily="2" charset="-78"/>
              </a:rPr>
              <a:t>)</a:t>
            </a:r>
            <a:endParaRPr lang="en-US" sz="1600" b="1" dirty="0">
              <a:cs typeface="B Mitra" pitchFamily="2" charset="-78"/>
            </a:endParaRPr>
          </a:p>
          <a:p>
            <a:pPr algn="just" rtl="1"/>
            <a:r>
              <a:rPr lang="fa-IR" sz="1600" b="1" dirty="0">
                <a:cs typeface="B Mitra" pitchFamily="2" charset="-78"/>
              </a:rPr>
              <a:t>با اتصال اين سامانه به نرم افزار مديريت كتابداري سامان مي توان علاوه بر يكپارچه كردن فرآيندها و اطلاعات موجود از امكانات موجود در نرم افزار سامان استفاده كرد. امكاناتي مانند:</a:t>
            </a: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 smtClean="0">
                <a:cs typeface="B Mitra" pitchFamily="2" charset="-78"/>
              </a:rPr>
              <a:t>عضويت </a:t>
            </a:r>
            <a:r>
              <a:rPr lang="fa-IR" sz="1600" b="1" dirty="0">
                <a:cs typeface="B Mitra" pitchFamily="2" charset="-78"/>
              </a:rPr>
              <a:t>افراد </a:t>
            </a:r>
            <a:r>
              <a:rPr lang="fa-IR" sz="1600" b="1" dirty="0" smtClean="0">
                <a:cs typeface="B Mitra" pitchFamily="2" charset="-78"/>
              </a:rPr>
              <a:t>نابينا</a:t>
            </a: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 smtClean="0">
                <a:cs typeface="B Mitra" pitchFamily="2" charset="-78"/>
              </a:rPr>
              <a:t>جستجوي </a:t>
            </a:r>
            <a:r>
              <a:rPr lang="fa-IR" sz="1600" b="1" dirty="0">
                <a:cs typeface="B Mitra" pitchFamily="2" charset="-78"/>
              </a:rPr>
              <a:t>منابع بريل و گويا توسط </a:t>
            </a:r>
            <a:r>
              <a:rPr lang="fa-IR" sz="1600" b="1" dirty="0" smtClean="0">
                <a:cs typeface="B Mitra" pitchFamily="2" charset="-78"/>
              </a:rPr>
              <a:t>اعضاء و امکان امانت آنها</a:t>
            </a: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 smtClean="0">
                <a:cs typeface="B Mitra" pitchFamily="2" charset="-78"/>
              </a:rPr>
              <a:t> </a:t>
            </a:r>
            <a:r>
              <a:rPr lang="fa-IR" sz="1600" b="1" dirty="0">
                <a:cs typeface="B Mitra" pitchFamily="2" charset="-78"/>
              </a:rPr>
              <a:t>امكان </a:t>
            </a:r>
            <a:r>
              <a:rPr lang="fa-IR" sz="1600" b="1" dirty="0" smtClean="0">
                <a:cs typeface="B Mitra" pitchFamily="2" charset="-78"/>
              </a:rPr>
              <a:t>رزرو</a:t>
            </a: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 smtClean="0">
                <a:cs typeface="B Mitra" pitchFamily="2" charset="-78"/>
              </a:rPr>
              <a:t>تمديد امانت</a:t>
            </a:r>
          </a:p>
          <a:p>
            <a:pPr lvl="1" algn="just" rtl="1">
              <a:buFont typeface="Wingdings" pitchFamily="2" charset="2"/>
              <a:buChar char="ü"/>
            </a:pPr>
            <a:r>
              <a:rPr lang="fa-IR" sz="1600" b="1" dirty="0" smtClean="0">
                <a:cs typeface="B Mitra" pitchFamily="2" charset="-78"/>
              </a:rPr>
              <a:t>جستجوي </a:t>
            </a:r>
            <a:r>
              <a:rPr lang="fa-IR" sz="1600" b="1" dirty="0">
                <a:cs typeface="B Mitra" pitchFamily="2" charset="-78"/>
              </a:rPr>
              <a:t>كتابخانه </a:t>
            </a:r>
            <a:r>
              <a:rPr lang="fa-IR" sz="1600" b="1" dirty="0" smtClean="0">
                <a:cs typeface="B Mitra" pitchFamily="2" charset="-78"/>
              </a:rPr>
              <a:t>ها</a:t>
            </a:r>
            <a:endParaRPr lang="en-US" sz="1600" b="1" dirty="0">
              <a:cs typeface="B Mitra" pitchFamily="2" charset="-78"/>
            </a:endParaRPr>
          </a:p>
          <a:p>
            <a:pPr algn="r" rtl="1"/>
            <a:endParaRPr lang="fa-IR" sz="1800" dirty="0" smtClean="0">
              <a:cs typeface="2  Nazanin" pitchFamily="2" charset="-78"/>
            </a:endParaRPr>
          </a:p>
          <a:p>
            <a:pPr algn="r" rtl="1"/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8043890" cy="273844"/>
          </a:xfrm>
        </p:spPr>
        <p:txBody>
          <a:bodyPr/>
          <a:lstStyle/>
          <a:p>
            <a:pPr algn="l"/>
            <a:r>
              <a:rPr lang="fa-IR" dirty="0" smtClean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3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7972452" cy="273844"/>
          </a:xfrm>
        </p:spPr>
        <p:txBody>
          <a:bodyPr/>
          <a:lstStyle/>
          <a:p>
            <a:pPr algn="l"/>
            <a:r>
              <a:rPr lang="fa-IR" dirty="0" smtClean="0"/>
              <a:t>10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666750"/>
            <a:ext cx="6781803" cy="40957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11855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276350"/>
            <a:ext cx="6172200" cy="3408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66800" y="566166"/>
            <a:ext cx="7010400" cy="557784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اطلس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 </a:t>
            </a:r>
            <a:r>
              <a:rPr lang="fa-IR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كتابخانه هاي عمومي كشور</a:t>
            </a:r>
            <a:endParaRPr lang="en-US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2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28066"/>
            <a:ext cx="7010400" cy="672084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اطلس كتابخانه هاي عمومي كشور</a:t>
            </a:r>
            <a:endParaRPr lang="en-US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14" y="2495550"/>
            <a:ext cx="4970986" cy="2209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/>
          <p:cNvSpPr/>
          <p:nvPr/>
        </p:nvSpPr>
        <p:spPr>
          <a:xfrm>
            <a:off x="685800" y="1200150"/>
            <a:ext cx="75438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fa-IR" sz="2600" dirty="0">
                <a:cs typeface="B Mitra" pitchFamily="2" charset="-78"/>
              </a:rPr>
              <a:t>اين سامانه جهت امكان جستجو در اطلاعات كتابخانه ها، پيدا كردن نزديك ترين كتابخانه به محل كاربر و نمايش مسير دسترسي به كتابخانه با توجه به موقعيت كاربر پياده سازي گرديده است.</a:t>
            </a:r>
            <a:endParaRPr lang="en-US" sz="2600" dirty="0">
              <a:cs typeface="B Mitra" pitchFamily="2" charset="-78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7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90550"/>
            <a:ext cx="6871340" cy="658002"/>
          </a:xfrm>
        </p:spPr>
        <p:txBody>
          <a:bodyPr>
            <a:normAutofit/>
          </a:bodyPr>
          <a:lstStyle/>
          <a:p>
            <a:pPr algn="r" rtl="1"/>
            <a:r>
              <a:rPr lang="fa-IR" sz="3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اپليکيشن های موبایل</a:t>
            </a:r>
            <a:endParaRPr lang="en-US" sz="3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50"/>
            <a:ext cx="8000999" cy="533400"/>
          </a:xfrm>
        </p:spPr>
        <p:txBody>
          <a:bodyPr>
            <a:normAutofit fontScale="92500"/>
          </a:bodyPr>
          <a:lstStyle/>
          <a:p>
            <a:pPr algn="r" rtl="1"/>
            <a:r>
              <a:rPr lang="fa-IR" sz="2200" dirty="0" smtClean="0">
                <a:cs typeface="B Mitra" pitchFamily="2" charset="-78"/>
              </a:rPr>
              <a:t>طراحی اپلیکیشن هاي موبایل مبتنی بر سیستم عامل اندروید و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fa-IR" sz="2200" dirty="0" smtClean="0">
                <a:cs typeface="B Mitra" pitchFamily="2" charset="-78"/>
              </a:rPr>
              <a:t> جهت ارائه خدمات کتابخانه ای</a:t>
            </a:r>
            <a:endParaRPr lang="en-US" sz="2200" dirty="0">
              <a:cs typeface="B Mitra" pitchFamily="2" charset="-78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809750"/>
            <a:ext cx="1371600" cy="2895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1809750"/>
            <a:ext cx="1447799" cy="28955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9765" y="1809750"/>
            <a:ext cx="1377635" cy="2895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25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90550"/>
            <a:ext cx="6871340" cy="658002"/>
          </a:xfrm>
        </p:spPr>
        <p:txBody>
          <a:bodyPr>
            <a:normAutofit/>
          </a:bodyPr>
          <a:lstStyle/>
          <a:p>
            <a:pPr algn="r" rtl="1"/>
            <a:r>
              <a:rPr lang="fa-IR" sz="35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نجم (نرم افزار جامع تهيه منابع)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202" y="1276350"/>
            <a:ext cx="7741620" cy="914399"/>
          </a:xfrm>
        </p:spPr>
        <p:txBody>
          <a:bodyPr>
            <a:normAutofit/>
          </a:bodyPr>
          <a:lstStyle/>
          <a:p>
            <a:pPr algn="r" rtl="1"/>
            <a:r>
              <a:rPr lang="fa-IR" dirty="0" smtClean="0">
                <a:cs typeface="B Mitra" pitchFamily="2" charset="-78"/>
              </a:rPr>
              <a:t>به منظور افزايش دقت، </a:t>
            </a:r>
            <a:r>
              <a:rPr lang="fa-IR" dirty="0">
                <a:cs typeface="B Mitra" pitchFamily="2" charset="-78"/>
              </a:rPr>
              <a:t>سرعت </a:t>
            </a:r>
            <a:r>
              <a:rPr lang="fa-IR" dirty="0" smtClean="0">
                <a:cs typeface="B Mitra" pitchFamily="2" charset="-78"/>
              </a:rPr>
              <a:t>و </a:t>
            </a:r>
            <a:r>
              <a:rPr lang="fa-IR" dirty="0">
                <a:cs typeface="B Mitra" pitchFamily="2" charset="-78"/>
              </a:rPr>
              <a:t>تسهيل فرآيند </a:t>
            </a:r>
            <a:r>
              <a:rPr lang="fa-IR" dirty="0" smtClean="0">
                <a:cs typeface="B Mitra" pitchFamily="2" charset="-78"/>
              </a:rPr>
              <a:t>تأمين منابع (شامل کارشناسي، تهيه و </a:t>
            </a:r>
            <a:r>
              <a:rPr lang="fa-IR" dirty="0">
                <a:cs typeface="B Mitra" pitchFamily="2" charset="-78"/>
              </a:rPr>
              <a:t>ارسال </a:t>
            </a:r>
            <a:r>
              <a:rPr lang="fa-IR" dirty="0" smtClean="0">
                <a:cs typeface="B Mitra" pitchFamily="2" charset="-78"/>
              </a:rPr>
              <a:t>منابع) سامانه نجم طراحی و پیاده سازی شده است.</a:t>
            </a:r>
            <a:endParaRPr lang="en-US" dirty="0">
              <a:cs typeface="B Mitra" pitchFamily="2" charset="-78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 cstate="print"/>
          <a:srcRect l="25419" t="21405" r="25618" b="27937"/>
          <a:stretch/>
        </p:blipFill>
        <p:spPr bwMode="auto">
          <a:xfrm>
            <a:off x="1698624" y="2190750"/>
            <a:ext cx="5692775" cy="24860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57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90550"/>
            <a:ext cx="6871340" cy="658002"/>
          </a:xfrm>
        </p:spPr>
        <p:txBody>
          <a:bodyPr>
            <a:normAutofit/>
          </a:bodyPr>
          <a:lstStyle/>
          <a:p>
            <a:pPr algn="r" rtl="1"/>
            <a:r>
              <a:rPr lang="fa-IR" sz="35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ویژگی های سامانه نجم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28750"/>
            <a:ext cx="7806222" cy="3276600"/>
          </a:xfrm>
        </p:spPr>
        <p:txBody>
          <a:bodyPr>
            <a:normAutofit/>
          </a:bodyPr>
          <a:lstStyle/>
          <a:p>
            <a:pPr algn="r" rtl="1"/>
            <a:r>
              <a:rPr lang="fa-IR" dirty="0" smtClean="0">
                <a:cs typeface="B Mitra" pitchFamily="2" charset="-78"/>
              </a:rPr>
              <a:t> این سامانه شامل 5 زیر سیستم ذیل می باشد:</a:t>
            </a:r>
          </a:p>
          <a:p>
            <a:pPr algn="r" rtl="1"/>
            <a:endParaRPr lang="fa-IR" sz="1100" dirty="0" smtClean="0">
              <a:cs typeface="B Mitra" pitchFamily="2" charset="-78"/>
            </a:endParaRPr>
          </a:p>
          <a:p>
            <a:pPr lvl="2" algn="r" rtl="1">
              <a:buFont typeface="Wingdings" panose="05000000000000000000" pitchFamily="2" charset="2"/>
              <a:buChar char="Ø"/>
            </a:pPr>
            <a:r>
              <a:rPr lang="fa-IR" dirty="0" smtClean="0">
                <a:cs typeface="B Mitra" pitchFamily="2" charset="-78"/>
              </a:rPr>
              <a:t>منابع : </a:t>
            </a:r>
            <a:r>
              <a:rPr lang="fa-IR" sz="1800" dirty="0" smtClean="0">
                <a:cs typeface="B Mitra" pitchFamily="2" charset="-78"/>
              </a:rPr>
              <a:t>امکان بررسی منابع موجود در کتابخانه ها و ثبت تازه </a:t>
            </a:r>
            <a:r>
              <a:rPr lang="fa-IR" sz="1800" dirty="0">
                <a:cs typeface="B Mitra" pitchFamily="2" charset="-78"/>
              </a:rPr>
              <a:t>های </a:t>
            </a:r>
            <a:r>
              <a:rPr lang="fa-IR" sz="1800" dirty="0" smtClean="0">
                <a:cs typeface="B Mitra" pitchFamily="2" charset="-78"/>
              </a:rPr>
              <a:t>نشر را </a:t>
            </a:r>
            <a:r>
              <a:rPr lang="fa-IR" sz="1800" dirty="0">
                <a:cs typeface="B Mitra" pitchFamily="2" charset="-78"/>
              </a:rPr>
              <a:t>فراهم می </a:t>
            </a:r>
            <a:r>
              <a:rPr lang="fa-IR" sz="1800" dirty="0" smtClean="0">
                <a:cs typeface="B Mitra" pitchFamily="2" charset="-78"/>
              </a:rPr>
              <a:t>سازد.</a:t>
            </a:r>
          </a:p>
          <a:p>
            <a:pPr lvl="2" algn="r" rtl="1">
              <a:buFont typeface="Wingdings" panose="05000000000000000000" pitchFamily="2" charset="2"/>
              <a:buChar char="Ø"/>
            </a:pPr>
            <a:r>
              <a:rPr lang="fa-IR" dirty="0" smtClean="0">
                <a:cs typeface="B Mitra" pitchFamily="2" charset="-78"/>
              </a:rPr>
              <a:t>ارزیابی: </a:t>
            </a:r>
            <a:r>
              <a:rPr lang="fa-IR" sz="1800" dirty="0" smtClean="0">
                <a:cs typeface="B Mitra" pitchFamily="2" charset="-78"/>
              </a:rPr>
              <a:t>امکان کارشناسی منابع و تخصیص گستره توزیع منبع را فراهم می سازد.</a:t>
            </a:r>
          </a:p>
          <a:p>
            <a:pPr lvl="2" algn="r" rtl="1">
              <a:buFont typeface="Wingdings" panose="05000000000000000000" pitchFamily="2" charset="2"/>
              <a:buChar char="Ø"/>
            </a:pPr>
            <a:r>
              <a:rPr lang="fa-IR" dirty="0" smtClean="0">
                <a:cs typeface="B Mitra" pitchFamily="2" charset="-78"/>
              </a:rPr>
              <a:t>تهیه </a:t>
            </a:r>
            <a:r>
              <a:rPr lang="fa-IR" sz="1600" dirty="0" smtClean="0">
                <a:cs typeface="B Mitra" pitchFamily="2" charset="-78"/>
              </a:rPr>
              <a:t>: </a:t>
            </a:r>
            <a:r>
              <a:rPr lang="fa-IR" sz="1800" dirty="0" smtClean="0">
                <a:cs typeface="B Mitra" pitchFamily="2" charset="-78"/>
              </a:rPr>
              <a:t>فرایند های تهيه منابع </a:t>
            </a:r>
            <a:r>
              <a:rPr lang="fa-IR" sz="1800" dirty="0">
                <a:cs typeface="B Mitra" pitchFamily="2" charset="-78"/>
              </a:rPr>
              <a:t>را فراهم می سازد.</a:t>
            </a:r>
          </a:p>
          <a:p>
            <a:pPr lvl="2" algn="r" rtl="1">
              <a:buFont typeface="Wingdings" panose="05000000000000000000" pitchFamily="2" charset="2"/>
              <a:buChar char="Ø"/>
            </a:pPr>
            <a:r>
              <a:rPr lang="fa-IR" dirty="0" smtClean="0">
                <a:cs typeface="B Mitra" pitchFamily="2" charset="-78"/>
              </a:rPr>
              <a:t>مجموعه سازی مشارکتی : </a:t>
            </a:r>
            <a:r>
              <a:rPr lang="fa-IR" sz="1800" dirty="0" smtClean="0">
                <a:cs typeface="B Mitra" pitchFamily="2" charset="-78"/>
              </a:rPr>
              <a:t>امکان نظرسنجی از اعضاء و کتابدارن برای تهیه منابع را </a:t>
            </a:r>
            <a:r>
              <a:rPr lang="fa-IR" sz="1800" dirty="0">
                <a:cs typeface="B Mitra" pitchFamily="2" charset="-78"/>
              </a:rPr>
              <a:t>فراهم می سازد.</a:t>
            </a:r>
          </a:p>
          <a:p>
            <a:pPr lvl="2" algn="r" rtl="1">
              <a:buFont typeface="Wingdings" panose="05000000000000000000" pitchFamily="2" charset="2"/>
              <a:buChar char="Ø"/>
            </a:pPr>
            <a:r>
              <a:rPr lang="fa-IR" dirty="0">
                <a:cs typeface="B Mitra" pitchFamily="2" charset="-78"/>
              </a:rPr>
              <a:t>توزیع : </a:t>
            </a:r>
            <a:r>
              <a:rPr lang="fa-IR" sz="1800" dirty="0" err="1" smtClean="0">
                <a:cs typeface="B Mitra" pitchFamily="2" charset="-78"/>
              </a:rPr>
              <a:t>الگوریتم</a:t>
            </a:r>
            <a:r>
              <a:rPr lang="fa-IR" sz="1800" dirty="0" smtClean="0">
                <a:cs typeface="B Mitra" pitchFamily="2" charset="-78"/>
              </a:rPr>
              <a:t> های لازم جهت بسته بندی منابع و </a:t>
            </a:r>
            <a:r>
              <a:rPr lang="fa-IR" sz="1800" dirty="0" err="1" smtClean="0">
                <a:cs typeface="B Mitra" pitchFamily="2" charset="-78"/>
              </a:rPr>
              <a:t>انبارداری</a:t>
            </a:r>
            <a:r>
              <a:rPr lang="fa-IR" sz="1800" dirty="0" smtClean="0">
                <a:cs typeface="B Mitra" pitchFamily="2" charset="-78"/>
              </a:rPr>
              <a:t> </a:t>
            </a:r>
            <a:r>
              <a:rPr lang="fa-IR" sz="1800" dirty="0" err="1" smtClean="0">
                <a:cs typeface="B Mitra" pitchFamily="2" charset="-78"/>
              </a:rPr>
              <a:t>بهیه</a:t>
            </a:r>
            <a:r>
              <a:rPr lang="fa-IR" sz="1800" dirty="0" smtClean="0">
                <a:cs typeface="B Mitra" pitchFamily="2" charset="-78"/>
              </a:rPr>
              <a:t> را </a:t>
            </a:r>
            <a:r>
              <a:rPr lang="fa-IR" sz="1800" dirty="0">
                <a:cs typeface="B Mitra" pitchFamily="2" charset="-78"/>
              </a:rPr>
              <a:t>فراهم می سازد</a:t>
            </a:r>
            <a:r>
              <a:rPr lang="fa-IR" sz="1800" dirty="0" smtClean="0">
                <a:cs typeface="B Mitra" pitchFamily="2" charset="-78"/>
              </a:rPr>
              <a:t>.</a:t>
            </a:r>
            <a:endParaRPr lang="fa-IR" sz="1800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0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590550"/>
            <a:ext cx="6871340" cy="658002"/>
          </a:xfrm>
        </p:spPr>
        <p:txBody>
          <a:bodyPr>
            <a:normAutofit/>
          </a:bodyPr>
          <a:lstStyle/>
          <a:p>
            <a:pPr algn="r" rtl="1"/>
            <a:r>
              <a:rPr lang="fa-IR" sz="35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توصیه گر 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202" y="1276350"/>
            <a:ext cx="7741620" cy="3429000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fa-IR" dirty="0" smtClean="0">
                <a:cs typeface="B Mitra" pitchFamily="2" charset="-78"/>
              </a:rPr>
              <a:t>پیشنهادهای </a:t>
            </a:r>
            <a:r>
              <a:rPr lang="fa-IR" dirty="0">
                <a:cs typeface="B Mitra" pitchFamily="2" charset="-78"/>
              </a:rPr>
              <a:t>مناسب را به </a:t>
            </a:r>
            <a:r>
              <a:rPr lang="fa-IR" dirty="0" smtClean="0">
                <a:cs typeface="B Mitra" pitchFamily="2" charset="-78"/>
              </a:rPr>
              <a:t>اعضاء و مديران كتابخانه هاي عمومي ارائه می دهد</a:t>
            </a:r>
            <a:r>
              <a:rPr lang="fa-IR" dirty="0">
                <a:cs typeface="B Mitra" pitchFamily="2" charset="-78"/>
              </a:rPr>
              <a:t>. این </a:t>
            </a:r>
            <a:r>
              <a:rPr lang="fa-IR" dirty="0" smtClean="0">
                <a:cs typeface="B Mitra" pitchFamily="2" charset="-78"/>
              </a:rPr>
              <a:t>پیشنهادها منجر </a:t>
            </a:r>
            <a:r>
              <a:rPr lang="fa-IR" dirty="0">
                <a:cs typeface="B Mitra" pitchFamily="2" charset="-78"/>
              </a:rPr>
              <a:t>به سرعت بخشیدن </a:t>
            </a:r>
            <a:r>
              <a:rPr lang="fa-IR" dirty="0" smtClean="0">
                <a:cs typeface="B Mitra" pitchFamily="2" charset="-78"/>
              </a:rPr>
              <a:t>به انتخاب منابع، </a:t>
            </a:r>
            <a:r>
              <a:rPr lang="fa-IR" dirty="0">
                <a:cs typeface="B Mitra" pitchFamily="2" charset="-78"/>
              </a:rPr>
              <a:t>رضایت کاربر و </a:t>
            </a:r>
            <a:r>
              <a:rPr lang="fa-IR" dirty="0" smtClean="0">
                <a:cs typeface="B Mitra" pitchFamily="2" charset="-78"/>
              </a:rPr>
              <a:t>سهولت در تصمیم گیری می شود</a:t>
            </a:r>
            <a:r>
              <a:rPr lang="fa-IR" dirty="0">
                <a:cs typeface="B Mitra" pitchFamily="2" charset="-78"/>
              </a:rPr>
              <a:t>. </a:t>
            </a:r>
          </a:p>
          <a:p>
            <a:pPr marL="361950" lvl="2" indent="0" algn="r" rtl="1">
              <a:buFont typeface="Wingdings" panose="05000000000000000000" pitchFamily="2" charset="2"/>
              <a:buChar char="v"/>
            </a:pPr>
            <a:r>
              <a:rPr lang="fa-IR" b="1" dirty="0" smtClean="0">
                <a:cs typeface="B Mitra" pitchFamily="2" charset="-78"/>
              </a:rPr>
              <a:t>ارائه </a:t>
            </a:r>
            <a:r>
              <a:rPr lang="fa-IR" b="1" dirty="0">
                <a:cs typeface="B Mitra" pitchFamily="2" charset="-78"/>
              </a:rPr>
              <a:t>پیشنهاد به </a:t>
            </a:r>
            <a:r>
              <a:rPr lang="fa-IR" b="1" dirty="0" smtClean="0">
                <a:cs typeface="B Mitra" pitchFamily="2" charset="-78"/>
              </a:rPr>
              <a:t>اعضاء 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منابع امانت برده شده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علاقه </a:t>
            </a:r>
            <a:r>
              <a:rPr lang="fa-IR" sz="1900" dirty="0" err="1">
                <a:cs typeface="B Mitra" pitchFamily="2" charset="-78"/>
              </a:rPr>
              <a:t>مندی</a:t>
            </a:r>
            <a:r>
              <a:rPr lang="fa-IR" sz="1900" dirty="0">
                <a:cs typeface="B Mitra" pitchFamily="2" charset="-78"/>
              </a:rPr>
              <a:t> ها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سابقه جستجو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محل سکونت، گروه سنی، میزان تحصیلات ، جنسیت و ...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امتیاز به منابع ها</a:t>
            </a:r>
          </a:p>
          <a:p>
            <a:pPr marL="542925" lvl="2" indent="-180975" algn="r" rtl="1">
              <a:buFont typeface="Wingdings" panose="05000000000000000000" pitchFamily="2" charset="2"/>
              <a:buChar char="v"/>
            </a:pPr>
            <a:r>
              <a:rPr lang="fa-IR" b="1" dirty="0" smtClean="0">
                <a:cs typeface="B Mitra" pitchFamily="2" charset="-78"/>
              </a:rPr>
              <a:t>ارائه </a:t>
            </a:r>
            <a:r>
              <a:rPr lang="fa-IR" b="1" dirty="0">
                <a:cs typeface="B Mitra" pitchFamily="2" charset="-78"/>
              </a:rPr>
              <a:t>پیشنهاد به مدیران جهت تهیه </a:t>
            </a:r>
            <a:r>
              <a:rPr lang="fa-IR" b="1" dirty="0" smtClean="0">
                <a:cs typeface="B Mitra" pitchFamily="2" charset="-78"/>
              </a:rPr>
              <a:t>محتوا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شناسایی محتواهای پر مخاطب و بی مخاطب</a:t>
            </a:r>
          </a:p>
          <a:p>
            <a:pPr lvl="3" algn="r" rtl="1">
              <a:buFont typeface="Wingdings" panose="05000000000000000000" pitchFamily="2" charset="2"/>
              <a:buChar char="Ø"/>
            </a:pPr>
            <a:r>
              <a:rPr lang="fa-IR" sz="1900" dirty="0">
                <a:cs typeface="B Mitra" pitchFamily="2" charset="-78"/>
              </a:rPr>
              <a:t>تاثیر موقعیت جغرافیای، قومیت، زبان و ...</a:t>
            </a:r>
          </a:p>
          <a:p>
            <a:pPr algn="r" rtl="1"/>
            <a:endParaRPr lang="en-US" dirty="0" smtClean="0"/>
          </a:p>
          <a:p>
            <a:pPr algn="r" rtl="1"/>
            <a:endParaRPr lang="fa-IR" dirty="0" smtClean="0">
              <a:cs typeface="B Mitra" pitchFamily="2" charset="-78"/>
            </a:endParaRPr>
          </a:p>
          <a:p>
            <a:pPr algn="r" rtl="1"/>
            <a:endParaRPr lang="fa-IR" dirty="0">
              <a:cs typeface="B Mitra" pitchFamily="2" charset="-78"/>
            </a:endParaRPr>
          </a:p>
          <a:p>
            <a:pPr algn="r" rtl="1"/>
            <a:endParaRPr lang="fa-IR" dirty="0" smtClean="0">
              <a:cs typeface="B Mitra" pitchFamily="2" charset="-78"/>
            </a:endParaRPr>
          </a:p>
          <a:p>
            <a:pPr algn="r" rtl="1"/>
            <a:endParaRPr lang="en-US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56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66750"/>
            <a:ext cx="6871340" cy="658002"/>
          </a:xfrm>
        </p:spPr>
        <p:txBody>
          <a:bodyPr>
            <a:normAutofit/>
          </a:bodyPr>
          <a:lstStyle/>
          <a:p>
            <a:pPr algn="r" rtl="1"/>
            <a:r>
              <a:rPr lang="ar-SA" sz="35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 افزار </a:t>
            </a:r>
            <a:r>
              <a:rPr lang="ar-SA" sz="35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آمار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1336" y="1428750"/>
            <a:ext cx="3270663" cy="3352800"/>
          </a:xfrm>
        </p:spPr>
        <p:txBody>
          <a:bodyPr/>
          <a:lstStyle/>
          <a:p>
            <a:pPr algn="just" rtl="1"/>
            <a:r>
              <a:rPr lang="ar-SA" dirty="0">
                <a:cs typeface="B Mitra" pitchFamily="2" charset="-78"/>
              </a:rPr>
              <a:t>اين سامانه جهت جمع آوري </a:t>
            </a:r>
            <a:r>
              <a:rPr lang="fa-IR" dirty="0" smtClean="0">
                <a:cs typeface="B Mitra" pitchFamily="2" charset="-78"/>
              </a:rPr>
              <a:t>و گزارشگيري از اقلام </a:t>
            </a:r>
            <a:r>
              <a:rPr lang="ar-SA" dirty="0" smtClean="0">
                <a:cs typeface="B Mitra" pitchFamily="2" charset="-78"/>
              </a:rPr>
              <a:t>آمار</a:t>
            </a:r>
            <a:r>
              <a:rPr lang="fa-IR" dirty="0" smtClean="0">
                <a:cs typeface="B Mitra" pitchFamily="2" charset="-78"/>
              </a:rPr>
              <a:t>ي</a:t>
            </a:r>
            <a:r>
              <a:rPr lang="ar-SA" dirty="0" smtClean="0">
                <a:cs typeface="B Mitra" pitchFamily="2" charset="-78"/>
              </a:rPr>
              <a:t> </a:t>
            </a:r>
            <a:r>
              <a:rPr lang="ar-SA" dirty="0">
                <a:cs typeface="B Mitra" pitchFamily="2" charset="-78"/>
              </a:rPr>
              <a:t>كتابخانه هاي عمومي كشور و تجهيزات آنها طراحي </a:t>
            </a:r>
            <a:r>
              <a:rPr lang="fa-IR" dirty="0" smtClean="0">
                <a:cs typeface="B Mitra" pitchFamily="2" charset="-78"/>
              </a:rPr>
              <a:t>شده </a:t>
            </a:r>
            <a:r>
              <a:rPr lang="ar-SA" dirty="0" smtClean="0">
                <a:cs typeface="B Mitra" pitchFamily="2" charset="-78"/>
              </a:rPr>
              <a:t>است </a:t>
            </a:r>
            <a:r>
              <a:rPr lang="ar-SA" dirty="0">
                <a:cs typeface="B Mitra" pitchFamily="2" charset="-78"/>
              </a:rPr>
              <a:t>كه بصورت آنلاين و در بازه هاي زماني ماهانه و شش ماهه گزارش آن استخراج مي شود</a:t>
            </a:r>
            <a:r>
              <a:rPr lang="ar-SA" dirty="0" smtClean="0">
                <a:cs typeface="B Mitra" pitchFamily="2" charset="-78"/>
              </a:rPr>
              <a:t>.</a:t>
            </a:r>
            <a:endParaRPr lang="en-US" dirty="0" smtClean="0">
              <a:cs typeface="B Mitra" pitchFamily="2" charset="-78"/>
            </a:endParaRPr>
          </a:p>
          <a:p>
            <a:pPr algn="just" rtl="1"/>
            <a:endParaRPr lang="en-US" dirty="0">
              <a:cs typeface="B Mitra" pitchFamily="2" charset="-78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28750"/>
            <a:ext cx="4577937" cy="342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06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590550"/>
            <a:ext cx="7010400" cy="672084"/>
          </a:xfrm>
        </p:spPr>
        <p:txBody>
          <a:bodyPr>
            <a:normAutofit/>
          </a:bodyPr>
          <a:lstStyle/>
          <a:p>
            <a:pPr algn="r" rtl="1"/>
            <a:r>
              <a:rPr lang="ar-SA" sz="28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پورتال نهاد </a:t>
            </a:r>
            <a:r>
              <a:rPr lang="fa-IR" sz="28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كتابخانه هاي عمومي كشور</a:t>
            </a:r>
            <a:endParaRPr lang="en-US" sz="28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609600"/>
          </a:xfrm>
        </p:spPr>
        <p:txBody>
          <a:bodyPr>
            <a:normAutofit fontScale="85000" lnSpcReduction="20000"/>
          </a:bodyPr>
          <a:lstStyle/>
          <a:p>
            <a:pPr algn="just" rtl="1"/>
            <a:r>
              <a:rPr lang="ar-SA" dirty="0" smtClean="0">
                <a:cs typeface="B Mitra" pitchFamily="2" charset="-78"/>
              </a:rPr>
              <a:t>پورتال </a:t>
            </a:r>
            <a:r>
              <a:rPr lang="fa-IR" dirty="0" smtClean="0">
                <a:cs typeface="B Mitra" pitchFamily="2" charset="-78"/>
              </a:rPr>
              <a:t>نهاد كتابخانه هاي عمومي كشور </a:t>
            </a:r>
            <a:r>
              <a:rPr lang="ar-SA" dirty="0" smtClean="0">
                <a:cs typeface="B Mitra" pitchFamily="2" charset="-78"/>
              </a:rPr>
              <a:t>در </a:t>
            </a:r>
            <a:r>
              <a:rPr lang="ar-SA" dirty="0">
                <a:cs typeface="B Mitra" pitchFamily="2" charset="-78"/>
              </a:rPr>
              <a:t>راستاي اطلاع رساني </a:t>
            </a:r>
            <a:r>
              <a:rPr lang="ar-SA" dirty="0" smtClean="0">
                <a:cs typeface="B Mitra" pitchFamily="2" charset="-78"/>
              </a:rPr>
              <a:t>و </a:t>
            </a:r>
            <a:r>
              <a:rPr lang="ar-SA" dirty="0">
                <a:cs typeface="B Mitra" pitchFamily="2" charset="-78"/>
              </a:rPr>
              <a:t>خدمات </a:t>
            </a:r>
            <a:r>
              <a:rPr lang="ar-SA" dirty="0" smtClean="0">
                <a:cs typeface="B Mitra" pitchFamily="2" charset="-78"/>
              </a:rPr>
              <a:t>دهي</a:t>
            </a:r>
            <a:r>
              <a:rPr lang="fa-IR" dirty="0" smtClean="0">
                <a:cs typeface="B Mitra" pitchFamily="2" charset="-78"/>
              </a:rPr>
              <a:t>،</a:t>
            </a:r>
            <a:r>
              <a:rPr lang="ar-SA" dirty="0" smtClean="0">
                <a:cs typeface="B Mitra" pitchFamily="2" charset="-78"/>
              </a:rPr>
              <a:t> </a:t>
            </a:r>
            <a:r>
              <a:rPr lang="fa-IR" dirty="0" smtClean="0">
                <a:cs typeface="B Mitra" pitchFamily="2" charset="-78"/>
              </a:rPr>
              <a:t>در </a:t>
            </a:r>
            <a:r>
              <a:rPr lang="ar-SA" dirty="0" smtClean="0">
                <a:cs typeface="B Mitra" pitchFamily="2" charset="-78"/>
              </a:rPr>
              <a:t>ستاد </a:t>
            </a:r>
            <a:r>
              <a:rPr lang="ar-SA" dirty="0">
                <a:cs typeface="B Mitra" pitchFamily="2" charset="-78"/>
              </a:rPr>
              <a:t>مركزي و 31 </a:t>
            </a:r>
            <a:r>
              <a:rPr lang="fa-IR" dirty="0" smtClean="0">
                <a:cs typeface="B Mitra" pitchFamily="2" charset="-78"/>
              </a:rPr>
              <a:t>     </a:t>
            </a:r>
            <a:r>
              <a:rPr lang="ar-SA" dirty="0" smtClean="0">
                <a:cs typeface="B Mitra" pitchFamily="2" charset="-78"/>
              </a:rPr>
              <a:t>اداره </a:t>
            </a:r>
            <a:r>
              <a:rPr lang="ar-SA" dirty="0">
                <a:cs typeface="B Mitra" pitchFamily="2" charset="-78"/>
              </a:rPr>
              <a:t>كل استاني </a:t>
            </a:r>
            <a:r>
              <a:rPr lang="fa-IR" dirty="0" smtClean="0">
                <a:cs typeface="B Mitra" pitchFamily="2" charset="-78"/>
              </a:rPr>
              <a:t>نهاد </a:t>
            </a:r>
            <a:r>
              <a:rPr lang="ar-SA" dirty="0" smtClean="0">
                <a:cs typeface="B Mitra" pitchFamily="2" charset="-78"/>
              </a:rPr>
              <a:t>ايجاد </a:t>
            </a:r>
            <a:r>
              <a:rPr lang="fa-IR" dirty="0" smtClean="0">
                <a:cs typeface="B Mitra" pitchFamily="2" charset="-78"/>
              </a:rPr>
              <a:t>شده</a:t>
            </a:r>
            <a:r>
              <a:rPr lang="ar-SA" dirty="0" smtClean="0">
                <a:cs typeface="B Mitra" pitchFamily="2" charset="-78"/>
              </a:rPr>
              <a:t> </a:t>
            </a:r>
            <a:r>
              <a:rPr lang="ar-SA" dirty="0">
                <a:cs typeface="B Mitra" pitchFamily="2" charset="-78"/>
              </a:rPr>
              <a:t>است.</a:t>
            </a:r>
            <a:endParaRPr lang="en-US" dirty="0">
              <a:cs typeface="B Mitra" pitchFamily="2" charset="-78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038350"/>
            <a:ext cx="5867400" cy="2667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2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90550"/>
            <a:ext cx="7010400" cy="672084"/>
          </a:xfrm>
        </p:spPr>
        <p:txBody>
          <a:bodyPr>
            <a:normAutofit/>
          </a:bodyPr>
          <a:lstStyle/>
          <a:p>
            <a:pPr algn="r" rtl="1"/>
            <a:r>
              <a:rPr lang="fa-IR" sz="28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جامع خبري </a:t>
            </a:r>
            <a:r>
              <a:rPr lang="ar-SA" sz="28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نهاد</a:t>
            </a:r>
            <a:r>
              <a:rPr lang="fa-IR" sz="28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 كتابخانه هاي عمومي كشور</a:t>
            </a:r>
            <a:endParaRPr lang="en-US" sz="28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720090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ar-SA" dirty="0">
                <a:cs typeface="B Mitra" pitchFamily="2" charset="-78"/>
              </a:rPr>
              <a:t>اين سامانه، </a:t>
            </a:r>
            <a:r>
              <a:rPr lang="ar-SA" dirty="0" smtClean="0">
                <a:cs typeface="B Mitra" pitchFamily="2" charset="-78"/>
              </a:rPr>
              <a:t>جهت </a:t>
            </a:r>
            <a:r>
              <a:rPr lang="ar-SA" dirty="0">
                <a:cs typeface="B Mitra" pitchFamily="2" charset="-78"/>
              </a:rPr>
              <a:t>انجام امور تحريريه خبري و ارائه اخبار تمام حوزه ها بر روي سايت نهاد تهيه شده است.</a:t>
            </a:r>
            <a:endParaRPr lang="en-US" dirty="0">
              <a:cs typeface="B Mitra" pitchFamily="2" charset="-78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944948"/>
            <a:ext cx="5105400" cy="268420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1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666750"/>
            <a:ext cx="7010400" cy="571500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يکپارچه مالی و اداری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1610"/>
            <a:ext cx="7848600" cy="3520440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ar-SA" dirty="0" smtClean="0">
                <a:cs typeface="B Mitra" pitchFamily="2" charset="-78"/>
              </a:rPr>
              <a:t>نرم </a:t>
            </a:r>
            <a:r>
              <a:rPr lang="ar-SA" dirty="0">
                <a:cs typeface="B Mitra" pitchFamily="2" charset="-78"/>
              </a:rPr>
              <a:t>افزار </a:t>
            </a:r>
            <a:r>
              <a:rPr lang="ar-SA" dirty="0" smtClean="0">
                <a:cs typeface="B Mitra" pitchFamily="2" charset="-78"/>
              </a:rPr>
              <a:t>پرسنلي</a:t>
            </a:r>
            <a:endParaRPr lang="ar-SA" dirty="0">
              <a:cs typeface="B Mitra" pitchFamily="2" charset="-78"/>
            </a:endParaRPr>
          </a:p>
          <a:p>
            <a:pPr marL="0" indent="0" algn="r" rtl="1">
              <a:buNone/>
            </a:pPr>
            <a:r>
              <a:rPr lang="fa-IR" dirty="0" smtClean="0">
                <a:cs typeface="B Mitra" pitchFamily="2" charset="-78"/>
              </a:rPr>
              <a:t>	</a:t>
            </a:r>
            <a:r>
              <a:rPr lang="ar-SA" dirty="0" smtClean="0">
                <a:cs typeface="B Mitra" pitchFamily="2" charset="-78"/>
              </a:rPr>
              <a:t>ايجاد </a:t>
            </a:r>
            <a:r>
              <a:rPr lang="ar-SA" dirty="0">
                <a:cs typeface="B Mitra" pitchFamily="2" charset="-78"/>
              </a:rPr>
              <a:t>پرونده هاي كاركنان به صورت الكترونيكي و صدور احكام كليه </a:t>
            </a:r>
            <a:r>
              <a:rPr lang="ar-SA" dirty="0" smtClean="0">
                <a:cs typeface="B Mitra" pitchFamily="2" charset="-78"/>
              </a:rPr>
              <a:t>پرسنل</a:t>
            </a:r>
          </a:p>
          <a:p>
            <a:pPr algn="r" rtl="1"/>
            <a:r>
              <a:rPr lang="ar-SA" dirty="0" smtClean="0">
                <a:cs typeface="B Mitra" pitchFamily="2" charset="-78"/>
              </a:rPr>
              <a:t>نرم افزار حضور و غياب</a:t>
            </a:r>
            <a:endParaRPr lang="fa-IR" dirty="0" smtClean="0">
              <a:cs typeface="B Mitra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Mitra" pitchFamily="2" charset="-78"/>
              </a:rPr>
              <a:t>	</a:t>
            </a:r>
            <a:r>
              <a:rPr lang="ar-SA" dirty="0">
                <a:cs typeface="B Mitra" pitchFamily="2" charset="-78"/>
              </a:rPr>
              <a:t> ثبت ترددهاي افراد از طريق دستگاه هاي كارت ساعت </a:t>
            </a:r>
            <a:r>
              <a:rPr lang="fa-IR" dirty="0" smtClean="0">
                <a:cs typeface="B Mitra" pitchFamily="2" charset="-78"/>
              </a:rPr>
              <a:t>و محاسبه کارکرد</a:t>
            </a:r>
          </a:p>
          <a:p>
            <a:pPr algn="r" rtl="1"/>
            <a:r>
              <a:rPr lang="ar-SA" dirty="0" smtClean="0">
                <a:cs typeface="B Mitra" pitchFamily="2" charset="-78"/>
              </a:rPr>
              <a:t>نرم </a:t>
            </a:r>
            <a:r>
              <a:rPr lang="ar-SA" dirty="0">
                <a:cs typeface="B Mitra" pitchFamily="2" charset="-78"/>
              </a:rPr>
              <a:t>افزار حقوق و </a:t>
            </a:r>
            <a:r>
              <a:rPr lang="ar-SA" dirty="0" smtClean="0">
                <a:cs typeface="B Mitra" pitchFamily="2" charset="-78"/>
              </a:rPr>
              <a:t>دستمزد</a:t>
            </a:r>
            <a:endParaRPr lang="ar-SA" dirty="0">
              <a:cs typeface="B Mitra" pitchFamily="2" charset="-78"/>
            </a:endParaRPr>
          </a:p>
          <a:p>
            <a:pPr marL="0" indent="0" algn="r" rtl="1">
              <a:buNone/>
            </a:pPr>
            <a:r>
              <a:rPr lang="fa-IR" dirty="0" smtClean="0">
                <a:cs typeface="B Mitra" pitchFamily="2" charset="-78"/>
              </a:rPr>
              <a:t>	انجام </a:t>
            </a:r>
            <a:r>
              <a:rPr lang="ar-SA" dirty="0" smtClean="0">
                <a:cs typeface="B Mitra" pitchFamily="2" charset="-78"/>
              </a:rPr>
              <a:t>محاسبات </a:t>
            </a:r>
            <a:r>
              <a:rPr lang="ar-SA" dirty="0">
                <a:cs typeface="B Mitra" pitchFamily="2" charset="-78"/>
              </a:rPr>
              <a:t>حقوق پرسنل </a:t>
            </a:r>
            <a:endParaRPr lang="fa-IR" dirty="0" smtClean="0">
              <a:cs typeface="B Mitra" pitchFamily="2" charset="-78"/>
            </a:endParaRPr>
          </a:p>
          <a:p>
            <a:pPr algn="r" rtl="1"/>
            <a:r>
              <a:rPr lang="ar-SA" dirty="0">
                <a:cs typeface="B Mitra" pitchFamily="2" charset="-78"/>
              </a:rPr>
              <a:t>نرم افزار مالي و </a:t>
            </a:r>
            <a:r>
              <a:rPr lang="ar-SA" dirty="0" smtClean="0">
                <a:cs typeface="B Mitra" pitchFamily="2" charset="-78"/>
              </a:rPr>
              <a:t>حسابداري</a:t>
            </a:r>
            <a:endParaRPr lang="ar-SA" dirty="0">
              <a:cs typeface="B Mitra" pitchFamily="2" charset="-78"/>
            </a:endParaRPr>
          </a:p>
          <a:p>
            <a:pPr marL="0" indent="0" algn="r" rtl="1">
              <a:buNone/>
            </a:pPr>
            <a:r>
              <a:rPr lang="fa-IR" dirty="0" smtClean="0">
                <a:cs typeface="B Mitra" pitchFamily="2" charset="-78"/>
              </a:rPr>
              <a:t>	</a:t>
            </a:r>
            <a:r>
              <a:rPr lang="ar-SA" dirty="0" smtClean="0">
                <a:cs typeface="B Mitra" pitchFamily="2" charset="-78"/>
              </a:rPr>
              <a:t>جهت </a:t>
            </a:r>
            <a:r>
              <a:rPr lang="ar-SA" dirty="0">
                <a:cs typeface="B Mitra" pitchFamily="2" charset="-78"/>
              </a:rPr>
              <a:t>ثبت و صدور اسناد مالي و حسابداري </a:t>
            </a:r>
            <a:r>
              <a:rPr lang="fa-IR" dirty="0" smtClean="0">
                <a:cs typeface="B Mitra" pitchFamily="2" charset="-78"/>
              </a:rPr>
              <a:t>و اجراي حسابداري تعهدي</a:t>
            </a:r>
          </a:p>
          <a:p>
            <a:pPr algn="r" rtl="1"/>
            <a:r>
              <a:rPr lang="fa-IR" dirty="0" smtClean="0">
                <a:cs typeface="B Mitra" pitchFamily="2" charset="-78"/>
              </a:rPr>
              <a:t>نرم افزار </a:t>
            </a:r>
            <a:r>
              <a:rPr lang="fa-IR" dirty="0">
                <a:cs typeface="B Mitra" pitchFamily="2" charset="-78"/>
              </a:rPr>
              <a:t>تشكيلات</a:t>
            </a:r>
          </a:p>
          <a:p>
            <a:pPr marL="0" indent="0" algn="r" rtl="1">
              <a:buNone/>
            </a:pPr>
            <a:r>
              <a:rPr lang="fa-IR" dirty="0">
                <a:cs typeface="B Mitra" pitchFamily="2" charset="-78"/>
              </a:rPr>
              <a:t>	</a:t>
            </a:r>
            <a:r>
              <a:rPr lang="fa-IR" dirty="0" smtClean="0">
                <a:cs typeface="B Mitra" pitchFamily="2" charset="-78"/>
              </a:rPr>
              <a:t>مديریت اطلاعات </a:t>
            </a:r>
            <a:r>
              <a:rPr lang="fa-IR" dirty="0">
                <a:cs typeface="B Mitra" pitchFamily="2" charset="-78"/>
              </a:rPr>
              <a:t>مربوط به تشكيلات و چارت </a:t>
            </a:r>
            <a:r>
              <a:rPr lang="fa-IR" dirty="0" smtClean="0">
                <a:cs typeface="B Mitra" pitchFamily="2" charset="-78"/>
              </a:rPr>
              <a:t>سازمان و وظايف واحدهای مختلف</a:t>
            </a:r>
          </a:p>
          <a:p>
            <a:pPr marL="0" indent="0" algn="r" rtl="1">
              <a:buNone/>
            </a:pPr>
            <a:endParaRPr lang="fa-IR" dirty="0" smtClean="0">
              <a:cs typeface="B Mitra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Mitra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29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590550"/>
            <a:ext cx="7010400" cy="729234"/>
          </a:xfrm>
        </p:spPr>
        <p:txBody>
          <a:bodyPr>
            <a:normAutofit/>
          </a:bodyPr>
          <a:lstStyle/>
          <a:p>
            <a:pPr algn="r" rtl="1"/>
            <a:r>
              <a:rPr lang="ar-SA" sz="35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 افزار مكاتبات الكترونيك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2550"/>
            <a:ext cx="7404739" cy="2631733"/>
          </a:xfrm>
        </p:spPr>
        <p:txBody>
          <a:bodyPr/>
          <a:lstStyle/>
          <a:p>
            <a:pPr algn="just" rtl="1"/>
            <a:r>
              <a:rPr lang="ar-SA" dirty="0">
                <a:cs typeface="B Mitra" pitchFamily="2" charset="-78"/>
              </a:rPr>
              <a:t>اين سامانه جايگزين نامه هاي كاغذي و در جهت حذف فرآيند نامه نگاري كاغذي از سال 87 ايجاد شده كه هم اكنون در ستاد، ادارات كل استاني و ادارات شهرستانها و كتابخانه هاي عمومي كشور راه اندازي شده </a:t>
            </a:r>
            <a:r>
              <a:rPr lang="ar-SA" dirty="0" smtClean="0">
                <a:cs typeface="B Mitra" pitchFamily="2" charset="-78"/>
              </a:rPr>
              <a:t>است.</a:t>
            </a:r>
            <a:endParaRPr lang="ar-SA" dirty="0">
              <a:cs typeface="B Mitra" pitchFamily="2" charset="-78"/>
            </a:endParaRPr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71750"/>
            <a:ext cx="7543800" cy="22274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4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514350"/>
            <a:ext cx="7010400" cy="729234"/>
          </a:xfrm>
        </p:spPr>
        <p:txBody>
          <a:bodyPr>
            <a:normAutofit/>
          </a:bodyPr>
          <a:lstStyle/>
          <a:p>
            <a:pPr algn="r" rtl="1"/>
            <a:r>
              <a:rPr lang="ar-SA" sz="36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 افزار </a:t>
            </a:r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اداره کل منابع انسانی (رفاه)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76350"/>
            <a:ext cx="8229600" cy="3371850"/>
          </a:xfrm>
        </p:spPr>
        <p:txBody>
          <a:bodyPr/>
          <a:lstStyle/>
          <a:p>
            <a:pPr algn="r" rtl="1"/>
            <a:r>
              <a:rPr lang="fa-IR" dirty="0" smtClean="0">
                <a:cs typeface="B Mitra" pitchFamily="2" charset="-78"/>
              </a:rPr>
              <a:t>این نرم افزار برای اطلاع رسانی اخبار اداره کل منابع انسانی و پشتیبانی نهاد و</a:t>
            </a:r>
            <a:r>
              <a:rPr lang="ar-SA" dirty="0" smtClean="0">
                <a:cs typeface="B Mitra" pitchFamily="2" charset="-78"/>
              </a:rPr>
              <a:t> </a:t>
            </a:r>
            <a:r>
              <a:rPr lang="ar-SA" dirty="0">
                <a:cs typeface="B Mitra" pitchFamily="2" charset="-78"/>
              </a:rPr>
              <a:t>انجام كليه فرآيندهاي اداره </a:t>
            </a:r>
            <a:r>
              <a:rPr lang="ar-SA" dirty="0" smtClean="0">
                <a:cs typeface="B Mitra" pitchFamily="2" charset="-78"/>
              </a:rPr>
              <a:t>رفاه</a:t>
            </a:r>
            <a:r>
              <a:rPr lang="fa-IR" dirty="0" smtClean="0">
                <a:cs typeface="B Mitra" pitchFamily="2" charset="-78"/>
              </a:rPr>
              <a:t> بصورت مکانیزه </a:t>
            </a:r>
            <a:r>
              <a:rPr lang="ar-SA" dirty="0" smtClean="0">
                <a:cs typeface="B Mitra" pitchFamily="2" charset="-78"/>
              </a:rPr>
              <a:t>پياده </a:t>
            </a:r>
            <a:r>
              <a:rPr lang="ar-SA" dirty="0">
                <a:cs typeface="B Mitra" pitchFamily="2" charset="-78"/>
              </a:rPr>
              <a:t>سازي شده است.</a:t>
            </a:r>
            <a:endParaRPr lang="en-US" dirty="0">
              <a:cs typeface="B Mitra" pitchFamily="2" charset="-78"/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27589"/>
            <a:ext cx="6096000" cy="257776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14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742950"/>
            <a:ext cx="6871340" cy="457200"/>
          </a:xfrm>
        </p:spPr>
        <p:txBody>
          <a:bodyPr>
            <a:noAutofit/>
          </a:bodyPr>
          <a:lstStyle/>
          <a:p>
            <a:pPr algn="r" rtl="1"/>
            <a:r>
              <a:rPr lang="fa-IR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</a:t>
            </a:r>
            <a:r>
              <a:rPr lang="ar-SA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 </a:t>
            </a:r>
            <a:r>
              <a:rPr lang="ar-SA" sz="24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يكپارچه مديريت فرآيند آموزش و يادگيري الكترونيكي</a:t>
            </a:r>
            <a:endParaRPr lang="en-US" sz="2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730" y="1428750"/>
            <a:ext cx="7931470" cy="3505200"/>
          </a:xfrm>
        </p:spPr>
        <p:txBody>
          <a:bodyPr>
            <a:normAutofit/>
          </a:bodyPr>
          <a:lstStyle/>
          <a:p>
            <a:pPr algn="r" rtl="1"/>
            <a:r>
              <a:rPr lang="ar-SA" sz="2200" dirty="0">
                <a:cs typeface="B Mitra" pitchFamily="2" charset="-78"/>
              </a:rPr>
              <a:t>اين سامانه جهت مديريت آموزشي پرسنل و برگزاري كلاسهاي الكترونيكي راه اندازي شده است</a:t>
            </a:r>
            <a:r>
              <a:rPr lang="ar-SA" sz="2200" dirty="0" smtClean="0">
                <a:cs typeface="B Mitra" pitchFamily="2" charset="-78"/>
              </a:rPr>
              <a:t>.</a:t>
            </a:r>
            <a:endParaRPr lang="ar-SA" sz="2200" dirty="0">
              <a:cs typeface="B Mitra" pitchFamily="2" charset="-78"/>
            </a:endParaRPr>
          </a:p>
        </p:txBody>
      </p:sp>
      <p:pic>
        <p:nvPicPr>
          <p:cNvPr id="4" name="Picture 3" descr="مدیریت یکپارچه آموزش - Google Chrom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85950"/>
            <a:ext cx="7543800" cy="2819400"/>
          </a:xfrm>
          <a:prstGeom prst="rect">
            <a:avLst/>
          </a:prstGeom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742950"/>
            <a:ext cx="6871340" cy="457200"/>
          </a:xfrm>
        </p:spPr>
        <p:txBody>
          <a:bodyPr>
            <a:noAutofit/>
          </a:bodyPr>
          <a:lstStyle/>
          <a:p>
            <a:pPr algn="r" rtl="1"/>
            <a:r>
              <a:rPr lang="fa-IR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برگزاري مدرسه اينترنتي خواندن</a:t>
            </a:r>
            <a:endParaRPr lang="en-US" sz="2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730" y="1428750"/>
            <a:ext cx="7861939" cy="2631733"/>
          </a:xfrm>
        </p:spPr>
        <p:txBody>
          <a:bodyPr>
            <a:normAutofit/>
          </a:bodyPr>
          <a:lstStyle/>
          <a:p>
            <a:pPr algn="r" rtl="1"/>
            <a:r>
              <a:rPr lang="fa-IR" sz="2200" dirty="0" smtClean="0">
                <a:cs typeface="B Mitra" pitchFamily="2" charset="-78"/>
              </a:rPr>
              <a:t>با توجه به نامگذاري سال 95 به عنوان سال خواندن، مدرسه اينترنتي خواندن با حضور بيش از 5000 نفر از كتابداران برگزار شده است. </a:t>
            </a:r>
            <a:endParaRPr lang="ar-SA" sz="2200" dirty="0">
              <a:cs typeface="B Mitra" pitchFamily="2" charset="-78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/>
          <a:srcRect t="6839" b="13678"/>
          <a:stretch/>
        </p:blipFill>
        <p:spPr bwMode="auto">
          <a:xfrm>
            <a:off x="1447800" y="2266950"/>
            <a:ext cx="5943600" cy="2362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742950"/>
            <a:ext cx="6871340" cy="457200"/>
          </a:xfrm>
        </p:spPr>
        <p:txBody>
          <a:bodyPr>
            <a:noAutofit/>
          </a:bodyPr>
          <a:lstStyle/>
          <a:p>
            <a:pPr algn="r" rtl="1"/>
            <a:r>
              <a:rPr lang="fa-IR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پست الکترونيک نهاد </a:t>
            </a:r>
            <a:endParaRPr lang="en-US" sz="2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730" y="1428750"/>
            <a:ext cx="7861939" cy="3276600"/>
          </a:xfrm>
        </p:spPr>
        <p:txBody>
          <a:bodyPr>
            <a:normAutofit/>
          </a:bodyPr>
          <a:lstStyle/>
          <a:p>
            <a:pPr algn="r" rtl="1"/>
            <a:r>
              <a:rPr lang="fa-IR" sz="2200" dirty="0" smtClean="0">
                <a:cs typeface="B Mitra" pitchFamily="2" charset="-78"/>
              </a:rPr>
              <a:t>پست الكترونيك اداري براي كليه پرسنل نهاد كتابخانه هاي عمومي كشور ايجاد شده است.</a:t>
            </a:r>
            <a:endParaRPr lang="ar-SA" sz="2200" dirty="0">
              <a:cs typeface="B Mitra" pitchFamily="2" charset="-78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962150"/>
            <a:ext cx="4675013" cy="25908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4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90550"/>
            <a:ext cx="6871340" cy="581802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 افزارهای يكپارچه پژوهشي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0150"/>
            <a:ext cx="7924800" cy="3505200"/>
          </a:xfrm>
        </p:spPr>
        <p:txBody>
          <a:bodyPr>
            <a:noAutofit/>
          </a:bodyPr>
          <a:lstStyle/>
          <a:p>
            <a:pPr algn="r" rtl="1"/>
            <a:r>
              <a:rPr lang="ar-SA" sz="2000" dirty="0">
                <a:cs typeface="B Mitra" pitchFamily="2" charset="-78"/>
              </a:rPr>
              <a:t>سامانه مديريت </a:t>
            </a:r>
            <a:r>
              <a:rPr lang="ar-SA" sz="2000" dirty="0" smtClean="0">
                <a:cs typeface="B Mitra" pitchFamily="2" charset="-78"/>
              </a:rPr>
              <a:t>نشريه</a:t>
            </a:r>
            <a:r>
              <a:rPr lang="fa-IR" sz="2000" dirty="0" smtClean="0">
                <a:cs typeface="B Mitra" pitchFamily="2" charset="-78"/>
              </a:rPr>
              <a:t> : اين </a:t>
            </a:r>
            <a:r>
              <a:rPr lang="fa-IR" sz="2000" dirty="0">
                <a:cs typeface="B Mitra" pitchFamily="2" charset="-78"/>
              </a:rPr>
              <a:t>سامانه جهت ثبت و مديريت نشريه هاي نهاد مي باشد</a:t>
            </a:r>
            <a:r>
              <a:rPr lang="fa-IR" sz="2000" dirty="0" smtClean="0">
                <a:cs typeface="B Mitra" pitchFamily="2" charset="-78"/>
              </a:rPr>
              <a:t>.</a:t>
            </a:r>
            <a:endParaRPr lang="en-US" sz="2000" dirty="0" smtClean="0">
              <a:cs typeface="B Mitra" pitchFamily="2" charset="-78"/>
            </a:endParaRPr>
          </a:p>
          <a:p>
            <a:pPr algn="r" rtl="1"/>
            <a:r>
              <a:rPr lang="ar-SA" sz="2000" dirty="0">
                <a:cs typeface="B Mitra" pitchFamily="2" charset="-78"/>
              </a:rPr>
              <a:t>سامانه مديريت طرح هاي </a:t>
            </a:r>
            <a:r>
              <a:rPr lang="ar-SA" sz="2000" dirty="0" smtClean="0">
                <a:cs typeface="B Mitra" pitchFamily="2" charset="-78"/>
              </a:rPr>
              <a:t>پژوهشي</a:t>
            </a:r>
            <a:r>
              <a:rPr lang="fa-IR" sz="2000" dirty="0" smtClean="0">
                <a:cs typeface="B Mitra" pitchFamily="2" charset="-78"/>
              </a:rPr>
              <a:t> </a:t>
            </a:r>
          </a:p>
          <a:p>
            <a:pPr marL="365760" lvl="1" indent="0" algn="r" rtl="1">
              <a:buNone/>
            </a:pPr>
            <a:r>
              <a:rPr lang="fa-IR" sz="2000" dirty="0" smtClean="0">
                <a:cs typeface="B Mitra" pitchFamily="2" charset="-78"/>
              </a:rPr>
              <a:t>وظيفه اين سامانه مديريت اطلاع‌رساني، دريافت </a:t>
            </a:r>
            <a:r>
              <a:rPr lang="fa-IR" sz="2000" dirty="0">
                <a:cs typeface="B Mitra" pitchFamily="2" charset="-78"/>
              </a:rPr>
              <a:t>و رهگيري </a:t>
            </a:r>
            <a:r>
              <a:rPr lang="fa-IR" sz="2000" dirty="0" smtClean="0">
                <a:cs typeface="B Mitra" pitchFamily="2" charset="-78"/>
              </a:rPr>
              <a:t>طرح‌هاي </a:t>
            </a:r>
            <a:r>
              <a:rPr lang="fa-IR" sz="2000" dirty="0">
                <a:cs typeface="B Mitra" pitchFamily="2" charset="-78"/>
              </a:rPr>
              <a:t>پژوهشي‌</a:t>
            </a:r>
            <a:r>
              <a:rPr lang="fa-IR" sz="2000" dirty="0" smtClean="0">
                <a:cs typeface="B Mitra" pitchFamily="2" charset="-78"/>
              </a:rPr>
              <a:t> و </a:t>
            </a:r>
            <a:r>
              <a:rPr lang="fa-IR" sz="2000" dirty="0">
                <a:cs typeface="B Mitra" pitchFamily="2" charset="-78"/>
              </a:rPr>
              <a:t>داوري الكترونيك </a:t>
            </a:r>
            <a:r>
              <a:rPr lang="fa-IR" sz="2000" dirty="0" smtClean="0">
                <a:cs typeface="B Mitra" pitchFamily="2" charset="-78"/>
              </a:rPr>
              <a:t>آن‌ها است.</a:t>
            </a:r>
          </a:p>
          <a:p>
            <a:pPr algn="r" rtl="1"/>
            <a:r>
              <a:rPr lang="ar-SA" sz="2000" dirty="0" smtClean="0">
                <a:cs typeface="B Mitra" pitchFamily="2" charset="-78"/>
              </a:rPr>
              <a:t>سامانه </a:t>
            </a:r>
            <a:r>
              <a:rPr lang="ar-SA" sz="2000" dirty="0">
                <a:cs typeface="B Mitra" pitchFamily="2" charset="-78"/>
              </a:rPr>
              <a:t>مديريت داده هاي </a:t>
            </a:r>
            <a:r>
              <a:rPr lang="ar-SA" sz="2000" dirty="0" smtClean="0">
                <a:cs typeface="B Mitra" pitchFamily="2" charset="-78"/>
              </a:rPr>
              <a:t>پژوهشي</a:t>
            </a:r>
            <a:endParaRPr lang="fa-IR" sz="2000" dirty="0" smtClean="0">
              <a:cs typeface="B Mitra" pitchFamily="2" charset="-78"/>
            </a:endParaRPr>
          </a:p>
          <a:p>
            <a:pPr marL="365760" lvl="1" indent="0" algn="r" rtl="1">
              <a:buNone/>
            </a:pPr>
            <a:r>
              <a:rPr lang="fa-IR" sz="2000" dirty="0" smtClean="0">
                <a:cs typeface="B Mitra" pitchFamily="2" charset="-78"/>
              </a:rPr>
              <a:t>اين سامانه به منظور </a:t>
            </a:r>
            <a:r>
              <a:rPr lang="fa-IR" sz="2000" dirty="0">
                <a:cs typeface="B Mitra" pitchFamily="2" charset="-78"/>
              </a:rPr>
              <a:t>سازماندهي و مديريت الكترونيك داده هاي پژوهشي توسعه يافته </a:t>
            </a:r>
            <a:r>
              <a:rPr lang="fa-IR" sz="2000" dirty="0" smtClean="0">
                <a:cs typeface="B Mitra" pitchFamily="2" charset="-78"/>
              </a:rPr>
              <a:t>است.</a:t>
            </a:r>
          </a:p>
          <a:p>
            <a:pPr algn="r" rtl="1"/>
            <a:r>
              <a:rPr lang="ar-SA" sz="2000" dirty="0" smtClean="0">
                <a:cs typeface="B Mitra" pitchFamily="2" charset="-78"/>
              </a:rPr>
              <a:t>سامانه انجمن علمي</a:t>
            </a:r>
            <a:endParaRPr lang="fa-IR" sz="2000" dirty="0" smtClean="0">
              <a:cs typeface="B Mitra" pitchFamily="2" charset="-78"/>
            </a:endParaRPr>
          </a:p>
          <a:p>
            <a:pPr marL="365760" lvl="1" indent="0" algn="r" rtl="1">
              <a:buNone/>
            </a:pPr>
            <a:r>
              <a:rPr lang="fa-IR" sz="1800" dirty="0">
                <a:cs typeface="B Mitra" pitchFamily="2" charset="-78"/>
              </a:rPr>
              <a:t>اين سامانه در واقع بانك اطلاعات متخصصان نهاد است که مديريت انجمن ها را انجام </a:t>
            </a:r>
            <a:r>
              <a:rPr lang="fa-IR" sz="1800" dirty="0" smtClean="0">
                <a:cs typeface="B Mitra" pitchFamily="2" charset="-78"/>
              </a:rPr>
              <a:t>می دهد.</a:t>
            </a:r>
            <a:endParaRPr lang="fa-IR" sz="1800" dirty="0">
              <a:cs typeface="B Mitra" pitchFamily="2" charset="-78"/>
            </a:endParaRPr>
          </a:p>
          <a:p>
            <a:pPr algn="r" rtl="1"/>
            <a:r>
              <a:rPr lang="ar-SA" sz="2000" dirty="0" smtClean="0">
                <a:cs typeface="B Mitra" pitchFamily="2" charset="-78"/>
              </a:rPr>
              <a:t>نرم </a:t>
            </a:r>
            <a:r>
              <a:rPr lang="ar-SA" sz="2000" dirty="0">
                <a:cs typeface="B Mitra" pitchFamily="2" charset="-78"/>
              </a:rPr>
              <a:t>افزار مديريت همايش</a:t>
            </a:r>
            <a:endParaRPr lang="en-US" sz="2000" dirty="0">
              <a:cs typeface="B Mitra" pitchFamily="2" charset="-78"/>
            </a:endParaRPr>
          </a:p>
          <a:p>
            <a:pPr marL="365760" lvl="1" indent="0" algn="r" rtl="1">
              <a:buClr>
                <a:srgbClr val="0BD0D9"/>
              </a:buClr>
              <a:buNone/>
            </a:pPr>
            <a:r>
              <a:rPr lang="ar-SA" sz="2000" dirty="0">
                <a:cs typeface="B Mitra" pitchFamily="2" charset="-78"/>
              </a:rPr>
              <a:t>جهت كنترل برگزاري و مديريت همايش</a:t>
            </a:r>
            <a:r>
              <a:rPr lang="fa-IR" sz="2000" dirty="0">
                <a:cs typeface="B Mitra" pitchFamily="2" charset="-78"/>
              </a:rPr>
              <a:t> </a:t>
            </a:r>
            <a:r>
              <a:rPr lang="ar-SA" sz="2000" dirty="0">
                <a:cs typeface="B Mitra" pitchFamily="2" charset="-78"/>
              </a:rPr>
              <a:t>ها</a:t>
            </a:r>
            <a:r>
              <a:rPr lang="fa-IR" sz="2000" dirty="0">
                <a:cs typeface="B Mitra" pitchFamily="2" charset="-78"/>
              </a:rPr>
              <a:t>ی نهاد</a:t>
            </a:r>
            <a:r>
              <a:rPr lang="ar-SA" sz="2000" dirty="0">
                <a:cs typeface="B Mitra" pitchFamily="2" charset="-78"/>
              </a:rPr>
              <a:t> </a:t>
            </a:r>
            <a:r>
              <a:rPr lang="fa-IR" sz="2000" dirty="0">
                <a:cs typeface="B Mitra" pitchFamily="2" charset="-78"/>
              </a:rPr>
              <a:t>اين سامانه </a:t>
            </a:r>
            <a:r>
              <a:rPr lang="ar-SA" sz="2000" dirty="0">
                <a:cs typeface="B Mitra" pitchFamily="2" charset="-78"/>
              </a:rPr>
              <a:t>راه اندازي گرديده </a:t>
            </a:r>
            <a:r>
              <a:rPr lang="ar-SA" sz="2000" dirty="0" smtClean="0">
                <a:cs typeface="B Mitra" pitchFamily="2" charset="-78"/>
              </a:rPr>
              <a:t>است</a:t>
            </a:r>
            <a:r>
              <a:rPr lang="fa-IR" sz="2000" dirty="0" smtClean="0">
                <a:cs typeface="B Mitra" pitchFamily="2" charset="-78"/>
              </a:rPr>
              <a:t>.</a:t>
            </a:r>
            <a:endParaRPr lang="ar-SA" sz="1800" dirty="0" smtClean="0">
              <a:solidFill>
                <a:schemeClr val="accent4">
                  <a:lumMod val="50000"/>
                </a:schemeClr>
              </a:solidFill>
              <a:cs typeface="B Mitra" pitchFamily="2" charset="-78"/>
            </a:endParaRPr>
          </a:p>
          <a:p>
            <a:pPr marL="365760" lvl="1" indent="0" algn="r" rtl="1">
              <a:buClr>
                <a:srgbClr val="0BD0D9"/>
              </a:buClr>
              <a:buNone/>
            </a:pPr>
            <a:r>
              <a:rPr lang="ar-SA" sz="1800" dirty="0" smtClean="0">
                <a:solidFill>
                  <a:schemeClr val="accent4">
                    <a:lumMod val="50000"/>
                  </a:schemeClr>
                </a:solidFill>
                <a:cs typeface="B Mitra" pitchFamily="2" charset="-78"/>
              </a:rPr>
              <a:t>.</a:t>
            </a:r>
            <a:endParaRPr lang="fa-IR" sz="2000" dirty="0" smtClean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05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تحقیقات اطلاع‌رسانی و کتابخانه‌های عمومی - Google Chrom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352551"/>
            <a:ext cx="8001000" cy="3428999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0" y="590550"/>
            <a:ext cx="6871340" cy="5818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 افزارهای اداره کل پژوهش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1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00150"/>
            <a:ext cx="8001000" cy="1001302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ar-SA" dirty="0">
                <a:cs typeface="B Mitra" pitchFamily="2" charset="-78"/>
              </a:rPr>
              <a:t>نرم افزار تشويق </a:t>
            </a:r>
            <a:r>
              <a:rPr lang="ar-SA" dirty="0" smtClean="0">
                <a:cs typeface="B Mitra" pitchFamily="2" charset="-78"/>
              </a:rPr>
              <a:t>پژوهشگران</a:t>
            </a:r>
            <a:endParaRPr lang="fa-IR" dirty="0" smtClean="0">
              <a:cs typeface="B Mitra" pitchFamily="2" charset="-78"/>
            </a:endParaRPr>
          </a:p>
          <a:p>
            <a:pPr marL="365760" lvl="1" indent="0" algn="just" rtl="1">
              <a:buNone/>
            </a:pPr>
            <a:r>
              <a:rPr lang="ar-SA" dirty="0">
                <a:cs typeface="B Mitra" pitchFamily="2" charset="-78"/>
              </a:rPr>
              <a:t>اين سامانه </a:t>
            </a:r>
            <a:r>
              <a:rPr lang="ar-SA" dirty="0" smtClean="0">
                <a:cs typeface="B Mitra" pitchFamily="2" charset="-78"/>
              </a:rPr>
              <a:t>ج</a:t>
            </a:r>
            <a:r>
              <a:rPr lang="fa-IR" dirty="0" smtClean="0">
                <a:cs typeface="B Mitra" pitchFamily="2" charset="-78"/>
              </a:rPr>
              <a:t>هت دریافت کارهای علمی کتابداران، محاسبه نمرات آنها برحسب امتیازات ازپیش تعریف شده و </a:t>
            </a:r>
            <a:r>
              <a:rPr lang="ar-SA" dirty="0" smtClean="0">
                <a:cs typeface="B Mitra" pitchFamily="2" charset="-78"/>
              </a:rPr>
              <a:t>تشويق </a:t>
            </a:r>
            <a:r>
              <a:rPr lang="fa-IR" dirty="0" smtClean="0">
                <a:cs typeface="B Mitra" pitchFamily="2" charset="-78"/>
              </a:rPr>
              <a:t>کتابداران </a:t>
            </a:r>
            <a:r>
              <a:rPr lang="ar-SA" dirty="0" smtClean="0">
                <a:cs typeface="B Mitra" pitchFamily="2" charset="-78"/>
              </a:rPr>
              <a:t>پژوهشگر راه </a:t>
            </a:r>
            <a:r>
              <a:rPr lang="ar-SA" dirty="0">
                <a:cs typeface="B Mitra" pitchFamily="2" charset="-78"/>
              </a:rPr>
              <a:t>اندازي شده است.</a:t>
            </a:r>
            <a:endParaRPr lang="en-US" dirty="0">
              <a:cs typeface="B Mitra" pitchFamily="2" charset="-78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114550"/>
            <a:ext cx="4609652" cy="27059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524000" y="590550"/>
            <a:ext cx="6871340" cy="5818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3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 افزارهای اداره کل پژوهش</a:t>
            </a:r>
            <a:endParaRPr lang="en-US" sz="3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4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66750"/>
            <a:ext cx="7010400" cy="672084"/>
          </a:xfrm>
        </p:spPr>
        <p:txBody>
          <a:bodyPr>
            <a:normAutofit/>
          </a:bodyPr>
          <a:lstStyle/>
          <a:p>
            <a:pPr algn="r" rtl="1"/>
            <a:r>
              <a:rPr lang="fa-IR" sz="35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نرم‌افزار مديريت پروژه‌هاي عمراني نهاد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2740"/>
            <a:ext cx="7589221" cy="2631733"/>
          </a:xfrm>
        </p:spPr>
        <p:txBody>
          <a:bodyPr>
            <a:normAutofit fontScale="92500"/>
          </a:bodyPr>
          <a:lstStyle/>
          <a:p>
            <a:pPr algn="just" rtl="1"/>
            <a:r>
              <a:rPr lang="fa-IR" dirty="0">
                <a:cs typeface="B Mitra" pitchFamily="2" charset="-78"/>
              </a:rPr>
              <a:t>با توجه به فعالیت‌های مختلف عمراني نهاد کتابخانه‌ها درزمینه احداث، توسعه و انجام تعميرات در </a:t>
            </a:r>
            <a:r>
              <a:rPr lang="fa-IR" dirty="0" smtClean="0">
                <a:cs typeface="B Mitra" pitchFamily="2" charset="-78"/>
              </a:rPr>
              <a:t>کتابخانه هاي </a:t>
            </a:r>
            <a:r>
              <a:rPr lang="fa-IR" dirty="0">
                <a:cs typeface="B Mitra" pitchFamily="2" charset="-78"/>
              </a:rPr>
              <a:t>عمومي سراسر کشور و لزوم نظارت بر نحوه اجراي کار توسط پيمانکاران، احصاء ميزان پيشرفت کاري پروژه‌ها و برآورد هزینه‌های مربوط به آن‌ها توسط اداره كل امور عمراني نهاد نياز به يک نرم‌افزار تخصصي </a:t>
            </a:r>
            <a:r>
              <a:rPr lang="fa-IR" dirty="0" smtClean="0">
                <a:cs typeface="B Mitra" pitchFamily="2" charset="-78"/>
              </a:rPr>
              <a:t>می باشد.</a:t>
            </a:r>
            <a:endParaRPr lang="en-US" dirty="0" smtClean="0">
              <a:cs typeface="B Mitra" pitchFamily="2" charset="-78"/>
            </a:endParaRPr>
          </a:p>
          <a:p>
            <a:pPr algn="just" rtl="1"/>
            <a:endParaRPr lang="fa-IR" dirty="0" smtClean="0">
              <a:cs typeface="B Mitra" pitchFamily="2" charset="-78"/>
            </a:endParaRPr>
          </a:p>
          <a:p>
            <a:pPr algn="just" rtl="1"/>
            <a:r>
              <a:rPr lang="fa-IR" dirty="0" smtClean="0">
                <a:cs typeface="B Mitra" pitchFamily="2" charset="-78"/>
              </a:rPr>
              <a:t>نرم‌افزار </a:t>
            </a:r>
            <a:r>
              <a:rPr lang="fa-IR" dirty="0">
                <a:cs typeface="B Mitra" pitchFamily="2" charset="-78"/>
              </a:rPr>
              <a:t>مديريت </a:t>
            </a:r>
            <a:r>
              <a:rPr lang="fa-IR" dirty="0" smtClean="0">
                <a:cs typeface="B Mitra" pitchFamily="2" charset="-78"/>
              </a:rPr>
              <a:t>پروژه‌هاي </a:t>
            </a:r>
            <a:r>
              <a:rPr lang="fa-IR" dirty="0">
                <a:cs typeface="B Mitra" pitchFamily="2" charset="-78"/>
              </a:rPr>
              <a:t>عمراني نهاد سامانه‌ای تحت </a:t>
            </a:r>
            <a:r>
              <a:rPr lang="fa-IR" dirty="0" smtClean="0">
                <a:cs typeface="B Mitra" pitchFamily="2" charset="-78"/>
              </a:rPr>
              <a:t>وب </a:t>
            </a:r>
            <a:r>
              <a:rPr lang="fa-IR" dirty="0">
                <a:cs typeface="B Mitra" pitchFamily="2" charset="-78"/>
              </a:rPr>
              <a:t>است كه </a:t>
            </a:r>
            <a:r>
              <a:rPr lang="fa-IR" dirty="0" smtClean="0">
                <a:cs typeface="B Mitra" pitchFamily="2" charset="-78"/>
              </a:rPr>
              <a:t>داراي </a:t>
            </a:r>
            <a:r>
              <a:rPr lang="fa-IR" dirty="0">
                <a:cs typeface="B Mitra" pitchFamily="2" charset="-78"/>
              </a:rPr>
              <a:t>امكانات تعريف پيمان، متره، متره پيمان، برآورد، برآورد پيمان، صورت‌وضعیت، تعديل و گردش كار است</a:t>
            </a:r>
            <a:r>
              <a:rPr lang="fa-IR" dirty="0" smtClean="0">
                <a:cs typeface="B Mitra" pitchFamily="2" charset="-78"/>
              </a:rPr>
              <a:t>.</a:t>
            </a:r>
            <a:endParaRPr lang="en-US" dirty="0">
              <a:cs typeface="B Mitra" pitchFamily="2" charset="-78"/>
            </a:endParaRPr>
          </a:p>
          <a:p>
            <a:pPr marL="0" indent="0" algn="r" rtl="1">
              <a:buNone/>
            </a:pPr>
            <a:endParaRPr lang="en-US" dirty="0"/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29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49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276350"/>
            <a:ext cx="6096000" cy="3429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295400" y="514350"/>
            <a:ext cx="7010400" cy="672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35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نرم‌افزار مديريت پروژه‌هاي عمراني نهاد</a:t>
            </a:r>
            <a:endParaRPr lang="en-US" sz="35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51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4640" y="666750"/>
            <a:ext cx="7132020" cy="581802"/>
          </a:xfrm>
        </p:spPr>
        <p:txBody>
          <a:bodyPr>
            <a:noAutofit/>
          </a:bodyPr>
          <a:lstStyle/>
          <a:p>
            <a:pPr algn="r" rtl="1"/>
            <a:r>
              <a:rPr lang="fa-IR" sz="28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سامانه جامع مديريت و </a:t>
            </a:r>
            <a:r>
              <a:rPr lang="fa-IR" sz="28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پشتيباني تجهيزات رايانه اي</a:t>
            </a:r>
            <a:endParaRPr lang="en-US" sz="28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8712" y="1276350"/>
            <a:ext cx="7696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/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نظر به حجم ارائه خدمات در حوزه فناوري اطلاعات و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به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‌منظور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سهولت و تسريع در امور مربوط به تأمین، نگهداري و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پشتيباني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تجهيزات رایانه‌ای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نهاد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و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همچنين مكانيزاسيون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ارائه خدمات پشتيباني به همكاران،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این نرم افزار تهیه و راه اندازی شده است.</a:t>
            </a:r>
            <a:endParaRPr lang="en-US" sz="2200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</p:txBody>
      </p:sp>
      <p:pic>
        <p:nvPicPr>
          <p:cNvPr id="5" name="Picture 4" descr="گزارش خلاصه عملکرد در نرم افزار Help desk گاما">
            <a:hlinkClick r:id="rId2" tooltip="&quot;&quot;"/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2533650"/>
            <a:ext cx="6477000" cy="21717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5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66750"/>
            <a:ext cx="6871340" cy="962802"/>
          </a:xfrm>
        </p:spPr>
        <p:txBody>
          <a:bodyPr>
            <a:normAutofit/>
          </a:bodyPr>
          <a:lstStyle/>
          <a:p>
            <a:pPr algn="ctr" rtl="1"/>
            <a:r>
              <a:rPr lang="fa-IR" sz="26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دريافت </a:t>
            </a:r>
            <a:r>
              <a:rPr lang="fa-IR" sz="2600" b="1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سرويس كومبو </a:t>
            </a:r>
            <a:r>
              <a:rPr lang="fa-IR" sz="26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در كتابخانه هاي عمومي كشور (اينترنت </a:t>
            </a:r>
            <a:r>
              <a:rPr lang="fa-IR" sz="2600" b="1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و </a:t>
            </a:r>
            <a:r>
              <a:rPr lang="fa-IR" sz="26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اينترانت همزمان)</a:t>
            </a:r>
            <a:endParaRPr lang="en-US" sz="2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42740"/>
            <a:ext cx="7589220" cy="2631733"/>
          </a:xfrm>
        </p:spPr>
        <p:txBody>
          <a:bodyPr>
            <a:normAutofit lnSpcReduction="10000"/>
          </a:bodyPr>
          <a:lstStyle/>
          <a:p>
            <a:pPr algn="just" rtl="1"/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با انعقاد تفاهم‌نامه سه‌جانبه با شركت مخابرات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و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سازمان فناوري اطلاعات، راه‌اندازی شبكه اختصاصي نهاد کتابخانه‌های عمومي كشور در دستور كار اداره كل فناوري اطلاعات نهاد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قرارگرفت</a:t>
            </a:r>
            <a:r>
              <a:rPr lang="en-US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.</a:t>
            </a:r>
          </a:p>
          <a:p>
            <a:pPr algn="just" rtl="1"/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هدف از اين طرح ايجاد شبكه اختصاصي نهاد کتابخانه‌های عمومي كشور به‌منظور افزايش سرعت و كيفيت فرآيند چرخه اطلاعات سازماني، ارائه انواع سرویس‌ها و خدمات نرم‌افزاري مرتبط با فعالیت‌های نهاد، ارائه خدمات در حداقل زمان ممكن و همچنين كاهش هزینه‌ها در راستاي چشم‌انداز و اهداف كلان نهاد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است. تاكنون در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حدود 1000 كتابخانه عمومي در سراسر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كشور، </a:t>
            </a:r>
            <a:r>
              <a:rPr lang="fa-IR" sz="22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سرويس كومبو دريافت شده </a:t>
            </a:r>
            <a:r>
              <a:rPr lang="fa-IR" sz="22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است.</a:t>
            </a:r>
            <a:endParaRPr lang="fa-IR" sz="2200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  <a:p>
            <a:pPr marL="68580" indent="0" algn="r" rtl="1">
              <a:buNone/>
            </a:pPr>
            <a:endParaRPr lang="en-US" sz="2200" dirty="0" smtClean="0">
              <a:cs typeface="B Mitra" pitchFamily="2" charset="-78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43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66750"/>
            <a:ext cx="6871340" cy="838200"/>
          </a:xfrm>
        </p:spPr>
        <p:txBody>
          <a:bodyPr>
            <a:normAutofit/>
          </a:bodyPr>
          <a:lstStyle/>
          <a:p>
            <a:pPr algn="ctr" rtl="1"/>
            <a:r>
              <a:rPr lang="fa-IR" sz="22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اتصال كتابخانه هاي عمومي بر روي بستر امن اينترانت و راه‌اندازی </a:t>
            </a:r>
            <a:r>
              <a:rPr lang="fa-IR" sz="2200" b="1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شبكه </a:t>
            </a:r>
            <a:r>
              <a:rPr lang="fa-IR" sz="22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اختصاصي نهاد</a:t>
            </a:r>
            <a:endParaRPr lang="fa-IR" sz="2200" dirty="0">
              <a:cs typeface="B Mitra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04950"/>
            <a:ext cx="7817821" cy="3352800"/>
          </a:xfrm>
        </p:spPr>
        <p:txBody>
          <a:bodyPr>
            <a:noAutofit/>
          </a:bodyPr>
          <a:lstStyle/>
          <a:p>
            <a:pPr algn="just" rtl="1"/>
            <a:r>
              <a:rPr lang="fa-IR" sz="1500" b="1" dirty="0" smtClean="0">
                <a:cs typeface="B Mitra" pitchFamily="2" charset="-78"/>
              </a:rPr>
              <a:t>در راستاي ارائه بهتر خدمات و سرویس‌رساني فني در سطح كتابخانه هاي عمومي و تسهيل فرآيند رفع مشكلات كامپيوتري كتابخانه ها، راه اندازي شبكه بين كتابخانه اي بر روي بستر امن اينترانت آغاز شده است. </a:t>
            </a:r>
          </a:p>
          <a:p>
            <a:pPr algn="just" rtl="1"/>
            <a:r>
              <a:rPr lang="fa-IR" sz="1500" b="1" dirty="0" smtClean="0">
                <a:cs typeface="B Mitra" pitchFamily="2" charset="-78"/>
              </a:rPr>
              <a:t>برخي از مزايا و قابليتهاي اين طرح:</a:t>
            </a:r>
          </a:p>
          <a:p>
            <a:pPr lvl="0" algn="just" rtl="1">
              <a:buFontTx/>
              <a:buChar char="-"/>
            </a:pPr>
            <a:r>
              <a:rPr lang="ar-SA" sz="1500" b="1" dirty="0">
                <a:cs typeface="B Mitra" pitchFamily="2" charset="-78"/>
              </a:rPr>
              <a:t>مکانیزاسیون و گردش كليه مكاتبات به‌صورت الكترونيك در سطح سازماني و بين سازماني در حداقل زمان ممكن</a:t>
            </a:r>
            <a:endParaRPr lang="en-US" sz="1500" b="1" dirty="0">
              <a:cs typeface="B Mitra" pitchFamily="2" charset="-78"/>
            </a:endParaRPr>
          </a:p>
          <a:p>
            <a:pPr algn="just" rtl="1">
              <a:buFontTx/>
              <a:buChar char="-"/>
            </a:pPr>
            <a:r>
              <a:rPr lang="fa-IR" sz="1500" b="1" dirty="0" smtClean="0">
                <a:cs typeface="B Mitra" pitchFamily="2" charset="-78"/>
              </a:rPr>
              <a:t>بسترسازي براي استفاده </a:t>
            </a:r>
            <a:r>
              <a:rPr lang="fa-IR" sz="1500" b="1" dirty="0">
                <a:cs typeface="B Mitra" pitchFamily="2" charset="-78"/>
              </a:rPr>
              <a:t>نرم‌افزارهاي سازماني شامل اتوماسيون اداري، سيستمهاي اداري پرسنلي و </a:t>
            </a:r>
            <a:r>
              <a:rPr lang="fa-IR" sz="1500" b="1" dirty="0" smtClean="0">
                <a:cs typeface="B Mitra" pitchFamily="2" charset="-78"/>
              </a:rPr>
              <a:t>مالي، و </a:t>
            </a:r>
            <a:r>
              <a:rPr lang="fa-IR" sz="1500" b="1" dirty="0">
                <a:cs typeface="B Mitra" pitchFamily="2" charset="-78"/>
              </a:rPr>
              <a:t>انبار، </a:t>
            </a:r>
            <a:r>
              <a:rPr lang="fa-IR" sz="1500" b="1" dirty="0" smtClean="0">
                <a:cs typeface="B Mitra" pitchFamily="2" charset="-78"/>
              </a:rPr>
              <a:t>آمار</a:t>
            </a:r>
            <a:r>
              <a:rPr lang="fa-IR" sz="1500" b="1" dirty="0">
                <a:cs typeface="B Mitra" pitchFamily="2" charset="-78"/>
              </a:rPr>
              <a:t>، نرم‌افزار </a:t>
            </a:r>
            <a:r>
              <a:rPr lang="fa-IR" sz="1500" b="1" dirty="0" smtClean="0">
                <a:cs typeface="B Mitra" pitchFamily="2" charset="-78"/>
              </a:rPr>
              <a:t>مديريت كتابخانه دسترسي آسانتر و رفع مشكلات سيستمهاي كتابداران در اسرع وقت</a:t>
            </a:r>
          </a:p>
          <a:p>
            <a:pPr algn="just" rtl="1">
              <a:buFontTx/>
              <a:buChar char="-"/>
            </a:pPr>
            <a:r>
              <a:rPr lang="fa-IR" sz="1500" b="1" dirty="0" smtClean="0">
                <a:cs typeface="B Mitra" pitchFamily="2" charset="-78"/>
              </a:rPr>
              <a:t>دسترسي به </a:t>
            </a:r>
            <a:r>
              <a:rPr lang="fa-IR" sz="1500" b="1" dirty="0">
                <a:cs typeface="B Mitra" pitchFamily="2" charset="-78"/>
              </a:rPr>
              <a:t>سیستم اتوماسیون اداری در سطح کتابخانه‌ها بر روی بستر امن بین </a:t>
            </a:r>
            <a:r>
              <a:rPr lang="fa-IR" sz="1500" b="1" dirty="0" smtClean="0">
                <a:cs typeface="B Mitra" pitchFamily="2" charset="-78"/>
              </a:rPr>
              <a:t>کتابخانه‌ای</a:t>
            </a:r>
          </a:p>
          <a:p>
            <a:pPr algn="just" rtl="1">
              <a:buFontTx/>
              <a:buChar char="-"/>
            </a:pPr>
            <a:r>
              <a:rPr lang="fa-IR" sz="1500" b="1" dirty="0" smtClean="0">
                <a:cs typeface="B Mitra" pitchFamily="2" charset="-78"/>
              </a:rPr>
              <a:t>ارتباط </a:t>
            </a:r>
            <a:r>
              <a:rPr lang="fa-IR" sz="1500" b="1" dirty="0">
                <a:cs typeface="B Mitra" pitchFamily="2" charset="-78"/>
              </a:rPr>
              <a:t>دستگاه‌های حضور و غیاب در سطح استان با سرور اداره ی کل استان و قابلیت اتصال به سرور ستاد </a:t>
            </a:r>
            <a:r>
              <a:rPr lang="fa-IR" sz="1500" b="1" dirty="0" smtClean="0">
                <a:cs typeface="B Mitra" pitchFamily="2" charset="-78"/>
              </a:rPr>
              <a:t>تهران</a:t>
            </a:r>
          </a:p>
          <a:p>
            <a:pPr algn="just" rtl="1">
              <a:buFontTx/>
              <a:buChar char="-"/>
            </a:pPr>
            <a:r>
              <a:rPr lang="fa-IR" sz="1500" b="1" dirty="0" smtClean="0">
                <a:cs typeface="B Mitra" pitchFamily="2" charset="-78"/>
              </a:rPr>
              <a:t>مدیریت </a:t>
            </a:r>
            <a:r>
              <a:rPr lang="fa-IR" sz="1500" b="1" dirty="0">
                <a:cs typeface="B Mitra" pitchFamily="2" charset="-78"/>
              </a:rPr>
              <a:t>و بروز رسانی آنتی‌ویروس تمامی سیستم‌های کتابخانه‌ها در سطح استان از طریق سرور مستقر در اداره </a:t>
            </a:r>
            <a:r>
              <a:rPr lang="fa-IR" sz="1500" b="1" dirty="0" smtClean="0">
                <a:cs typeface="B Mitra" pitchFamily="2" charset="-78"/>
              </a:rPr>
              <a:t>کل</a:t>
            </a:r>
          </a:p>
          <a:p>
            <a:pPr algn="just" rtl="1">
              <a:buFontTx/>
              <a:buChar char="-"/>
            </a:pPr>
            <a:r>
              <a:rPr lang="fa-IR" sz="1500" b="1" dirty="0" smtClean="0">
                <a:cs typeface="B Mitra" pitchFamily="2" charset="-78"/>
              </a:rPr>
              <a:t>فراهم </a:t>
            </a:r>
            <a:r>
              <a:rPr lang="fa-IR" sz="1500" b="1" dirty="0">
                <a:cs typeface="B Mitra" pitchFamily="2" charset="-78"/>
              </a:rPr>
              <a:t>کردن بستر مناسب جهت دسترسی به سیستم‌های دوربین موجود در ادارات شهرستان و کتابخانه‌های </a:t>
            </a:r>
            <a:r>
              <a:rPr lang="fa-IR" sz="1500" b="1" dirty="0" smtClean="0">
                <a:cs typeface="B Mitra" pitchFamily="2" charset="-78"/>
              </a:rPr>
              <a:t>استان</a:t>
            </a:r>
            <a:endParaRPr lang="en-US" sz="1500" b="1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22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66750"/>
            <a:ext cx="7252340" cy="962802"/>
          </a:xfrm>
        </p:spPr>
        <p:txBody>
          <a:bodyPr>
            <a:noAutofit/>
          </a:bodyPr>
          <a:lstStyle/>
          <a:p>
            <a:pPr algn="ctr" rtl="1"/>
            <a:r>
              <a:rPr lang="fa-IR" sz="24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ارائه سرويس اينترنت </a:t>
            </a:r>
            <a:r>
              <a:rPr lang="en-US" sz="2400" b="1" dirty="0" err="1" smtClean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fa-IR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 رايگان اعضاء در  كتابخانه هاي عمومي كشور</a:t>
            </a:r>
            <a:endParaRPr lang="en-US" sz="2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42740"/>
            <a:ext cx="7589220" cy="2631733"/>
          </a:xfrm>
        </p:spPr>
        <p:txBody>
          <a:bodyPr>
            <a:normAutofit/>
          </a:bodyPr>
          <a:lstStyle/>
          <a:p>
            <a:pPr algn="just" rtl="1"/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در راستاي اجراي سياست</a:t>
            </a:r>
            <a:r>
              <a:rPr lang="en-US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ها و برنامه های تعريف شده برای سال خواندن و با ابلاغ </a:t>
            </a:r>
            <a:r>
              <a:rPr lang="ar-SA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شيوه </a:t>
            </a:r>
            <a:r>
              <a:rPr lang="ar-SA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نامه و دستورالعمل ارائه خدمات </a:t>
            </a:r>
            <a:r>
              <a:rPr lang="ar-SA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اينترنت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Wi-Fi</a:t>
            </a: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</a:t>
            </a:r>
            <a:r>
              <a:rPr lang="fa-IR" sz="20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،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فرآيند خدمات دهي سرويس اينترنت رايگان در سطح كتابخانه هاي عمومي كشور آغاز شده است.</a:t>
            </a:r>
          </a:p>
          <a:p>
            <a:pPr algn="just" rtl="1"/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با برنامه ريزي هاي انجام شده، تا انتهاي سال 1395 اين طرح در حداقل 10% از كتابخانه هاي عمومي كشور عملياتي خواهد شد.</a:t>
            </a:r>
            <a:endParaRPr lang="en-US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99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42950"/>
            <a:ext cx="6871340" cy="990600"/>
          </a:xfrm>
        </p:spPr>
        <p:txBody>
          <a:bodyPr>
            <a:noAutofit/>
          </a:bodyPr>
          <a:lstStyle/>
          <a:p>
            <a:pPr algn="ctr" rtl="1"/>
            <a:r>
              <a:rPr lang="fa-IR" sz="2600" b="1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اتصال نهاد به </a:t>
            </a:r>
            <a:r>
              <a:rPr lang="fa-IR" sz="26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زيرساخت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 </a:t>
            </a:r>
            <a:r>
              <a:rPr lang="fa-IR" sz="26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هاي شبكه دولت و شبكه ملي اطلاعات</a:t>
            </a:r>
            <a:endParaRPr lang="en-US" sz="2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1" y="1742740"/>
            <a:ext cx="7360620" cy="2631733"/>
          </a:xfrm>
        </p:spPr>
        <p:txBody>
          <a:bodyPr>
            <a:normAutofit/>
          </a:bodyPr>
          <a:lstStyle/>
          <a:p>
            <a:pPr algn="just" rtl="1"/>
            <a:r>
              <a:rPr lang="fa-IR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با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</a:t>
            </a:r>
            <a:r>
              <a:rPr lang="fa-IR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توجه </a:t>
            </a:r>
            <a:r>
              <a:rPr lang="fa-IR" sz="26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به لزوم اتصال نهاد کتابخانه‌های عمومي كشور به شبكه ملي انتقال داده‌ها (اطلاعات) و در راستاي اجراي بند ب ماده 46 قانون برنامه پنجم توسعه، زيرساخت لازم جهت ارتباط </a:t>
            </a:r>
            <a:r>
              <a:rPr lang="fa-IR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امن </a:t>
            </a:r>
            <a:r>
              <a:rPr lang="fa-IR" sz="26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نهاد </a:t>
            </a:r>
            <a:r>
              <a:rPr lang="fa-IR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كتابخانه هاي عمومي كشور جهت دريافت و ارائه سرويس هاي مورد نياز با ساير سازمانهاي دولتي بر روي بستر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MPLS</a:t>
            </a:r>
            <a:r>
              <a:rPr lang="en-US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 </a:t>
            </a:r>
            <a:r>
              <a:rPr lang="fa-IR" sz="2600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برقرارشده است</a:t>
            </a:r>
            <a:r>
              <a:rPr lang="fa-IR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. </a:t>
            </a:r>
            <a:endParaRPr lang="en-US" sz="2600" dirty="0" smtClean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  <a:p>
            <a:pPr algn="just" rtl="1"/>
            <a:r>
              <a:rPr lang="fa-IR" sz="2600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اتصال به شبكه دولت</a:t>
            </a:r>
            <a:endParaRPr lang="en-US" sz="2600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14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770748"/>
            <a:ext cx="6674820" cy="962802"/>
          </a:xfrm>
        </p:spPr>
        <p:txBody>
          <a:bodyPr>
            <a:noAutofit/>
          </a:bodyPr>
          <a:lstStyle/>
          <a:p>
            <a:pPr algn="ctr" rtl="1"/>
            <a:r>
              <a:rPr lang="fa-IR" sz="26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تدوين استاندارد </a:t>
            </a:r>
            <a:r>
              <a:rPr lang="fa-IR" sz="2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خدمات </a:t>
            </a:r>
            <a:r>
              <a:rPr lang="fa-IR" sz="2600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و تجهيزات فناوري </a:t>
            </a:r>
            <a:r>
              <a:rPr lang="fa-IR" sz="26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اطلاعات براي كتابخانه هاي عمومي كشور</a:t>
            </a:r>
            <a:endParaRPr lang="en-US" sz="26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42740"/>
            <a:ext cx="7589220" cy="2631733"/>
          </a:xfrm>
        </p:spPr>
        <p:txBody>
          <a:bodyPr>
            <a:normAutofit lnSpcReduction="10000"/>
          </a:bodyPr>
          <a:lstStyle/>
          <a:p>
            <a:pPr algn="just" rtl="1"/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به‌منظور استانداردسازي رويه‌ها، فرايندها، خدمات و تجهيزات كتابخانه‌هاي عمومي، ويراست نخست استاندارد «خدمات و تجهيزات فناوري اطلاعات در كتابخانه‌هاي عمومي» جهت بهره‌برداري، آماده و به استان‌ها ابلاغ گرديد. </a:t>
            </a:r>
          </a:p>
          <a:p>
            <a:pPr algn="just" rtl="1"/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اين استاندارد از دي ماه سال 1394 در تمام كتابخانه‌هاي عمومي كشور اجرا شده است و مبنا و چارچوب تهيه تجهيزات رايانه اي و شبكه اي در كتابخانه‌هاي عمومي كشور به شمار مي‌رود. نظارت نهايي نيز در اين حيطه، بر اساس همين استاندارد خواهد بود.</a:t>
            </a:r>
            <a:endParaRPr lang="en-US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2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42950"/>
            <a:ext cx="7239000" cy="914400"/>
          </a:xfrm>
        </p:spPr>
        <p:txBody>
          <a:bodyPr>
            <a:noAutofit/>
          </a:bodyPr>
          <a:lstStyle/>
          <a:p>
            <a:pPr algn="ctr" rtl="1"/>
            <a:r>
              <a:rPr lang="fa-IR" sz="4400" dirty="0" smtClean="0">
                <a:cs typeface="B Titr" pitchFamily="2" charset="-78"/>
              </a:rPr>
              <a:t/>
            </a:r>
            <a:br>
              <a:rPr lang="fa-IR" sz="4400" dirty="0" smtClean="0">
                <a:cs typeface="B Titr" pitchFamily="2" charset="-78"/>
              </a:rPr>
            </a:br>
            <a:r>
              <a:rPr lang="fa-IR" sz="24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تدوين 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مجموعه دستورالعمل‌ها و قوانين لازم‌الاجرای </a:t>
            </a:r>
            <a:r>
              <a:rPr lang="fa-IR" sz="24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حوزه فناوري اطلاعات </a:t>
            </a:r>
            <a:r>
              <a:rPr lang="fa-IR" sz="2400" b="1" dirty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در ادارات کل استانی و کتابخانه‌های </a:t>
            </a:r>
            <a:r>
              <a:rPr lang="fa-IR" sz="2400" b="1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عمومی كشور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42740"/>
            <a:ext cx="7589220" cy="2631733"/>
          </a:xfrm>
        </p:spPr>
        <p:txBody>
          <a:bodyPr>
            <a:normAutofit lnSpcReduction="10000"/>
          </a:bodyPr>
          <a:lstStyle/>
          <a:p>
            <a:pPr algn="r" rtl="1"/>
            <a:endParaRPr lang="fa-IR" dirty="0" smtClean="0">
              <a:cs typeface="B Mitra" pitchFamily="2" charset="-78"/>
            </a:endParaRPr>
          </a:p>
          <a:p>
            <a:pPr algn="just" rtl="1"/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به‌منظور یکپارچه‌سازی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دستورالعمل های فناوری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اطلاعات در سطح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ستاد نهاد،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ادارات کل استاني و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کتابخانه‌های عمومی، مجموعه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قوانين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و دستورالعمل های لازم در حوزه‌های شبکه، سخت‌افزار و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نرم‌افزار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تهیه و ابلاغ شده است.</a:t>
            </a:r>
            <a:endParaRPr lang="fa-IR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  <a:p>
            <a:pPr algn="just" rtl="1"/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اين دستورالعمل يكي از معيارهاي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سنجش و امتيازدهي به وضعيت فناوري اطلاعات در آن استان و نيز ملاك ارزيابي عملكرد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كارشناسان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فناوري اطلاعات و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برنامه ریزی برای بهبود برنامه </a:t>
            </a:r>
            <a:r>
              <a:rPr lang="fa-IR" dirty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هاي توسعه و </a:t>
            </a:r>
            <a:r>
              <a:rPr lang="fa-IR" dirty="0" smtClean="0">
                <a:solidFill>
                  <a:schemeClr val="accent2">
                    <a:lumMod val="50000"/>
                  </a:schemeClr>
                </a:solidFill>
                <a:cs typeface="B Mitra" pitchFamily="2" charset="-78"/>
              </a:rPr>
              <a:t>تجهيز مي باشد.</a:t>
            </a:r>
            <a:endParaRPr lang="fa-IR" dirty="0">
              <a:solidFill>
                <a:schemeClr val="accent2">
                  <a:lumMod val="50000"/>
                </a:schemeClr>
              </a:solidFill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75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42950"/>
            <a:ext cx="7132020" cy="609600"/>
          </a:xfrm>
        </p:spPr>
        <p:txBody>
          <a:bodyPr>
            <a:normAutofit/>
          </a:bodyPr>
          <a:lstStyle/>
          <a:p>
            <a:pPr algn="ctr" rtl="1"/>
            <a:r>
              <a:rPr lang="fa-IR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پشتيباني، نگهداري و بروزرساني سرورهاي فيزيكي و مجازي نهاد</a:t>
            </a:r>
            <a:endParaRPr lang="en-US" sz="2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81150"/>
            <a:ext cx="7589220" cy="1905000"/>
          </a:xfrm>
        </p:spPr>
        <p:txBody>
          <a:bodyPr>
            <a:normAutofit/>
          </a:bodyPr>
          <a:lstStyle/>
          <a:p>
            <a:pPr algn="just" rtl="1"/>
            <a:r>
              <a:rPr lang="fa-IR" sz="2800" dirty="0" smtClean="0">
                <a:cs typeface="B Mitra" pitchFamily="2" charset="-78"/>
              </a:rPr>
              <a:t>پشتيباني، نگهداري و بروز رساني </a:t>
            </a:r>
            <a:r>
              <a:rPr lang="fa-IR" sz="2800" dirty="0">
                <a:cs typeface="B Mitra" pitchFamily="2" charset="-78"/>
              </a:rPr>
              <a:t>بيش از </a:t>
            </a:r>
            <a:r>
              <a:rPr lang="fa-IR" sz="2800" dirty="0" smtClean="0">
                <a:cs typeface="B Mitra" pitchFamily="2" charset="-78"/>
              </a:rPr>
              <a:t>60 سرور فيزيكي و مجازي مربوط به سامانه هاي نهاد</a:t>
            </a:r>
          </a:p>
          <a:p>
            <a:pPr algn="just" rtl="1"/>
            <a:r>
              <a:rPr lang="fa-IR" sz="2800" dirty="0" smtClean="0">
                <a:cs typeface="B Mitra" pitchFamily="2" charset="-78"/>
              </a:rPr>
              <a:t>تهيه مستندات فني براي هريك از سرورهاي فيزيكي، مجازي و تجهيزات ذخيره سازي داده ها</a:t>
            </a:r>
          </a:p>
          <a:p>
            <a:pPr algn="just" rtl="1"/>
            <a:endParaRPr lang="fa-IR" sz="2800" dirty="0" smtClean="0">
              <a:cs typeface="B Mitra" pitchFamily="2" charset="-78"/>
            </a:endParaRPr>
          </a:p>
          <a:p>
            <a:pPr algn="just" rtl="1"/>
            <a:endParaRPr lang="en-US" sz="2800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4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080" y="770748"/>
            <a:ext cx="6871340" cy="931052"/>
          </a:xfrm>
        </p:spPr>
        <p:txBody>
          <a:bodyPr>
            <a:noAutofit/>
          </a:bodyPr>
          <a:lstStyle/>
          <a:p>
            <a:pPr algn="ctr" rtl="1"/>
            <a:r>
              <a:rPr lang="fa-IR" sz="2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انجام تست هاي ارزيابي امنيتي بر روي سرورها و سامانه هاي نرم افزاري نهاد</a:t>
            </a:r>
            <a:endParaRPr lang="en-US" sz="2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42740"/>
            <a:ext cx="7589220" cy="2631733"/>
          </a:xfrm>
        </p:spPr>
        <p:txBody>
          <a:bodyPr>
            <a:normAutofit/>
          </a:bodyPr>
          <a:lstStyle/>
          <a:p>
            <a:pPr algn="just" rtl="1"/>
            <a:r>
              <a:rPr lang="fa-IR" sz="2800" dirty="0" smtClean="0">
                <a:cs typeface="B Mitra" pitchFamily="2" charset="-78"/>
              </a:rPr>
              <a:t>جهت حفظ امنيت هرچه بيشتر سرورها و سامانه هاي نرم افزاري نهاد از جمله سامانه مديريت كتابخانه ها (سامان)، پورتال نهاد و ... ارزيابي هاي امنيتي در فواصل زماني مشخص انجام مي شود.</a:t>
            </a:r>
          </a:p>
          <a:p>
            <a:pPr algn="just" rtl="1"/>
            <a:r>
              <a:rPr lang="fa-IR" sz="2800" dirty="0" smtClean="0">
                <a:cs typeface="B Mitra" pitchFamily="2" charset="-78"/>
              </a:rPr>
              <a:t>نتایج حاصل از ارزیابی ها، مبنای برنامه ریزی برای بهبود وضعیت امنیت سیستم ها قرار می گیرد.</a:t>
            </a:r>
            <a:endParaRPr lang="en-US" sz="2800" dirty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39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7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080" y="770748"/>
            <a:ext cx="6871340" cy="658002"/>
          </a:xfrm>
        </p:spPr>
        <p:txBody>
          <a:bodyPr>
            <a:normAutofit/>
          </a:bodyPr>
          <a:lstStyle/>
          <a:p>
            <a:pPr algn="ctr" rtl="1"/>
            <a:r>
              <a:rPr lang="fa-IR" sz="3400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ساير اقدامات در حوزه فناوري اطلاعات</a:t>
            </a:r>
            <a:endParaRPr lang="en-US" sz="3400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742740"/>
            <a:ext cx="7589220" cy="2631733"/>
          </a:xfrm>
        </p:spPr>
        <p:txBody>
          <a:bodyPr>
            <a:normAutofit/>
          </a:bodyPr>
          <a:lstStyle/>
          <a:p>
            <a:pPr algn="just" rtl="1"/>
            <a:r>
              <a:rPr lang="fa-IR" dirty="0">
                <a:cs typeface="B Mitra" pitchFamily="2" charset="-78"/>
              </a:rPr>
              <a:t>تدوين طرح </a:t>
            </a:r>
            <a:r>
              <a:rPr lang="fa-IR" dirty="0" smtClean="0">
                <a:cs typeface="B Mitra" pitchFamily="2" charset="-78"/>
              </a:rPr>
              <a:t>و </a:t>
            </a:r>
            <a:r>
              <a:rPr lang="fa-IR" dirty="0">
                <a:cs typeface="B Mitra" pitchFamily="2" charset="-78"/>
              </a:rPr>
              <a:t>اقدام </a:t>
            </a:r>
            <a:r>
              <a:rPr lang="fa-IR" dirty="0" smtClean="0">
                <a:cs typeface="B Mitra" pitchFamily="2" charset="-78"/>
              </a:rPr>
              <a:t>درخصوص </a:t>
            </a:r>
            <a:r>
              <a:rPr lang="fa-IR" dirty="0">
                <a:cs typeface="B Mitra" pitchFamily="2" charset="-78"/>
              </a:rPr>
              <a:t>یکپارچه‌سازی </a:t>
            </a:r>
            <a:r>
              <a:rPr lang="fa-IR" dirty="0" smtClean="0">
                <a:cs typeface="B Mitra" pitchFamily="2" charset="-78"/>
              </a:rPr>
              <a:t>كليه نرم‌افزارهاي </a:t>
            </a:r>
            <a:r>
              <a:rPr lang="fa-IR" dirty="0">
                <a:cs typeface="B Mitra" pitchFamily="2" charset="-78"/>
              </a:rPr>
              <a:t>نهاد </a:t>
            </a:r>
            <a:r>
              <a:rPr lang="fa-IR" dirty="0" smtClean="0">
                <a:cs typeface="B Mitra" pitchFamily="2" charset="-78"/>
              </a:rPr>
              <a:t>کتابخانه‌ها</a:t>
            </a:r>
          </a:p>
          <a:p>
            <a:pPr algn="just" rtl="1"/>
            <a:r>
              <a:rPr lang="fa-IR" dirty="0" smtClean="0">
                <a:cs typeface="B Mitra" pitchFamily="2" charset="-78"/>
              </a:rPr>
              <a:t>تولید نرم افزارهای مورد نیاز در مقاطع زمانی مختلف</a:t>
            </a:r>
          </a:p>
          <a:p>
            <a:pPr algn="just" rtl="1"/>
            <a:r>
              <a:rPr lang="fa-IR" smtClean="0">
                <a:cs typeface="B Mitra" pitchFamily="2" charset="-78"/>
              </a:rPr>
              <a:t>نيازسنجي </a:t>
            </a:r>
            <a:r>
              <a:rPr lang="fa-IR" dirty="0" smtClean="0">
                <a:cs typeface="B Mitra" pitchFamily="2" charset="-78"/>
              </a:rPr>
              <a:t>و تهيه تجهيزات رايانه اي و شبكه اي مورد نياز براي كتابخانه هاي عمومي استان هاي محروم و كمتر برخوردار كشور</a:t>
            </a:r>
          </a:p>
          <a:p>
            <a:pPr algn="just" rtl="1"/>
            <a:r>
              <a:rPr lang="fa-IR" dirty="0" smtClean="0">
                <a:cs typeface="B Mitra" pitchFamily="2" charset="-78"/>
              </a:rPr>
              <a:t>رصد وضعیت فناوری اطلاعات در سطح استان ها و کتابخانه های عمومی کشور به منظور سیاست گذاری و هدایت فعالیت ها</a:t>
            </a:r>
          </a:p>
          <a:p>
            <a:pPr algn="r" rtl="1">
              <a:buNone/>
            </a:pPr>
            <a:endParaRPr lang="en-US" dirty="0" smtClean="0">
              <a:cs typeface="B Mitra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4888706"/>
            <a:ext cx="533400" cy="273844"/>
          </a:xfrm>
        </p:spPr>
        <p:txBody>
          <a:bodyPr/>
          <a:lstStyle/>
          <a:p>
            <a:r>
              <a:rPr lang="fa-IR" dirty="0" smtClean="0"/>
              <a:t>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75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205861" y="1352550"/>
            <a:ext cx="6871339" cy="3200400"/>
          </a:xfrm>
        </p:spPr>
        <p:txBody>
          <a:bodyPr>
            <a:normAutofit fontScale="92500" lnSpcReduction="20000"/>
          </a:bodyPr>
          <a:lstStyle/>
          <a:p>
            <a:pPr marL="68580" indent="0" algn="ctr" rtl="1">
              <a:buNone/>
            </a:pPr>
            <a:r>
              <a:rPr lang="fa-IR" sz="4500" dirty="0" smtClean="0">
                <a:cs typeface="B Titr" pitchFamily="2" charset="-78"/>
              </a:rPr>
              <a:t>با تشکر از حسن توجه شما</a:t>
            </a:r>
            <a:endParaRPr lang="en-US" sz="4500" dirty="0" smtClean="0">
              <a:cs typeface="B Titr" pitchFamily="2" charset="-78"/>
            </a:endParaRPr>
          </a:p>
          <a:p>
            <a:pPr marL="68580" indent="0" algn="ctr" rtl="1">
              <a:buNone/>
            </a:pPr>
            <a:endParaRPr lang="fa-IR" sz="4500" dirty="0" smtClean="0">
              <a:cs typeface="B Titr" pitchFamily="2" charset="-78"/>
            </a:endParaRPr>
          </a:p>
          <a:p>
            <a:pPr marL="68580" indent="0" algn="ctr" rtl="1">
              <a:buNone/>
            </a:pPr>
            <a:r>
              <a:rPr lang="fa-IR" sz="2500" dirty="0">
                <a:cs typeface="B Titr" pitchFamily="2" charset="-78"/>
              </a:rPr>
              <a:t>معاونت برنامه ريزي، پژوهش وفناوري اطلاعات</a:t>
            </a:r>
          </a:p>
          <a:p>
            <a:pPr marL="68580" indent="0" algn="ctr" rtl="1">
              <a:buNone/>
            </a:pPr>
            <a:endParaRPr lang="fa-IR" sz="2500" dirty="0" smtClean="0">
              <a:cs typeface="B Titr" pitchFamily="2" charset="-78"/>
            </a:endParaRPr>
          </a:p>
          <a:p>
            <a:pPr marL="68580" indent="0" algn="ctr" rtl="1">
              <a:buNone/>
            </a:pPr>
            <a:r>
              <a:rPr lang="fa-IR" sz="2500" dirty="0" smtClean="0">
                <a:cs typeface="B Titr" pitchFamily="2" charset="-78"/>
              </a:rPr>
              <a:t>اداره کل فناوری اطلاعات</a:t>
            </a:r>
          </a:p>
          <a:p>
            <a:pPr marL="68580" indent="0" algn="ctr" rtl="1">
              <a:buNone/>
            </a:pPr>
            <a:endParaRPr lang="fa-IR" sz="2500" dirty="0" smtClean="0">
              <a:cs typeface="B Titr" pitchFamily="2" charset="-78"/>
            </a:endParaRPr>
          </a:p>
          <a:p>
            <a:pPr marL="68580" indent="0" algn="ctr" rtl="1">
              <a:buNone/>
            </a:pPr>
            <a:r>
              <a:rPr lang="fa-IR" sz="2000" dirty="0" smtClean="0">
                <a:cs typeface="B Titr" pitchFamily="2" charset="-78"/>
              </a:rPr>
              <a:t>19 آبان 95</a:t>
            </a:r>
          </a:p>
          <a:p>
            <a:pPr marL="68580" indent="0" algn="r" rt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64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1239</TotalTime>
  <Words>2393</Words>
  <Application>Microsoft Office PowerPoint</Application>
  <PresentationFormat>On-screen Show (16:9)</PresentationFormat>
  <Paragraphs>212</Paragraphs>
  <Slides>42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Austin</vt:lpstr>
      <vt:lpstr>PowerPoint Presentation</vt:lpstr>
      <vt:lpstr>     </vt:lpstr>
      <vt:lpstr>سامانه مديريت كتابخانه هاي عمومي كشور (سامان)</vt:lpstr>
      <vt:lpstr>سامانه مديريت كتابخانه هاي عمومي كشور (سامان)</vt:lpstr>
      <vt:lpstr>PowerPoint Presentation</vt:lpstr>
      <vt:lpstr>برخي از قابليت هاي سامانه سامان</vt:lpstr>
      <vt:lpstr>گزارشات سامان</vt:lpstr>
      <vt:lpstr>قابليت هاي سامان</vt:lpstr>
      <vt:lpstr>داده‌هاي آماري سامان</vt:lpstr>
      <vt:lpstr>سامانه ويژه کم بينايان و نابينايان</vt:lpstr>
      <vt:lpstr>PowerPoint Presentation</vt:lpstr>
      <vt:lpstr>سامانه اطلس كتابخانه هاي عمومي كشور</vt:lpstr>
      <vt:lpstr>سامانه اطلس كتابخانه هاي عمومي كشور</vt:lpstr>
      <vt:lpstr>اپليکيشن های موبایل</vt:lpstr>
      <vt:lpstr>سامانه نجم (نرم افزار جامع تهيه منابع)</vt:lpstr>
      <vt:lpstr>ویژگی های سامانه نجم</vt:lpstr>
      <vt:lpstr>سامانه توصیه گر </vt:lpstr>
      <vt:lpstr>نرم افزار آمار</vt:lpstr>
      <vt:lpstr>پورتال نهاد كتابخانه هاي عمومي كشور</vt:lpstr>
      <vt:lpstr>سامانه جامع خبري نهاد كتابخانه هاي عمومي كشور</vt:lpstr>
      <vt:lpstr>سامانه يکپارچه مالی و اداری</vt:lpstr>
      <vt:lpstr>نرم افزار مكاتبات الكترونيك</vt:lpstr>
      <vt:lpstr>نرم افزار اداره کل منابع انسانی (رفاه)</vt:lpstr>
      <vt:lpstr>سامانه يكپارچه مديريت فرآيند آموزش و يادگيري الكترونيكي</vt:lpstr>
      <vt:lpstr>برگزاري مدرسه اينترنتي خواندن</vt:lpstr>
      <vt:lpstr>سامانه پست الکترونيک نهاد </vt:lpstr>
      <vt:lpstr>نرم افزارهای يكپارچه پژوهشي</vt:lpstr>
      <vt:lpstr>PowerPoint Presentation</vt:lpstr>
      <vt:lpstr>PowerPoint Presentation</vt:lpstr>
      <vt:lpstr>نرم‌افزار مديريت پروژه‌هاي عمراني نهاد</vt:lpstr>
      <vt:lpstr>PowerPoint Presentation</vt:lpstr>
      <vt:lpstr>سامانه جامع مديريت و پشتيباني تجهيزات رايانه اي</vt:lpstr>
      <vt:lpstr>دريافت سرويس كومبو در كتابخانه هاي عمومي كشور (اينترنت و اينترانت همزمان)</vt:lpstr>
      <vt:lpstr>اتصال كتابخانه هاي عمومي بر روي بستر امن اينترانت و راه‌اندازی شبكه اختصاصي نهاد</vt:lpstr>
      <vt:lpstr>ارائه سرويس اينترنت WiFi رايگان اعضاء در  كتابخانه هاي عمومي كشور</vt:lpstr>
      <vt:lpstr>اتصال نهاد به زيرساخت هاي شبكه دولت و شبكه ملي اطلاعات</vt:lpstr>
      <vt:lpstr>تدوين استاندارد خدمات و تجهيزات فناوري اطلاعات براي كتابخانه هاي عمومي كشور</vt:lpstr>
      <vt:lpstr> تدوين مجموعه دستورالعمل‌ها و قوانين لازم‌الاجرای حوزه فناوري اطلاعات در ادارات کل استانی و کتابخانه‌های عمومی كشور</vt:lpstr>
      <vt:lpstr>پشتيباني، نگهداري و بروزرساني سرورهاي فيزيكي و مجازي نهاد</vt:lpstr>
      <vt:lpstr>انجام تست هاي ارزيابي امنيتي بر روي سرورها و سامانه هاي نرم افزاري نهاد</vt:lpstr>
      <vt:lpstr>ساير اقدامات در حوزه فناوري اطلاعات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bavandpouri amir</dc:creator>
  <cp:lastModifiedBy>IT</cp:lastModifiedBy>
  <cp:revision>194</cp:revision>
  <cp:lastPrinted>2016-08-01T14:01:30Z</cp:lastPrinted>
  <dcterms:created xsi:type="dcterms:W3CDTF">2013-12-10T05:11:28Z</dcterms:created>
  <dcterms:modified xsi:type="dcterms:W3CDTF">2016-11-09T06:23:04Z</dcterms:modified>
</cp:coreProperties>
</file>